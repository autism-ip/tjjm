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heme/themeOverride1.xml" ContentType="application/vnd.openxmlformats-officedocument.themeOverr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Lst>
  <p:notesMasterIdLst>
    <p:notesMasterId r:id="rId107"/>
  </p:notesMasterIdLst>
  <p:sldIdLst>
    <p:sldId id="257" r:id="rId4"/>
    <p:sldId id="258" r:id="rId5"/>
    <p:sldId id="259" r:id="rId6"/>
    <p:sldId id="260" r:id="rId7"/>
    <p:sldId id="531" r:id="rId8"/>
    <p:sldId id="532" r:id="rId9"/>
    <p:sldId id="533" r:id="rId10"/>
    <p:sldId id="648" r:id="rId11"/>
    <p:sldId id="653" r:id="rId12"/>
    <p:sldId id="483" r:id="rId13"/>
    <p:sldId id="484" r:id="rId14"/>
    <p:sldId id="485" r:id="rId15"/>
    <p:sldId id="486" r:id="rId16"/>
    <p:sldId id="487" r:id="rId17"/>
    <p:sldId id="488" r:id="rId18"/>
    <p:sldId id="489" r:id="rId19"/>
    <p:sldId id="322" r:id="rId20"/>
    <p:sldId id="587" r:id="rId21"/>
    <p:sldId id="588" r:id="rId22"/>
    <p:sldId id="630" r:id="rId23"/>
    <p:sldId id="396" r:id="rId24"/>
    <p:sldId id="391" r:id="rId25"/>
    <p:sldId id="394" r:id="rId26"/>
    <p:sldId id="395" r:id="rId27"/>
    <p:sldId id="583" r:id="rId28"/>
    <p:sldId id="632" r:id="rId29"/>
    <p:sldId id="631" r:id="rId30"/>
    <p:sldId id="640" r:id="rId31"/>
    <p:sldId id="633" r:id="rId32"/>
    <p:sldId id="584" r:id="rId33"/>
    <p:sldId id="585" r:id="rId34"/>
    <p:sldId id="302" r:id="rId35"/>
    <p:sldId id="303" r:id="rId36"/>
    <p:sldId id="389" r:id="rId37"/>
    <p:sldId id="634" r:id="rId38"/>
    <p:sldId id="454" r:id="rId39"/>
    <p:sldId id="643" r:id="rId40"/>
    <p:sldId id="455" r:id="rId41"/>
    <p:sldId id="456" r:id="rId42"/>
    <p:sldId id="457" r:id="rId43"/>
    <p:sldId id="458" r:id="rId44"/>
    <p:sldId id="459" r:id="rId45"/>
    <p:sldId id="635" r:id="rId46"/>
    <p:sldId id="636" r:id="rId47"/>
    <p:sldId id="462" r:id="rId48"/>
    <p:sldId id="463" r:id="rId49"/>
    <p:sldId id="464" r:id="rId50"/>
    <p:sldId id="465" r:id="rId51"/>
    <p:sldId id="641" r:id="rId52"/>
    <p:sldId id="642" r:id="rId53"/>
    <p:sldId id="644" r:id="rId54"/>
    <p:sldId id="645" r:id="rId55"/>
    <p:sldId id="646" r:id="rId56"/>
    <p:sldId id="647" r:id="rId57"/>
    <p:sldId id="650" r:id="rId58"/>
    <p:sldId id="637" r:id="rId59"/>
    <p:sldId id="638" r:id="rId60"/>
    <p:sldId id="639" r:id="rId61"/>
    <p:sldId id="414" r:id="rId62"/>
    <p:sldId id="415" r:id="rId63"/>
    <p:sldId id="651" r:id="rId64"/>
    <p:sldId id="652" r:id="rId65"/>
    <p:sldId id="416" r:id="rId66"/>
    <p:sldId id="417" r:id="rId67"/>
    <p:sldId id="427" r:id="rId68"/>
    <p:sldId id="428" r:id="rId69"/>
    <p:sldId id="429" r:id="rId70"/>
    <p:sldId id="430" r:id="rId71"/>
    <p:sldId id="431" r:id="rId72"/>
    <p:sldId id="432" r:id="rId73"/>
    <p:sldId id="433" r:id="rId74"/>
    <p:sldId id="418" r:id="rId75"/>
    <p:sldId id="420" r:id="rId76"/>
    <p:sldId id="421" r:id="rId77"/>
    <p:sldId id="422" r:id="rId78"/>
    <p:sldId id="423" r:id="rId79"/>
    <p:sldId id="424" r:id="rId80"/>
    <p:sldId id="425" r:id="rId81"/>
    <p:sldId id="426" r:id="rId82"/>
    <p:sldId id="434" r:id="rId83"/>
    <p:sldId id="435" r:id="rId84"/>
    <p:sldId id="436" r:id="rId85"/>
    <p:sldId id="437" r:id="rId86"/>
    <p:sldId id="438" r:id="rId87"/>
    <p:sldId id="439" r:id="rId88"/>
    <p:sldId id="440" r:id="rId89"/>
    <p:sldId id="442" r:id="rId90"/>
    <p:sldId id="444" r:id="rId91"/>
    <p:sldId id="445" r:id="rId92"/>
    <p:sldId id="446" r:id="rId93"/>
    <p:sldId id="586" r:id="rId94"/>
    <p:sldId id="592" r:id="rId95"/>
    <p:sldId id="593" r:id="rId96"/>
    <p:sldId id="595" r:id="rId97"/>
    <p:sldId id="475" r:id="rId98"/>
    <p:sldId id="476" r:id="rId99"/>
    <p:sldId id="478" r:id="rId100"/>
    <p:sldId id="622" r:id="rId101"/>
    <p:sldId id="620" r:id="rId102"/>
    <p:sldId id="479" r:id="rId103"/>
    <p:sldId id="623" r:id="rId104"/>
    <p:sldId id="624" r:id="rId105"/>
    <p:sldId id="287" r:id="rId10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kin(张景)" initials="J" lastIdx="5" clrIdx="0">
    <p:extLst>
      <p:ext uri="{19B8F6BF-5375-455C-9EA6-DF929625EA0E}">
        <p15:presenceInfo xmlns:p15="http://schemas.microsoft.com/office/powerpoint/2012/main" userId="S-1-5-21-1606980848-706699826-1801674531-56831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7104" autoAdjust="0"/>
    <p:restoredTop sz="94301" autoAdjust="0"/>
  </p:normalViewPr>
  <p:slideViewPr>
    <p:cSldViewPr snapToGrid="0">
      <p:cViewPr varScale="1">
        <p:scale>
          <a:sx n="56" d="100"/>
          <a:sy n="56" d="100"/>
        </p:scale>
        <p:origin x="66" y="690"/>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notesMaster" Target="notesMasters/notesMaster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commentAuthors" Target="commentAuthor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presProps" Target="pres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FBF38C-BCFF-446A-8185-4B4080CF820B}" type="doc">
      <dgm:prSet loTypeId="urn:microsoft.com/office/officeart/2005/8/layout/chevron1" loCatId="process" qsTypeId="urn:microsoft.com/office/officeart/2005/8/quickstyle/simple1" qsCatId="simple" csTypeId="urn:microsoft.com/office/officeart/2005/8/colors/accent1_2" csCatId="accent1" phldr="1"/>
      <dgm:spPr/>
    </dgm:pt>
    <dgm:pt modelId="{75855001-DCF8-4531-BA9F-09FF5DA86AE7}">
      <dgm:prSet phldrT="[文本]"/>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机房环境就绪</a:t>
          </a:r>
        </a:p>
      </dgm:t>
    </dgm:pt>
    <dgm:pt modelId="{C3FFCBB7-B012-450A-A501-BC29D871C0AA}" type="parTrans" cxnId="{2DDFD432-04B8-407F-A0F1-B732282A6C73}">
      <dgm:prSet/>
      <dgm:spPr/>
      <dgm:t>
        <a:bodyPr/>
        <a:lstStyle/>
        <a:p>
          <a:endParaRPr lang="zh-CN" altLang="en-US"/>
        </a:p>
      </dgm:t>
    </dgm:pt>
    <dgm:pt modelId="{DC085015-57AA-435B-B0C8-35856FA1CA36}" type="sibTrans" cxnId="{2DDFD432-04B8-407F-A0F1-B732282A6C73}">
      <dgm:prSet/>
      <dgm:spPr/>
      <dgm:t>
        <a:bodyPr/>
        <a:lstStyle/>
        <a:p>
          <a:endParaRPr lang="zh-CN" altLang="en-US"/>
        </a:p>
      </dgm:t>
    </dgm:pt>
    <dgm:pt modelId="{295FD860-D397-4203-8A8F-672392193EFD}">
      <dgm:prSet/>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交换机开机</a:t>
          </a:r>
        </a:p>
      </dgm:t>
    </dgm:pt>
    <dgm:pt modelId="{D9AC89E9-8400-4F9E-90FC-AB7FB45BD45A}" type="parTrans" cxnId="{69B0C1FE-5D27-4374-B163-ACB6B10277F6}">
      <dgm:prSet/>
      <dgm:spPr/>
      <dgm:t>
        <a:bodyPr/>
        <a:lstStyle/>
        <a:p>
          <a:endParaRPr lang="zh-CN" altLang="en-US"/>
        </a:p>
      </dgm:t>
    </dgm:pt>
    <dgm:pt modelId="{C2F6C2FD-BE9D-4A40-9B20-6D4B1744B3DB}" type="sibTrans" cxnId="{69B0C1FE-5D27-4374-B163-ACB6B10277F6}">
      <dgm:prSet/>
      <dgm:spPr/>
      <dgm:t>
        <a:bodyPr/>
        <a:lstStyle/>
        <a:p>
          <a:endParaRPr lang="zh-CN" altLang="en-US"/>
        </a:p>
      </dgm:t>
    </dgm:pt>
    <dgm:pt modelId="{61025F64-9718-46E3-8856-E35A77ACAD8F}">
      <dgm:prSet/>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管理节点</a:t>
          </a:r>
          <a:r>
            <a:rPr lang="en-US" altLang="zh-CN" dirty="0">
              <a:latin typeface="微软雅黑" panose="020B0503020204020204" pitchFamily="34" charset="-122"/>
              <a:ea typeface="微软雅黑" panose="020B0503020204020204" pitchFamily="34" charset="-122"/>
            </a:rPr>
            <a:t>mu01</a:t>
          </a:r>
          <a:r>
            <a:rPr lang="zh-CN" altLang="en-US" dirty="0">
              <a:latin typeface="微软雅黑" panose="020B0503020204020204" pitchFamily="34" charset="-122"/>
              <a:ea typeface="微软雅黑" panose="020B0503020204020204" pitchFamily="34" charset="-122"/>
            </a:rPr>
            <a:t>开机</a:t>
          </a:r>
        </a:p>
      </dgm:t>
    </dgm:pt>
    <dgm:pt modelId="{EA025073-A5CE-4284-A7F2-A2C7579C7A0E}" type="parTrans" cxnId="{D0705567-1779-4A02-B358-AB9796709C28}">
      <dgm:prSet/>
      <dgm:spPr/>
      <dgm:t>
        <a:bodyPr/>
        <a:lstStyle/>
        <a:p>
          <a:endParaRPr lang="zh-CN" altLang="en-US"/>
        </a:p>
      </dgm:t>
    </dgm:pt>
    <dgm:pt modelId="{8E8C14A7-517A-48B6-9AC6-5F8F7C7DBBD1}" type="sibTrans" cxnId="{D0705567-1779-4A02-B358-AB9796709C28}">
      <dgm:prSet/>
      <dgm:spPr/>
      <dgm:t>
        <a:bodyPr/>
        <a:lstStyle/>
        <a:p>
          <a:endParaRPr lang="zh-CN" altLang="en-US"/>
        </a:p>
      </dgm:t>
    </dgm:pt>
    <dgm:pt modelId="{E49202F3-FB09-4B78-AEA8-51F88E5F9719}">
      <dgm:prSet custT="1"/>
      <dgm:spPr>
        <a:solidFill>
          <a:srgbClr val="0070C0"/>
        </a:solidFill>
      </dgm:spPr>
      <dgm:t>
        <a:bodyPr/>
        <a:lstStyle/>
        <a:p>
          <a:r>
            <a:rPr lang="zh-CN" altLang="en-US" sz="1800" dirty="0">
              <a:latin typeface="微软雅黑" panose="020B0503020204020204" pitchFamily="34" charset="-122"/>
              <a:ea typeface="微软雅黑" panose="020B0503020204020204" pitchFamily="34" charset="-122"/>
            </a:rPr>
            <a:t>剩余节点开机</a:t>
          </a:r>
        </a:p>
      </dgm:t>
    </dgm:pt>
    <dgm:pt modelId="{25C36CC6-2BE8-4AF6-B5CF-2DB86591BB88}" type="parTrans" cxnId="{DB071C38-998C-42EA-A309-225B7893EFBF}">
      <dgm:prSet/>
      <dgm:spPr/>
      <dgm:t>
        <a:bodyPr/>
        <a:lstStyle/>
        <a:p>
          <a:endParaRPr lang="zh-CN" altLang="en-US"/>
        </a:p>
      </dgm:t>
    </dgm:pt>
    <dgm:pt modelId="{E5F326B7-35D5-4344-BE79-5FCCC0B31857}" type="sibTrans" cxnId="{DB071C38-998C-42EA-A309-225B7893EFBF}">
      <dgm:prSet/>
      <dgm:spPr/>
      <dgm:t>
        <a:bodyPr/>
        <a:lstStyle/>
        <a:p>
          <a:endParaRPr lang="zh-CN" altLang="en-US"/>
        </a:p>
      </dgm:t>
    </dgm:pt>
    <dgm:pt modelId="{F0670430-66EE-4023-81B2-F2266EBB676B}">
      <dgm:prSet/>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所有存储节点</a:t>
          </a:r>
        </a:p>
      </dgm:t>
    </dgm:pt>
    <dgm:pt modelId="{92265C97-3A3C-4816-B59E-B4D73EB3367F}" type="parTrans" cxnId="{718DC02E-E427-4CE1-A8CF-FBACCF2F206A}">
      <dgm:prSet/>
      <dgm:spPr/>
      <dgm:t>
        <a:bodyPr/>
        <a:lstStyle/>
        <a:p>
          <a:endParaRPr lang="zh-CN" altLang="en-US"/>
        </a:p>
      </dgm:t>
    </dgm:pt>
    <dgm:pt modelId="{585F5CDE-BE1A-4B73-99CF-D4F735F7ACCE}" type="sibTrans" cxnId="{718DC02E-E427-4CE1-A8CF-FBACCF2F206A}">
      <dgm:prSet/>
      <dgm:spPr/>
      <dgm:t>
        <a:bodyPr/>
        <a:lstStyle/>
        <a:p>
          <a:endParaRPr lang="zh-CN" altLang="en-US"/>
        </a:p>
      </dgm:t>
    </dgm:pt>
    <dgm:pt modelId="{1679DF7E-DA29-45DD-A4FB-39EF5640D454}" type="pres">
      <dgm:prSet presAssocID="{47FBF38C-BCFF-446A-8185-4B4080CF820B}" presName="Name0" presStyleCnt="0">
        <dgm:presLayoutVars>
          <dgm:dir/>
          <dgm:animLvl val="lvl"/>
          <dgm:resizeHandles val="exact"/>
        </dgm:presLayoutVars>
      </dgm:prSet>
      <dgm:spPr/>
    </dgm:pt>
    <dgm:pt modelId="{C198CA09-7D9B-4FB6-A0C2-B08844612CEE}" type="pres">
      <dgm:prSet presAssocID="{75855001-DCF8-4531-BA9F-09FF5DA86AE7}" presName="parTxOnly" presStyleLbl="node1" presStyleIdx="0" presStyleCnt="5">
        <dgm:presLayoutVars>
          <dgm:chMax val="0"/>
          <dgm:chPref val="0"/>
          <dgm:bulletEnabled val="1"/>
        </dgm:presLayoutVars>
      </dgm:prSet>
      <dgm:spPr/>
    </dgm:pt>
    <dgm:pt modelId="{EAEE3F63-C3CF-4BB0-B07D-69C0C0929F5D}" type="pres">
      <dgm:prSet presAssocID="{DC085015-57AA-435B-B0C8-35856FA1CA36}" presName="parTxOnlySpace" presStyleCnt="0"/>
      <dgm:spPr/>
    </dgm:pt>
    <dgm:pt modelId="{97ADAD13-798A-4FA5-940B-BE04FDF14D89}" type="pres">
      <dgm:prSet presAssocID="{295FD860-D397-4203-8A8F-672392193EFD}" presName="parTxOnly" presStyleLbl="node1" presStyleIdx="1" presStyleCnt="5">
        <dgm:presLayoutVars>
          <dgm:chMax val="0"/>
          <dgm:chPref val="0"/>
          <dgm:bulletEnabled val="1"/>
        </dgm:presLayoutVars>
      </dgm:prSet>
      <dgm:spPr/>
    </dgm:pt>
    <dgm:pt modelId="{F7649424-CA9E-49AE-9694-9BEBBAF4DBBE}" type="pres">
      <dgm:prSet presAssocID="{C2F6C2FD-BE9D-4A40-9B20-6D4B1744B3DB}" presName="parTxOnlySpace" presStyleCnt="0"/>
      <dgm:spPr/>
    </dgm:pt>
    <dgm:pt modelId="{07C6AC7D-A822-4BA3-97D0-D7BB775398A6}" type="pres">
      <dgm:prSet presAssocID="{F0670430-66EE-4023-81B2-F2266EBB676B}" presName="parTxOnly" presStyleLbl="node1" presStyleIdx="2" presStyleCnt="5">
        <dgm:presLayoutVars>
          <dgm:chMax val="0"/>
          <dgm:chPref val="0"/>
          <dgm:bulletEnabled val="1"/>
        </dgm:presLayoutVars>
      </dgm:prSet>
      <dgm:spPr/>
    </dgm:pt>
    <dgm:pt modelId="{22B43DC8-00B7-41C0-84DA-3C36071B9F7E}" type="pres">
      <dgm:prSet presAssocID="{585F5CDE-BE1A-4B73-99CF-D4F735F7ACCE}" presName="parTxOnlySpace" presStyleCnt="0"/>
      <dgm:spPr/>
    </dgm:pt>
    <dgm:pt modelId="{C3DB239B-3547-46EB-9391-CD7A7539D2A2}" type="pres">
      <dgm:prSet presAssocID="{61025F64-9718-46E3-8856-E35A77ACAD8F}" presName="parTxOnly" presStyleLbl="node1" presStyleIdx="3" presStyleCnt="5">
        <dgm:presLayoutVars>
          <dgm:chMax val="0"/>
          <dgm:chPref val="0"/>
          <dgm:bulletEnabled val="1"/>
        </dgm:presLayoutVars>
      </dgm:prSet>
      <dgm:spPr/>
    </dgm:pt>
    <dgm:pt modelId="{578AF098-9852-49A9-A8B3-FBCF70030900}" type="pres">
      <dgm:prSet presAssocID="{8E8C14A7-517A-48B6-9AC6-5F8F7C7DBBD1}" presName="parTxOnlySpace" presStyleCnt="0"/>
      <dgm:spPr/>
    </dgm:pt>
    <dgm:pt modelId="{C81821D2-7528-43F0-BFC3-53AFAC96F4DD}" type="pres">
      <dgm:prSet presAssocID="{E49202F3-FB09-4B78-AEA8-51F88E5F9719}" presName="parTxOnly" presStyleLbl="node1" presStyleIdx="4" presStyleCnt="5">
        <dgm:presLayoutVars>
          <dgm:chMax val="0"/>
          <dgm:chPref val="0"/>
          <dgm:bulletEnabled val="1"/>
        </dgm:presLayoutVars>
      </dgm:prSet>
      <dgm:spPr/>
    </dgm:pt>
  </dgm:ptLst>
  <dgm:cxnLst>
    <dgm:cxn modelId="{B5AA072D-3BD7-48A7-B3A4-BC3E5B690074}" type="presOf" srcId="{61025F64-9718-46E3-8856-E35A77ACAD8F}" destId="{C3DB239B-3547-46EB-9391-CD7A7539D2A2}" srcOrd="0" destOrd="0" presId="urn:microsoft.com/office/officeart/2005/8/layout/chevron1"/>
    <dgm:cxn modelId="{718DC02E-E427-4CE1-A8CF-FBACCF2F206A}" srcId="{47FBF38C-BCFF-446A-8185-4B4080CF820B}" destId="{F0670430-66EE-4023-81B2-F2266EBB676B}" srcOrd="2" destOrd="0" parTransId="{92265C97-3A3C-4816-B59E-B4D73EB3367F}" sibTransId="{585F5CDE-BE1A-4B73-99CF-D4F735F7ACCE}"/>
    <dgm:cxn modelId="{2DDFD432-04B8-407F-A0F1-B732282A6C73}" srcId="{47FBF38C-BCFF-446A-8185-4B4080CF820B}" destId="{75855001-DCF8-4531-BA9F-09FF5DA86AE7}" srcOrd="0" destOrd="0" parTransId="{C3FFCBB7-B012-450A-A501-BC29D871C0AA}" sibTransId="{DC085015-57AA-435B-B0C8-35856FA1CA36}"/>
    <dgm:cxn modelId="{DB071C38-998C-42EA-A309-225B7893EFBF}" srcId="{47FBF38C-BCFF-446A-8185-4B4080CF820B}" destId="{E49202F3-FB09-4B78-AEA8-51F88E5F9719}" srcOrd="4" destOrd="0" parTransId="{25C36CC6-2BE8-4AF6-B5CF-2DB86591BB88}" sibTransId="{E5F326B7-35D5-4344-BE79-5FCCC0B31857}"/>
    <dgm:cxn modelId="{D0705567-1779-4A02-B358-AB9796709C28}" srcId="{47FBF38C-BCFF-446A-8185-4B4080CF820B}" destId="{61025F64-9718-46E3-8856-E35A77ACAD8F}" srcOrd="3" destOrd="0" parTransId="{EA025073-A5CE-4284-A7F2-A2C7579C7A0E}" sibTransId="{8E8C14A7-517A-48B6-9AC6-5F8F7C7DBBD1}"/>
    <dgm:cxn modelId="{D07F0971-12C4-4C33-8BB4-B4FCA78D7B37}" type="presOf" srcId="{F0670430-66EE-4023-81B2-F2266EBB676B}" destId="{07C6AC7D-A822-4BA3-97D0-D7BB775398A6}" srcOrd="0" destOrd="0" presId="urn:microsoft.com/office/officeart/2005/8/layout/chevron1"/>
    <dgm:cxn modelId="{B1A57C54-A2ED-436B-80C5-279ED3F2A047}" type="presOf" srcId="{47FBF38C-BCFF-446A-8185-4B4080CF820B}" destId="{1679DF7E-DA29-45DD-A4FB-39EF5640D454}" srcOrd="0" destOrd="0" presId="urn:microsoft.com/office/officeart/2005/8/layout/chevron1"/>
    <dgm:cxn modelId="{E91BF455-F56D-4D23-A37E-7117C40E8833}" type="presOf" srcId="{75855001-DCF8-4531-BA9F-09FF5DA86AE7}" destId="{C198CA09-7D9B-4FB6-A0C2-B08844612CEE}" srcOrd="0" destOrd="0" presId="urn:microsoft.com/office/officeart/2005/8/layout/chevron1"/>
    <dgm:cxn modelId="{FDDC8DC7-170A-4D62-86AF-08AA635C3DAC}" type="presOf" srcId="{295FD860-D397-4203-8A8F-672392193EFD}" destId="{97ADAD13-798A-4FA5-940B-BE04FDF14D89}" srcOrd="0" destOrd="0" presId="urn:microsoft.com/office/officeart/2005/8/layout/chevron1"/>
    <dgm:cxn modelId="{0D3830D2-8E1E-4103-ABC8-17A2EC28F9BC}" type="presOf" srcId="{E49202F3-FB09-4B78-AEA8-51F88E5F9719}" destId="{C81821D2-7528-43F0-BFC3-53AFAC96F4DD}" srcOrd="0" destOrd="0" presId="urn:microsoft.com/office/officeart/2005/8/layout/chevron1"/>
    <dgm:cxn modelId="{69B0C1FE-5D27-4374-B163-ACB6B10277F6}" srcId="{47FBF38C-BCFF-446A-8185-4B4080CF820B}" destId="{295FD860-D397-4203-8A8F-672392193EFD}" srcOrd="1" destOrd="0" parTransId="{D9AC89E9-8400-4F9E-90FC-AB7FB45BD45A}" sibTransId="{C2F6C2FD-BE9D-4A40-9B20-6D4B1744B3DB}"/>
    <dgm:cxn modelId="{E3DA1799-09CE-473C-8378-27DD9AC173DA}" type="presParOf" srcId="{1679DF7E-DA29-45DD-A4FB-39EF5640D454}" destId="{C198CA09-7D9B-4FB6-A0C2-B08844612CEE}" srcOrd="0" destOrd="0" presId="urn:microsoft.com/office/officeart/2005/8/layout/chevron1"/>
    <dgm:cxn modelId="{57CE95AF-552A-4F93-B919-53DCCFA6B2A4}" type="presParOf" srcId="{1679DF7E-DA29-45DD-A4FB-39EF5640D454}" destId="{EAEE3F63-C3CF-4BB0-B07D-69C0C0929F5D}" srcOrd="1" destOrd="0" presId="urn:microsoft.com/office/officeart/2005/8/layout/chevron1"/>
    <dgm:cxn modelId="{1133D2F5-2227-4F8D-88AA-D372F2DCEC52}" type="presParOf" srcId="{1679DF7E-DA29-45DD-A4FB-39EF5640D454}" destId="{97ADAD13-798A-4FA5-940B-BE04FDF14D89}" srcOrd="2" destOrd="0" presId="urn:microsoft.com/office/officeart/2005/8/layout/chevron1"/>
    <dgm:cxn modelId="{64D5042B-49D1-4330-B9CB-193A861B8093}" type="presParOf" srcId="{1679DF7E-DA29-45DD-A4FB-39EF5640D454}" destId="{F7649424-CA9E-49AE-9694-9BEBBAF4DBBE}" srcOrd="3" destOrd="0" presId="urn:microsoft.com/office/officeart/2005/8/layout/chevron1"/>
    <dgm:cxn modelId="{C8115A2A-40BD-4A94-84F4-9E1B73775238}" type="presParOf" srcId="{1679DF7E-DA29-45DD-A4FB-39EF5640D454}" destId="{07C6AC7D-A822-4BA3-97D0-D7BB775398A6}" srcOrd="4" destOrd="0" presId="urn:microsoft.com/office/officeart/2005/8/layout/chevron1"/>
    <dgm:cxn modelId="{F1D1C53C-8CFF-4C89-B705-3328E50EA458}" type="presParOf" srcId="{1679DF7E-DA29-45DD-A4FB-39EF5640D454}" destId="{22B43DC8-00B7-41C0-84DA-3C36071B9F7E}" srcOrd="5" destOrd="0" presId="urn:microsoft.com/office/officeart/2005/8/layout/chevron1"/>
    <dgm:cxn modelId="{2552F9E3-CA29-4D43-925E-E19A494478AE}" type="presParOf" srcId="{1679DF7E-DA29-45DD-A4FB-39EF5640D454}" destId="{C3DB239B-3547-46EB-9391-CD7A7539D2A2}" srcOrd="6" destOrd="0" presId="urn:microsoft.com/office/officeart/2005/8/layout/chevron1"/>
    <dgm:cxn modelId="{67429D4C-7C19-4B9B-BFB4-B9B76177DD96}" type="presParOf" srcId="{1679DF7E-DA29-45DD-A4FB-39EF5640D454}" destId="{578AF098-9852-49A9-A8B3-FBCF70030900}" srcOrd="7" destOrd="0" presId="urn:microsoft.com/office/officeart/2005/8/layout/chevron1"/>
    <dgm:cxn modelId="{4A00A573-90DF-416A-A12A-CDDBB4E76296}" type="presParOf" srcId="{1679DF7E-DA29-45DD-A4FB-39EF5640D454}" destId="{C81821D2-7528-43F0-BFC3-53AFAC96F4DD}"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FBF38C-BCFF-446A-8185-4B4080CF820B}" type="doc">
      <dgm:prSet loTypeId="urn:microsoft.com/office/officeart/2005/8/layout/chevron1" loCatId="process" qsTypeId="urn:microsoft.com/office/officeart/2005/8/quickstyle/simple1" qsCatId="simple" csTypeId="urn:microsoft.com/office/officeart/2005/8/colors/accent1_2" csCatId="accent1" phldr="1"/>
      <dgm:spPr/>
    </dgm:pt>
    <dgm:pt modelId="{75855001-DCF8-4531-BA9F-09FF5DA86AE7}">
      <dgm:prSet phldrT="[文本]"/>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计算节点关机</a:t>
          </a:r>
        </a:p>
      </dgm:t>
    </dgm:pt>
    <dgm:pt modelId="{C3FFCBB7-B012-450A-A501-BC29D871C0AA}" type="parTrans" cxnId="{2DDFD432-04B8-407F-A0F1-B732282A6C73}">
      <dgm:prSet/>
      <dgm:spPr/>
      <dgm:t>
        <a:bodyPr/>
        <a:lstStyle/>
        <a:p>
          <a:endParaRPr lang="zh-CN" altLang="en-US"/>
        </a:p>
      </dgm:t>
    </dgm:pt>
    <dgm:pt modelId="{DC085015-57AA-435B-B0C8-35856FA1CA36}" type="sibTrans" cxnId="{2DDFD432-04B8-407F-A0F1-B732282A6C73}">
      <dgm:prSet/>
      <dgm:spPr/>
      <dgm:t>
        <a:bodyPr/>
        <a:lstStyle/>
        <a:p>
          <a:endParaRPr lang="zh-CN" altLang="en-US"/>
        </a:p>
      </dgm:t>
    </dgm:pt>
    <dgm:pt modelId="{295FD860-D397-4203-8A8F-672392193EFD}">
      <dgm:prSet/>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存储节点关机</a:t>
          </a:r>
        </a:p>
      </dgm:t>
    </dgm:pt>
    <dgm:pt modelId="{D9AC89E9-8400-4F9E-90FC-AB7FB45BD45A}" type="parTrans" cxnId="{69B0C1FE-5D27-4374-B163-ACB6B10277F6}">
      <dgm:prSet/>
      <dgm:spPr/>
      <dgm:t>
        <a:bodyPr/>
        <a:lstStyle/>
        <a:p>
          <a:endParaRPr lang="zh-CN" altLang="en-US"/>
        </a:p>
      </dgm:t>
    </dgm:pt>
    <dgm:pt modelId="{C2F6C2FD-BE9D-4A40-9B20-6D4B1744B3DB}" type="sibTrans" cxnId="{69B0C1FE-5D27-4374-B163-ACB6B10277F6}">
      <dgm:prSet/>
      <dgm:spPr/>
      <dgm:t>
        <a:bodyPr/>
        <a:lstStyle/>
        <a:p>
          <a:endParaRPr lang="zh-CN" altLang="en-US"/>
        </a:p>
      </dgm:t>
    </dgm:pt>
    <dgm:pt modelId="{5471754D-0C06-4D5F-B336-7C3FEB0084E4}">
      <dgm:prSet/>
      <dgm:spPr>
        <a:solidFill>
          <a:srgbClr val="0070C0"/>
        </a:solidFill>
      </dgm:spPr>
      <dgm:t>
        <a:bodyPr/>
        <a:lstStyle/>
        <a:p>
          <a:r>
            <a:rPr lang="en-US" altLang="zh-CN" dirty="0">
              <a:latin typeface="微软雅黑" panose="020B0503020204020204" pitchFamily="34" charset="-122"/>
              <a:ea typeface="微软雅黑" panose="020B0503020204020204" pitchFamily="34" charset="-122"/>
            </a:rPr>
            <a:t>mu01</a:t>
          </a:r>
          <a:r>
            <a:rPr lang="zh-CN" altLang="en-US" dirty="0">
              <a:latin typeface="微软雅黑" panose="020B0503020204020204" pitchFamily="34" charset="-122"/>
              <a:ea typeface="微软雅黑" panose="020B0503020204020204" pitchFamily="34" charset="-122"/>
            </a:rPr>
            <a:t>关机</a:t>
          </a:r>
        </a:p>
      </dgm:t>
    </dgm:pt>
    <dgm:pt modelId="{24D2F482-8558-4152-82BD-0AC92AEBE7EC}" type="parTrans" cxnId="{DF690128-4B1C-49B8-8DEC-7F96FABC9A1F}">
      <dgm:prSet/>
      <dgm:spPr/>
      <dgm:t>
        <a:bodyPr/>
        <a:lstStyle/>
        <a:p>
          <a:endParaRPr lang="zh-CN" altLang="en-US"/>
        </a:p>
      </dgm:t>
    </dgm:pt>
    <dgm:pt modelId="{2E12ED7F-1235-4212-898D-159F97F00D73}" type="sibTrans" cxnId="{DF690128-4B1C-49B8-8DEC-7F96FABC9A1F}">
      <dgm:prSet/>
      <dgm:spPr/>
      <dgm:t>
        <a:bodyPr/>
        <a:lstStyle/>
        <a:p>
          <a:endParaRPr lang="zh-CN" altLang="en-US"/>
        </a:p>
      </dgm:t>
    </dgm:pt>
    <dgm:pt modelId="{E49202F3-FB09-4B78-AEA8-51F88E5F9719}">
      <dgm:prSet/>
      <dgm:spPr>
        <a:solidFill>
          <a:srgbClr val="0070C0"/>
        </a:solidFill>
      </dgm:spPr>
      <dgm:t>
        <a:bodyPr/>
        <a:lstStyle/>
        <a:p>
          <a:r>
            <a:rPr lang="zh-CN" altLang="en-US" dirty="0">
              <a:latin typeface="微软雅黑" panose="020B0503020204020204" pitchFamily="34" charset="-122"/>
              <a:ea typeface="微软雅黑" panose="020B0503020204020204" pitchFamily="34" charset="-122"/>
            </a:rPr>
            <a:t>交换机下电</a:t>
          </a:r>
        </a:p>
      </dgm:t>
    </dgm:pt>
    <dgm:pt modelId="{25C36CC6-2BE8-4AF6-B5CF-2DB86591BB88}" type="parTrans" cxnId="{DB071C38-998C-42EA-A309-225B7893EFBF}">
      <dgm:prSet/>
      <dgm:spPr/>
      <dgm:t>
        <a:bodyPr/>
        <a:lstStyle/>
        <a:p>
          <a:endParaRPr lang="zh-CN" altLang="en-US"/>
        </a:p>
      </dgm:t>
    </dgm:pt>
    <dgm:pt modelId="{E5F326B7-35D5-4344-BE79-5FCCC0B31857}" type="sibTrans" cxnId="{DB071C38-998C-42EA-A309-225B7893EFBF}">
      <dgm:prSet/>
      <dgm:spPr/>
      <dgm:t>
        <a:bodyPr/>
        <a:lstStyle/>
        <a:p>
          <a:endParaRPr lang="zh-CN" altLang="en-US"/>
        </a:p>
      </dgm:t>
    </dgm:pt>
    <dgm:pt modelId="{1679DF7E-DA29-45DD-A4FB-39EF5640D454}" type="pres">
      <dgm:prSet presAssocID="{47FBF38C-BCFF-446A-8185-4B4080CF820B}" presName="Name0" presStyleCnt="0">
        <dgm:presLayoutVars>
          <dgm:dir/>
          <dgm:animLvl val="lvl"/>
          <dgm:resizeHandles val="exact"/>
        </dgm:presLayoutVars>
      </dgm:prSet>
      <dgm:spPr/>
    </dgm:pt>
    <dgm:pt modelId="{C198CA09-7D9B-4FB6-A0C2-B08844612CEE}" type="pres">
      <dgm:prSet presAssocID="{75855001-DCF8-4531-BA9F-09FF5DA86AE7}" presName="parTxOnly" presStyleLbl="node1" presStyleIdx="0" presStyleCnt="4">
        <dgm:presLayoutVars>
          <dgm:chMax val="0"/>
          <dgm:chPref val="0"/>
          <dgm:bulletEnabled val="1"/>
        </dgm:presLayoutVars>
      </dgm:prSet>
      <dgm:spPr/>
    </dgm:pt>
    <dgm:pt modelId="{EAEE3F63-C3CF-4BB0-B07D-69C0C0929F5D}" type="pres">
      <dgm:prSet presAssocID="{DC085015-57AA-435B-B0C8-35856FA1CA36}" presName="parTxOnlySpace" presStyleCnt="0"/>
      <dgm:spPr/>
    </dgm:pt>
    <dgm:pt modelId="{97ADAD13-798A-4FA5-940B-BE04FDF14D89}" type="pres">
      <dgm:prSet presAssocID="{295FD860-D397-4203-8A8F-672392193EFD}" presName="parTxOnly" presStyleLbl="node1" presStyleIdx="1" presStyleCnt="4">
        <dgm:presLayoutVars>
          <dgm:chMax val="0"/>
          <dgm:chPref val="0"/>
          <dgm:bulletEnabled val="1"/>
        </dgm:presLayoutVars>
      </dgm:prSet>
      <dgm:spPr/>
    </dgm:pt>
    <dgm:pt modelId="{F7649424-CA9E-49AE-9694-9BEBBAF4DBBE}" type="pres">
      <dgm:prSet presAssocID="{C2F6C2FD-BE9D-4A40-9B20-6D4B1744B3DB}" presName="parTxOnlySpace" presStyleCnt="0"/>
      <dgm:spPr/>
    </dgm:pt>
    <dgm:pt modelId="{189E9BC5-0B48-4671-9F21-B81B5F084B79}" type="pres">
      <dgm:prSet presAssocID="{5471754D-0C06-4D5F-B336-7C3FEB0084E4}" presName="parTxOnly" presStyleLbl="node1" presStyleIdx="2" presStyleCnt="4">
        <dgm:presLayoutVars>
          <dgm:chMax val="0"/>
          <dgm:chPref val="0"/>
          <dgm:bulletEnabled val="1"/>
        </dgm:presLayoutVars>
      </dgm:prSet>
      <dgm:spPr/>
    </dgm:pt>
    <dgm:pt modelId="{81CAEB63-07D0-4995-BDE7-3DB7D3734E05}" type="pres">
      <dgm:prSet presAssocID="{2E12ED7F-1235-4212-898D-159F97F00D73}" presName="parTxOnlySpace" presStyleCnt="0"/>
      <dgm:spPr/>
    </dgm:pt>
    <dgm:pt modelId="{C81821D2-7528-43F0-BFC3-53AFAC96F4DD}" type="pres">
      <dgm:prSet presAssocID="{E49202F3-FB09-4B78-AEA8-51F88E5F9719}" presName="parTxOnly" presStyleLbl="node1" presStyleIdx="3" presStyleCnt="4">
        <dgm:presLayoutVars>
          <dgm:chMax val="0"/>
          <dgm:chPref val="0"/>
          <dgm:bulletEnabled val="1"/>
        </dgm:presLayoutVars>
      </dgm:prSet>
      <dgm:spPr/>
    </dgm:pt>
  </dgm:ptLst>
  <dgm:cxnLst>
    <dgm:cxn modelId="{DF690128-4B1C-49B8-8DEC-7F96FABC9A1F}" srcId="{47FBF38C-BCFF-446A-8185-4B4080CF820B}" destId="{5471754D-0C06-4D5F-B336-7C3FEB0084E4}" srcOrd="2" destOrd="0" parTransId="{24D2F482-8558-4152-82BD-0AC92AEBE7EC}" sibTransId="{2E12ED7F-1235-4212-898D-159F97F00D73}"/>
    <dgm:cxn modelId="{2DDFD432-04B8-407F-A0F1-B732282A6C73}" srcId="{47FBF38C-BCFF-446A-8185-4B4080CF820B}" destId="{75855001-DCF8-4531-BA9F-09FF5DA86AE7}" srcOrd="0" destOrd="0" parTransId="{C3FFCBB7-B012-450A-A501-BC29D871C0AA}" sibTransId="{DC085015-57AA-435B-B0C8-35856FA1CA36}"/>
    <dgm:cxn modelId="{DB071C38-998C-42EA-A309-225B7893EFBF}" srcId="{47FBF38C-BCFF-446A-8185-4B4080CF820B}" destId="{E49202F3-FB09-4B78-AEA8-51F88E5F9719}" srcOrd="3" destOrd="0" parTransId="{25C36CC6-2BE8-4AF6-B5CF-2DB86591BB88}" sibTransId="{E5F326B7-35D5-4344-BE79-5FCCC0B31857}"/>
    <dgm:cxn modelId="{B7EE2B6D-4AAC-4A5E-910A-1E8A1B7829A1}" type="presOf" srcId="{5471754D-0C06-4D5F-B336-7C3FEB0084E4}" destId="{189E9BC5-0B48-4671-9F21-B81B5F084B79}" srcOrd="0" destOrd="0" presId="urn:microsoft.com/office/officeart/2005/8/layout/chevron1"/>
    <dgm:cxn modelId="{B1A57C54-A2ED-436B-80C5-279ED3F2A047}" type="presOf" srcId="{47FBF38C-BCFF-446A-8185-4B4080CF820B}" destId="{1679DF7E-DA29-45DD-A4FB-39EF5640D454}" srcOrd="0" destOrd="0" presId="urn:microsoft.com/office/officeart/2005/8/layout/chevron1"/>
    <dgm:cxn modelId="{E91BF455-F56D-4D23-A37E-7117C40E8833}" type="presOf" srcId="{75855001-DCF8-4531-BA9F-09FF5DA86AE7}" destId="{C198CA09-7D9B-4FB6-A0C2-B08844612CEE}" srcOrd="0" destOrd="0" presId="urn:microsoft.com/office/officeart/2005/8/layout/chevron1"/>
    <dgm:cxn modelId="{FDDC8DC7-170A-4D62-86AF-08AA635C3DAC}" type="presOf" srcId="{295FD860-D397-4203-8A8F-672392193EFD}" destId="{97ADAD13-798A-4FA5-940B-BE04FDF14D89}" srcOrd="0" destOrd="0" presId="urn:microsoft.com/office/officeart/2005/8/layout/chevron1"/>
    <dgm:cxn modelId="{0D3830D2-8E1E-4103-ABC8-17A2EC28F9BC}" type="presOf" srcId="{E49202F3-FB09-4B78-AEA8-51F88E5F9719}" destId="{C81821D2-7528-43F0-BFC3-53AFAC96F4DD}" srcOrd="0" destOrd="0" presId="urn:microsoft.com/office/officeart/2005/8/layout/chevron1"/>
    <dgm:cxn modelId="{69B0C1FE-5D27-4374-B163-ACB6B10277F6}" srcId="{47FBF38C-BCFF-446A-8185-4B4080CF820B}" destId="{295FD860-D397-4203-8A8F-672392193EFD}" srcOrd="1" destOrd="0" parTransId="{D9AC89E9-8400-4F9E-90FC-AB7FB45BD45A}" sibTransId="{C2F6C2FD-BE9D-4A40-9B20-6D4B1744B3DB}"/>
    <dgm:cxn modelId="{E3DA1799-09CE-473C-8378-27DD9AC173DA}" type="presParOf" srcId="{1679DF7E-DA29-45DD-A4FB-39EF5640D454}" destId="{C198CA09-7D9B-4FB6-A0C2-B08844612CEE}" srcOrd="0" destOrd="0" presId="urn:microsoft.com/office/officeart/2005/8/layout/chevron1"/>
    <dgm:cxn modelId="{57CE95AF-552A-4F93-B919-53DCCFA6B2A4}" type="presParOf" srcId="{1679DF7E-DA29-45DD-A4FB-39EF5640D454}" destId="{EAEE3F63-C3CF-4BB0-B07D-69C0C0929F5D}" srcOrd="1" destOrd="0" presId="urn:microsoft.com/office/officeart/2005/8/layout/chevron1"/>
    <dgm:cxn modelId="{1133D2F5-2227-4F8D-88AA-D372F2DCEC52}" type="presParOf" srcId="{1679DF7E-DA29-45DD-A4FB-39EF5640D454}" destId="{97ADAD13-798A-4FA5-940B-BE04FDF14D89}" srcOrd="2" destOrd="0" presId="urn:microsoft.com/office/officeart/2005/8/layout/chevron1"/>
    <dgm:cxn modelId="{64D5042B-49D1-4330-B9CB-193A861B8093}" type="presParOf" srcId="{1679DF7E-DA29-45DD-A4FB-39EF5640D454}" destId="{F7649424-CA9E-49AE-9694-9BEBBAF4DBBE}" srcOrd="3" destOrd="0" presId="urn:microsoft.com/office/officeart/2005/8/layout/chevron1"/>
    <dgm:cxn modelId="{9E53154F-CED8-4924-94F9-067BD6F62C59}" type="presParOf" srcId="{1679DF7E-DA29-45DD-A4FB-39EF5640D454}" destId="{189E9BC5-0B48-4671-9F21-B81B5F084B79}" srcOrd="4" destOrd="0" presId="urn:microsoft.com/office/officeart/2005/8/layout/chevron1"/>
    <dgm:cxn modelId="{CCFC0CF0-707C-4307-BA13-16EF5C424DAC}" type="presParOf" srcId="{1679DF7E-DA29-45DD-A4FB-39EF5640D454}" destId="{81CAEB63-07D0-4995-BDE7-3DB7D3734E05}" srcOrd="5" destOrd="0" presId="urn:microsoft.com/office/officeart/2005/8/layout/chevron1"/>
    <dgm:cxn modelId="{4A00A573-90DF-416A-A12A-CDDBB4E76296}" type="presParOf" srcId="{1679DF7E-DA29-45DD-A4FB-39EF5640D454}" destId="{C81821D2-7528-43F0-BFC3-53AFAC96F4DD}"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98CA09-7D9B-4FB6-A0C2-B08844612CEE}">
      <dsp:nvSpPr>
        <dsp:cNvPr id="0" name=""/>
        <dsp:cNvSpPr/>
      </dsp:nvSpPr>
      <dsp:spPr>
        <a:xfrm>
          <a:off x="2686" y="186867"/>
          <a:ext cx="2391013" cy="95640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微软雅黑" panose="020B0503020204020204" pitchFamily="34" charset="-122"/>
              <a:ea typeface="微软雅黑" panose="020B0503020204020204" pitchFamily="34" charset="-122"/>
            </a:rPr>
            <a:t>机房环境就绪</a:t>
          </a:r>
        </a:p>
      </dsp:txBody>
      <dsp:txXfrm>
        <a:off x="480889" y="186867"/>
        <a:ext cx="1434608" cy="956405"/>
      </dsp:txXfrm>
    </dsp:sp>
    <dsp:sp modelId="{97ADAD13-798A-4FA5-940B-BE04FDF14D89}">
      <dsp:nvSpPr>
        <dsp:cNvPr id="0" name=""/>
        <dsp:cNvSpPr/>
      </dsp:nvSpPr>
      <dsp:spPr>
        <a:xfrm>
          <a:off x="2154599" y="186867"/>
          <a:ext cx="2391013" cy="95640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微软雅黑" panose="020B0503020204020204" pitchFamily="34" charset="-122"/>
              <a:ea typeface="微软雅黑" panose="020B0503020204020204" pitchFamily="34" charset="-122"/>
            </a:rPr>
            <a:t>交换机开机</a:t>
          </a:r>
        </a:p>
      </dsp:txBody>
      <dsp:txXfrm>
        <a:off x="2632802" y="186867"/>
        <a:ext cx="1434608" cy="956405"/>
      </dsp:txXfrm>
    </dsp:sp>
    <dsp:sp modelId="{07C6AC7D-A822-4BA3-97D0-D7BB775398A6}">
      <dsp:nvSpPr>
        <dsp:cNvPr id="0" name=""/>
        <dsp:cNvSpPr/>
      </dsp:nvSpPr>
      <dsp:spPr>
        <a:xfrm>
          <a:off x="4306511" y="186867"/>
          <a:ext cx="2391013" cy="95640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微软雅黑" panose="020B0503020204020204" pitchFamily="34" charset="-122"/>
              <a:ea typeface="微软雅黑" panose="020B0503020204020204" pitchFamily="34" charset="-122"/>
            </a:rPr>
            <a:t>所有存储节点</a:t>
          </a:r>
        </a:p>
      </dsp:txBody>
      <dsp:txXfrm>
        <a:off x="4784714" y="186867"/>
        <a:ext cx="1434608" cy="956405"/>
      </dsp:txXfrm>
    </dsp:sp>
    <dsp:sp modelId="{C3DB239B-3547-46EB-9391-CD7A7539D2A2}">
      <dsp:nvSpPr>
        <dsp:cNvPr id="0" name=""/>
        <dsp:cNvSpPr/>
      </dsp:nvSpPr>
      <dsp:spPr>
        <a:xfrm>
          <a:off x="6458424" y="186867"/>
          <a:ext cx="2391013" cy="95640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微软雅黑" panose="020B0503020204020204" pitchFamily="34" charset="-122"/>
              <a:ea typeface="微软雅黑" panose="020B0503020204020204" pitchFamily="34" charset="-122"/>
            </a:rPr>
            <a:t>管理节点</a:t>
          </a:r>
          <a:r>
            <a:rPr lang="en-US" altLang="zh-CN" sz="2100" kern="1200" dirty="0">
              <a:latin typeface="微软雅黑" panose="020B0503020204020204" pitchFamily="34" charset="-122"/>
              <a:ea typeface="微软雅黑" panose="020B0503020204020204" pitchFamily="34" charset="-122"/>
            </a:rPr>
            <a:t>mu01</a:t>
          </a:r>
          <a:r>
            <a:rPr lang="zh-CN" altLang="en-US" sz="2100" kern="1200" dirty="0">
              <a:latin typeface="微软雅黑" panose="020B0503020204020204" pitchFamily="34" charset="-122"/>
              <a:ea typeface="微软雅黑" panose="020B0503020204020204" pitchFamily="34" charset="-122"/>
            </a:rPr>
            <a:t>开机</a:t>
          </a:r>
        </a:p>
      </dsp:txBody>
      <dsp:txXfrm>
        <a:off x="6936627" y="186867"/>
        <a:ext cx="1434608" cy="956405"/>
      </dsp:txXfrm>
    </dsp:sp>
    <dsp:sp modelId="{C81821D2-7528-43F0-BFC3-53AFAC96F4DD}">
      <dsp:nvSpPr>
        <dsp:cNvPr id="0" name=""/>
        <dsp:cNvSpPr/>
      </dsp:nvSpPr>
      <dsp:spPr>
        <a:xfrm>
          <a:off x="8610336" y="186867"/>
          <a:ext cx="2391013" cy="95640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微软雅黑" panose="020B0503020204020204" pitchFamily="34" charset="-122"/>
              <a:ea typeface="微软雅黑" panose="020B0503020204020204" pitchFamily="34" charset="-122"/>
            </a:rPr>
            <a:t>剩余节点开机</a:t>
          </a:r>
        </a:p>
      </dsp:txBody>
      <dsp:txXfrm>
        <a:off x="9088539" y="186867"/>
        <a:ext cx="1434608" cy="9564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98CA09-7D9B-4FB6-A0C2-B08844612CEE}">
      <dsp:nvSpPr>
        <dsp:cNvPr id="0" name=""/>
        <dsp:cNvSpPr/>
      </dsp:nvSpPr>
      <dsp:spPr>
        <a:xfrm>
          <a:off x="5104" y="0"/>
          <a:ext cx="2971304" cy="1159242"/>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36005" rIns="36005" bIns="3600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latin typeface="微软雅黑" panose="020B0503020204020204" pitchFamily="34" charset="-122"/>
              <a:ea typeface="微软雅黑" panose="020B0503020204020204" pitchFamily="34" charset="-122"/>
            </a:rPr>
            <a:t>计算节点关机</a:t>
          </a:r>
        </a:p>
      </dsp:txBody>
      <dsp:txXfrm>
        <a:off x="584725" y="0"/>
        <a:ext cx="1812062" cy="1159242"/>
      </dsp:txXfrm>
    </dsp:sp>
    <dsp:sp modelId="{97ADAD13-798A-4FA5-940B-BE04FDF14D89}">
      <dsp:nvSpPr>
        <dsp:cNvPr id="0" name=""/>
        <dsp:cNvSpPr/>
      </dsp:nvSpPr>
      <dsp:spPr>
        <a:xfrm>
          <a:off x="2679278" y="0"/>
          <a:ext cx="2971304" cy="1159242"/>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36005" rIns="36005" bIns="3600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latin typeface="微软雅黑" panose="020B0503020204020204" pitchFamily="34" charset="-122"/>
              <a:ea typeface="微软雅黑" panose="020B0503020204020204" pitchFamily="34" charset="-122"/>
            </a:rPr>
            <a:t>存储节点关机</a:t>
          </a:r>
        </a:p>
      </dsp:txBody>
      <dsp:txXfrm>
        <a:off x="3258899" y="0"/>
        <a:ext cx="1812062" cy="1159242"/>
      </dsp:txXfrm>
    </dsp:sp>
    <dsp:sp modelId="{189E9BC5-0B48-4671-9F21-B81B5F084B79}">
      <dsp:nvSpPr>
        <dsp:cNvPr id="0" name=""/>
        <dsp:cNvSpPr/>
      </dsp:nvSpPr>
      <dsp:spPr>
        <a:xfrm>
          <a:off x="5353453" y="0"/>
          <a:ext cx="2971304" cy="1159242"/>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36005" rIns="36005" bIns="36005"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latin typeface="微软雅黑" panose="020B0503020204020204" pitchFamily="34" charset="-122"/>
              <a:ea typeface="微软雅黑" panose="020B0503020204020204" pitchFamily="34" charset="-122"/>
            </a:rPr>
            <a:t>mu01</a:t>
          </a:r>
          <a:r>
            <a:rPr lang="zh-CN" altLang="en-US" sz="2700" kern="1200" dirty="0">
              <a:latin typeface="微软雅黑" panose="020B0503020204020204" pitchFamily="34" charset="-122"/>
              <a:ea typeface="微软雅黑" panose="020B0503020204020204" pitchFamily="34" charset="-122"/>
            </a:rPr>
            <a:t>关机</a:t>
          </a:r>
        </a:p>
      </dsp:txBody>
      <dsp:txXfrm>
        <a:off x="5933074" y="0"/>
        <a:ext cx="1812062" cy="1159242"/>
      </dsp:txXfrm>
    </dsp:sp>
    <dsp:sp modelId="{C81821D2-7528-43F0-BFC3-53AFAC96F4DD}">
      <dsp:nvSpPr>
        <dsp:cNvPr id="0" name=""/>
        <dsp:cNvSpPr/>
      </dsp:nvSpPr>
      <dsp:spPr>
        <a:xfrm>
          <a:off x="8027627" y="0"/>
          <a:ext cx="2971304" cy="1159242"/>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14" tIns="36005" rIns="36005" bIns="3600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latin typeface="微软雅黑" panose="020B0503020204020204" pitchFamily="34" charset="-122"/>
              <a:ea typeface="微软雅黑" panose="020B0503020204020204" pitchFamily="34" charset="-122"/>
            </a:rPr>
            <a:t>交换机下电</a:t>
          </a:r>
        </a:p>
      </dsp:txBody>
      <dsp:txXfrm>
        <a:off x="8607248" y="0"/>
        <a:ext cx="1812062" cy="115924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3D049C-569E-41E7-8C9F-6E5882F43DE5}" type="datetimeFigureOut">
              <a:rPr lang="zh-CN" altLang="en-US" smtClean="0"/>
              <a:t>2024/9/6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EA25F-068F-4156-803F-3864FBE22FF8}" type="slidenum">
              <a:rPr lang="zh-CN" altLang="en-US" smtClean="0"/>
              <a:t>‹#›</a:t>
            </a:fld>
            <a:endParaRPr lang="zh-CN" altLang="en-US"/>
          </a:p>
        </p:txBody>
      </p:sp>
    </p:spTree>
    <p:extLst>
      <p:ext uri="{BB962C8B-B14F-4D97-AF65-F5344CB8AC3E}">
        <p14:creationId xmlns:p14="http://schemas.microsoft.com/office/powerpoint/2010/main" val="3468726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405706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9160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a:t>
            </a:fld>
            <a:endParaRPr lang="zh-CN" altLang="en-US"/>
          </a:p>
        </p:txBody>
      </p:sp>
    </p:spTree>
    <p:extLst>
      <p:ext uri="{BB962C8B-B14F-4D97-AF65-F5344CB8AC3E}">
        <p14:creationId xmlns:p14="http://schemas.microsoft.com/office/powerpoint/2010/main" val="242455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2868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25156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1941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82283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84556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22189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10</a:t>
            </a:fld>
            <a:endParaRPr lang="zh-CN" altLang="en-US"/>
          </a:p>
        </p:txBody>
      </p:sp>
    </p:spTree>
    <p:extLst>
      <p:ext uri="{BB962C8B-B14F-4D97-AF65-F5344CB8AC3E}">
        <p14:creationId xmlns:p14="http://schemas.microsoft.com/office/powerpoint/2010/main" val="950199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96722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146237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90743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19990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04519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91187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17</a:t>
            </a:fld>
            <a:endParaRPr lang="zh-CN" altLang="en-US"/>
          </a:p>
        </p:txBody>
      </p:sp>
    </p:spTree>
    <p:extLst>
      <p:ext uri="{BB962C8B-B14F-4D97-AF65-F5344CB8AC3E}">
        <p14:creationId xmlns:p14="http://schemas.microsoft.com/office/powerpoint/2010/main" val="2693127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145590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51369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37857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78910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209538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245762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143672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42390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444076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7123034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6100416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156134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96714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265274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32</a:t>
            </a:fld>
            <a:endParaRPr lang="zh-CN" altLang="en-US"/>
          </a:p>
        </p:txBody>
      </p:sp>
    </p:spTree>
    <p:extLst>
      <p:ext uri="{BB962C8B-B14F-4D97-AF65-F5344CB8AC3E}">
        <p14:creationId xmlns:p14="http://schemas.microsoft.com/office/powerpoint/2010/main" val="3062648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191623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0409349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04559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58381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3045361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092384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309574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581128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886383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82168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530289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849862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336876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009165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637686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023573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49</a:t>
            </a:fld>
            <a:endParaRPr lang="zh-CN" altLang="en-US"/>
          </a:p>
        </p:txBody>
      </p:sp>
    </p:spTree>
    <p:extLst>
      <p:ext uri="{BB962C8B-B14F-4D97-AF65-F5344CB8AC3E}">
        <p14:creationId xmlns:p14="http://schemas.microsoft.com/office/powerpoint/2010/main" val="8267706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593881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487925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842661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6646491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4879364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826729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256183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328540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702953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495148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7038463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321303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722666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283495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393385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0968497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108040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156733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908655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541999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161408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885127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9658562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421205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905102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79290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7400250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8627700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1405869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408618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2808013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3803144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3790189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253472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689333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5887083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1796816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13434310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7919534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40424921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099308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91</a:t>
            </a:fld>
            <a:endParaRPr lang="zh-CN" altLang="en-US"/>
          </a:p>
        </p:txBody>
      </p:sp>
    </p:spTree>
    <p:extLst>
      <p:ext uri="{BB962C8B-B14F-4D97-AF65-F5344CB8AC3E}">
        <p14:creationId xmlns:p14="http://schemas.microsoft.com/office/powerpoint/2010/main" val="230098114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8449222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0872721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7711113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95</a:t>
            </a:fld>
            <a:endParaRPr lang="zh-CN" altLang="en-US"/>
          </a:p>
        </p:txBody>
      </p:sp>
    </p:spTree>
    <p:extLst>
      <p:ext uri="{BB962C8B-B14F-4D97-AF65-F5344CB8AC3E}">
        <p14:creationId xmlns:p14="http://schemas.microsoft.com/office/powerpoint/2010/main" val="240868874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085041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942402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09573764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3010334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5080140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06426821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74203563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50744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2432551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1299029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3624699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3443341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4077133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1768411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2796797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4039181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1009862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200660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410972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CE45C20-9DC3-4C93-855F-0906F529D9E0}" type="datetimeFigureOut">
              <a:rPr lang="zh-CN" altLang="en-US"/>
              <a:pPr>
                <a:defRPr/>
              </a:pPr>
              <a:t>2024/9/6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438595A7-F137-4A1C-94F3-17BF434764D1}" type="slidenum">
              <a:rPr lang="zh-CN" altLang="en-US"/>
              <a:pPr/>
              <a:t>‹#›</a:t>
            </a:fld>
            <a:endParaRPr lang="zh-CN" altLang="en-US"/>
          </a:p>
        </p:txBody>
      </p:sp>
    </p:spTree>
    <p:extLst>
      <p:ext uri="{BB962C8B-B14F-4D97-AF65-F5344CB8AC3E}">
        <p14:creationId xmlns:p14="http://schemas.microsoft.com/office/powerpoint/2010/main" val="3944398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ED4874-415F-4462-8CBD-90FA9588F106}" type="datetimeFigureOut">
              <a:rPr lang="zh-CN" altLang="en-US" smtClean="0"/>
              <a:t>2024/9/6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92ADDF-ABC6-4EEC-846D-A1AE2D410679}" type="slidenum">
              <a:rPr lang="zh-CN" altLang="en-US" smtClean="0"/>
              <a:t>‹#›</a:t>
            </a:fld>
            <a:endParaRPr lang="zh-CN" altLang="en-US"/>
          </a:p>
        </p:txBody>
      </p:sp>
    </p:spTree>
    <p:extLst>
      <p:ext uri="{BB962C8B-B14F-4D97-AF65-F5344CB8AC3E}">
        <p14:creationId xmlns:p14="http://schemas.microsoft.com/office/powerpoint/2010/main" val="402850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9E60E2-E2D2-4700-9AF9-54A6EB6BB387}" type="datetimeFigureOut">
              <a:rPr lang="zh-CN" altLang="en-US" smtClean="0"/>
              <a:t>2024/9/6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53A395-2493-429D-A220-7401D720F65C}" type="slidenum">
              <a:rPr lang="zh-CN" altLang="en-US" smtClean="0"/>
              <a:t>‹#›</a:t>
            </a:fld>
            <a:endParaRPr lang="zh-CN" altLang="en-US"/>
          </a:p>
        </p:txBody>
      </p:sp>
    </p:spTree>
    <p:extLst>
      <p:ext uri="{BB962C8B-B14F-4D97-AF65-F5344CB8AC3E}">
        <p14:creationId xmlns:p14="http://schemas.microsoft.com/office/powerpoint/2010/main" val="2789653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76" y="275464"/>
            <a:ext cx="10972649" cy="1142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8530" tIns="64265" rIns="128530" bIns="64265" numCol="1" anchor="ctr" anchorCtr="0" compatLnSpc="1">
            <a:prstTxWarp prst="textNoShape">
              <a:avLst/>
            </a:prstTxWarp>
          </a:bodyPr>
          <a:lstStyle/>
          <a:p>
            <a:pPr lvl="0"/>
            <a:r>
              <a:rPr lang="zh-CN" altLang="en-US" dirty="0"/>
              <a:t>单击此处编辑母版标题样式</a:t>
            </a:r>
          </a:p>
        </p:txBody>
      </p:sp>
      <p:sp>
        <p:nvSpPr>
          <p:cNvPr id="1027" name="文本占位符 2"/>
          <p:cNvSpPr>
            <a:spLocks noGrp="1"/>
          </p:cNvSpPr>
          <p:nvPr>
            <p:ph type="body" idx="1"/>
          </p:nvPr>
        </p:nvSpPr>
        <p:spPr bwMode="auto">
          <a:xfrm>
            <a:off x="609676" y="1600101"/>
            <a:ext cx="10972649" cy="452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8530" tIns="64265" rIns="128530" bIns="64265"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76" y="6356746"/>
            <a:ext cx="2845151" cy="365780"/>
          </a:xfrm>
          <a:prstGeom prst="rect">
            <a:avLst/>
          </a:prstGeom>
        </p:spPr>
        <p:txBody>
          <a:bodyPr vert="horz" lIns="128530" tIns="64265" rIns="128530" bIns="64265" rtlCol="0" anchor="ctr"/>
          <a:lstStyle>
            <a:lvl1pPr algn="l" fontAlgn="auto">
              <a:spcBef>
                <a:spcPts val="0"/>
              </a:spcBef>
              <a:spcAft>
                <a:spcPts val="0"/>
              </a:spcAft>
              <a:defRPr sz="1707">
                <a:solidFill>
                  <a:schemeClr val="tx1">
                    <a:tint val="75000"/>
                  </a:schemeClr>
                </a:solidFill>
                <a:latin typeface="微软雅黑" panose="020B0503020204020204" pitchFamily="34" charset="-122"/>
                <a:ea typeface="微软雅黑" panose="020B0503020204020204" pitchFamily="34" charset="-122"/>
              </a:defRPr>
            </a:lvl1pPr>
          </a:lstStyle>
          <a:p>
            <a:pPr>
              <a:defRPr/>
            </a:pPr>
            <a:fld id="{ED7E96DE-9E58-4D12-881B-2A55675D2103}" type="datetimeFigureOut">
              <a:rPr lang="zh-CN" altLang="en-US" smtClean="0"/>
              <a:pPr>
                <a:defRPr/>
              </a:pPr>
              <a:t>2024/9/6</a:t>
            </a:fld>
            <a:endParaRPr lang="zh-CN" altLang="en-US" dirty="0"/>
          </a:p>
        </p:txBody>
      </p:sp>
      <p:sp>
        <p:nvSpPr>
          <p:cNvPr id="5" name="页脚占位符 4"/>
          <p:cNvSpPr>
            <a:spLocks noGrp="1"/>
          </p:cNvSpPr>
          <p:nvPr>
            <p:ph type="ftr" sz="quarter" idx="3"/>
          </p:nvPr>
        </p:nvSpPr>
        <p:spPr>
          <a:xfrm>
            <a:off x="4165362" y="6356746"/>
            <a:ext cx="3861276" cy="365780"/>
          </a:xfrm>
          <a:prstGeom prst="rect">
            <a:avLst/>
          </a:prstGeom>
        </p:spPr>
        <p:txBody>
          <a:bodyPr vert="horz" lIns="128530" tIns="64265" rIns="128530" bIns="64265" rtlCol="0" anchor="ctr"/>
          <a:lstStyle>
            <a:lvl1pPr algn="ctr" fontAlgn="auto">
              <a:spcBef>
                <a:spcPts val="0"/>
              </a:spcBef>
              <a:spcAft>
                <a:spcPts val="0"/>
              </a:spcAft>
              <a:defRPr sz="1707">
                <a:solidFill>
                  <a:schemeClr val="tx1">
                    <a:tint val="75000"/>
                  </a:schemeClr>
                </a:solidFill>
                <a:latin typeface="微软雅黑" panose="020B0503020204020204" pitchFamily="34" charset="-122"/>
                <a:ea typeface="微软雅黑" panose="020B0503020204020204" pitchFamily="34" charset="-122"/>
              </a:defRPr>
            </a:lvl1pPr>
          </a:lstStyle>
          <a:p>
            <a:pPr>
              <a:defRPr/>
            </a:pPr>
            <a:endParaRPr lang="zh-CN" altLang="en-US" dirty="0"/>
          </a:p>
        </p:txBody>
      </p:sp>
      <p:sp>
        <p:nvSpPr>
          <p:cNvPr id="6" name="灯片编号占位符 5"/>
          <p:cNvSpPr>
            <a:spLocks noGrp="1"/>
          </p:cNvSpPr>
          <p:nvPr>
            <p:ph type="sldNum" sz="quarter" idx="4"/>
          </p:nvPr>
        </p:nvSpPr>
        <p:spPr>
          <a:xfrm>
            <a:off x="8737174" y="6356746"/>
            <a:ext cx="2845151" cy="365780"/>
          </a:xfrm>
          <a:prstGeom prst="rect">
            <a:avLst/>
          </a:prstGeom>
        </p:spPr>
        <p:txBody>
          <a:bodyPr vert="horz" wrap="square" lIns="128530" tIns="64265" rIns="128530" bIns="64265" numCol="1" anchor="ctr" anchorCtr="0" compatLnSpc="1">
            <a:prstTxWarp prst="textNoShape">
              <a:avLst/>
            </a:prstTxWarp>
          </a:bodyPr>
          <a:lstStyle>
            <a:lvl1pPr algn="r">
              <a:defRPr>
                <a:solidFill>
                  <a:srgbClr val="898989"/>
                </a:solidFill>
                <a:latin typeface="Franklin Gothic Book" panose="020B0503020102020204" pitchFamily="34" charset="0"/>
                <a:ea typeface="黑体" panose="02010609060101010101" pitchFamily="49" charset="-122"/>
              </a:defRPr>
            </a:lvl1pPr>
          </a:lstStyle>
          <a:p>
            <a:fld id="{A5620144-0991-4015-A106-087B26C73338}" type="slidenum">
              <a:rPr lang="zh-CN" altLang="en-US"/>
              <a:pPr/>
              <a:t>‹#›</a:t>
            </a:fld>
            <a:endParaRPr lang="zh-CN" altLang="en-US"/>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 y="653"/>
            <a:ext cx="12190518" cy="6856695"/>
          </a:xfrm>
          <a:prstGeom prst="rect">
            <a:avLst/>
          </a:prstGeom>
        </p:spPr>
      </p:pic>
    </p:spTree>
    <p:extLst>
      <p:ext uri="{BB962C8B-B14F-4D97-AF65-F5344CB8AC3E}">
        <p14:creationId xmlns:p14="http://schemas.microsoft.com/office/powerpoint/2010/main" val="2228451338"/>
      </p:ext>
    </p:extLst>
  </p:cSld>
  <p:clrMap bg1="lt1" tx1="dk1" bg2="lt2" tx2="dk2" accent1="accent1" accent2="accent2" accent3="accent3" accent4="accent4" accent5="accent5" accent6="accent6" hlink="hlink" folHlink="folHlink"/>
  <p:sldLayoutIdLst>
    <p:sldLayoutId id="2147483661" r:id="rId1"/>
  </p:sldLayoutIdLst>
  <p:txStyles>
    <p:titleStyle>
      <a:lvl1pPr algn="ctr" rtl="0" eaLnBrk="0" fontAlgn="base" hangingPunct="0">
        <a:spcBef>
          <a:spcPct val="0"/>
        </a:spcBef>
        <a:spcAft>
          <a:spcPct val="0"/>
        </a:spcAft>
        <a:defRPr sz="5879" kern="1200">
          <a:solidFill>
            <a:schemeClr val="tx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5879">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5879">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5879">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5879">
          <a:solidFill>
            <a:schemeClr val="tx1"/>
          </a:solidFill>
          <a:latin typeface="Franklin Gothic Medium" pitchFamily="34" charset="0"/>
          <a:ea typeface="微软雅黑" pitchFamily="34" charset="-122"/>
        </a:defRPr>
      </a:lvl5pPr>
      <a:lvl6pPr marL="609366" algn="ctr" rtl="0" fontAlgn="base">
        <a:spcBef>
          <a:spcPct val="0"/>
        </a:spcBef>
        <a:spcAft>
          <a:spcPct val="0"/>
        </a:spcAft>
        <a:defRPr sz="5879">
          <a:solidFill>
            <a:schemeClr val="tx1"/>
          </a:solidFill>
          <a:latin typeface="Calibri" pitchFamily="34" charset="0"/>
          <a:ea typeface="宋体" charset="-122"/>
        </a:defRPr>
      </a:lvl6pPr>
      <a:lvl7pPr marL="1218730" algn="ctr" rtl="0" fontAlgn="base">
        <a:spcBef>
          <a:spcPct val="0"/>
        </a:spcBef>
        <a:spcAft>
          <a:spcPct val="0"/>
        </a:spcAft>
        <a:defRPr sz="5879">
          <a:solidFill>
            <a:schemeClr val="tx1"/>
          </a:solidFill>
          <a:latin typeface="Calibri" pitchFamily="34" charset="0"/>
          <a:ea typeface="宋体" charset="-122"/>
        </a:defRPr>
      </a:lvl7pPr>
      <a:lvl8pPr marL="1828095" algn="ctr" rtl="0" fontAlgn="base">
        <a:spcBef>
          <a:spcPct val="0"/>
        </a:spcBef>
        <a:spcAft>
          <a:spcPct val="0"/>
        </a:spcAft>
        <a:defRPr sz="5879">
          <a:solidFill>
            <a:schemeClr val="tx1"/>
          </a:solidFill>
          <a:latin typeface="Calibri" pitchFamily="34" charset="0"/>
          <a:ea typeface="宋体" charset="-122"/>
        </a:defRPr>
      </a:lvl8pPr>
      <a:lvl9pPr marL="2437463" algn="ctr" rtl="0" fontAlgn="base">
        <a:spcBef>
          <a:spcPct val="0"/>
        </a:spcBef>
        <a:spcAft>
          <a:spcPct val="0"/>
        </a:spcAft>
        <a:defRPr sz="5879">
          <a:solidFill>
            <a:schemeClr val="tx1"/>
          </a:solidFill>
          <a:latin typeface="Calibri" pitchFamily="34" charset="0"/>
          <a:ea typeface="宋体" charset="-122"/>
        </a:defRPr>
      </a:lvl9pPr>
    </p:titleStyle>
    <p:bodyStyle>
      <a:lvl1pPr marL="454591" indent="-454591" algn="l" rtl="0" eaLnBrk="0" fontAlgn="base" hangingPunct="0">
        <a:spcBef>
          <a:spcPct val="20000"/>
        </a:spcBef>
        <a:spcAft>
          <a:spcPct val="0"/>
        </a:spcAft>
        <a:buFont typeface="Arial" panose="020B0604020202020204" pitchFamily="34" charset="0"/>
        <a:buChar char="•"/>
        <a:defRPr sz="4267" kern="1200">
          <a:solidFill>
            <a:schemeClr val="tx1"/>
          </a:solidFill>
          <a:latin typeface="微软雅黑" panose="020B0503020204020204" pitchFamily="34" charset="-122"/>
          <a:ea typeface="微软雅黑" panose="020B0503020204020204" pitchFamily="34" charset="-122"/>
          <a:cs typeface="+mn-cs"/>
        </a:defRPr>
      </a:lvl1pPr>
      <a:lvl2pPr marL="987455" indent="-379327" algn="l" rtl="0" eaLnBrk="0" fontAlgn="base" hangingPunct="0">
        <a:spcBef>
          <a:spcPct val="20000"/>
        </a:spcBef>
        <a:spcAft>
          <a:spcPct val="0"/>
        </a:spcAft>
        <a:buFont typeface="Arial" panose="020B0604020202020204" pitchFamily="34" charset="0"/>
        <a:buChar char="–"/>
        <a:defRPr sz="3793" kern="1200">
          <a:solidFill>
            <a:schemeClr val="tx1"/>
          </a:solidFill>
          <a:latin typeface="微软雅黑" panose="020B0503020204020204" pitchFamily="34" charset="-122"/>
          <a:ea typeface="微软雅黑" panose="020B0503020204020204" pitchFamily="34" charset="-122"/>
          <a:cs typeface="+mn-cs"/>
        </a:defRPr>
      </a:lvl2pPr>
      <a:lvl3pPr marL="1521826" indent="-302559" algn="l" rtl="0" eaLnBrk="0" fontAlgn="base" hangingPunct="0">
        <a:spcBef>
          <a:spcPct val="20000"/>
        </a:spcBef>
        <a:spcAft>
          <a:spcPct val="0"/>
        </a:spcAft>
        <a:buFont typeface="Arial" panose="020B0604020202020204" pitchFamily="34" charset="0"/>
        <a:buChar char="•"/>
        <a:defRPr sz="3224" kern="1200">
          <a:solidFill>
            <a:schemeClr val="tx1"/>
          </a:solidFill>
          <a:latin typeface="微软雅黑" panose="020B0503020204020204" pitchFamily="34" charset="-122"/>
          <a:ea typeface="微软雅黑" panose="020B0503020204020204" pitchFamily="34" charset="-122"/>
          <a:cs typeface="+mn-cs"/>
        </a:defRPr>
      </a:lvl3pPr>
      <a:lvl4pPr marL="2131459" indent="-302559" algn="l" rtl="0" eaLnBrk="0" fontAlgn="base" hangingPunct="0">
        <a:spcBef>
          <a:spcPct val="20000"/>
        </a:spcBef>
        <a:spcAft>
          <a:spcPct val="0"/>
        </a:spcAft>
        <a:buFont typeface="Arial" panose="020B0604020202020204" pitchFamily="34" charset="0"/>
        <a:buChar char="–"/>
        <a:defRPr sz="2655" kern="1200">
          <a:solidFill>
            <a:schemeClr val="tx1"/>
          </a:solidFill>
          <a:latin typeface="微软雅黑" panose="020B0503020204020204" pitchFamily="34" charset="-122"/>
          <a:ea typeface="微软雅黑" panose="020B0503020204020204" pitchFamily="34" charset="-122"/>
          <a:cs typeface="+mn-cs"/>
        </a:defRPr>
      </a:lvl4pPr>
      <a:lvl5pPr marL="2741093" indent="-302559" algn="l" rtl="0" eaLnBrk="0" fontAlgn="base" hangingPunct="0">
        <a:spcBef>
          <a:spcPct val="20000"/>
        </a:spcBef>
        <a:spcAft>
          <a:spcPct val="0"/>
        </a:spcAft>
        <a:buFont typeface="Arial" panose="020B0604020202020204" pitchFamily="34" charset="0"/>
        <a:buChar char="»"/>
        <a:defRPr sz="2655" kern="1200">
          <a:solidFill>
            <a:schemeClr val="tx1"/>
          </a:solidFill>
          <a:latin typeface="微软雅黑" panose="020B0503020204020204" pitchFamily="34" charset="-122"/>
          <a:ea typeface="微软雅黑" panose="020B0503020204020204" pitchFamily="34" charset="-122"/>
          <a:cs typeface="+mn-cs"/>
        </a:defRPr>
      </a:lvl5pPr>
      <a:lvl6pPr marL="3351511" indent="-304682" algn="l" defTabSz="1218730" rtl="0" eaLnBrk="1" latinLnBrk="0" hangingPunct="1">
        <a:spcBef>
          <a:spcPct val="20000"/>
        </a:spcBef>
        <a:buFont typeface="Arial" pitchFamily="34" charset="0"/>
        <a:buChar char="•"/>
        <a:defRPr sz="2655" kern="1200">
          <a:solidFill>
            <a:schemeClr val="tx1"/>
          </a:solidFill>
          <a:latin typeface="+mn-lt"/>
          <a:ea typeface="+mn-ea"/>
          <a:cs typeface="+mn-cs"/>
        </a:defRPr>
      </a:lvl6pPr>
      <a:lvl7pPr marL="3960876" indent="-304682" algn="l" defTabSz="1218730" rtl="0" eaLnBrk="1" latinLnBrk="0" hangingPunct="1">
        <a:spcBef>
          <a:spcPct val="20000"/>
        </a:spcBef>
        <a:buFont typeface="Arial" pitchFamily="34" charset="0"/>
        <a:buChar char="•"/>
        <a:defRPr sz="2655" kern="1200">
          <a:solidFill>
            <a:schemeClr val="tx1"/>
          </a:solidFill>
          <a:latin typeface="+mn-lt"/>
          <a:ea typeface="+mn-ea"/>
          <a:cs typeface="+mn-cs"/>
        </a:defRPr>
      </a:lvl7pPr>
      <a:lvl8pPr marL="4570240" indent="-304682" algn="l" defTabSz="1218730" rtl="0" eaLnBrk="1" latinLnBrk="0" hangingPunct="1">
        <a:spcBef>
          <a:spcPct val="20000"/>
        </a:spcBef>
        <a:buFont typeface="Arial" pitchFamily="34" charset="0"/>
        <a:buChar char="•"/>
        <a:defRPr sz="2655" kern="1200">
          <a:solidFill>
            <a:schemeClr val="tx1"/>
          </a:solidFill>
          <a:latin typeface="+mn-lt"/>
          <a:ea typeface="+mn-ea"/>
          <a:cs typeface="+mn-cs"/>
        </a:defRPr>
      </a:lvl8pPr>
      <a:lvl9pPr marL="5179606" indent="-304682" algn="l" defTabSz="1218730" rtl="0" eaLnBrk="1" latinLnBrk="0" hangingPunct="1">
        <a:spcBef>
          <a:spcPct val="20000"/>
        </a:spcBef>
        <a:buFont typeface="Arial" pitchFamily="34" charset="0"/>
        <a:buChar char="•"/>
        <a:defRPr sz="2655" kern="1200">
          <a:solidFill>
            <a:schemeClr val="tx1"/>
          </a:solidFill>
          <a:latin typeface="+mn-lt"/>
          <a:ea typeface="+mn-ea"/>
          <a:cs typeface="+mn-cs"/>
        </a:defRPr>
      </a:lvl9pPr>
    </p:bodyStyle>
    <p:otherStyle>
      <a:defPPr>
        <a:defRPr lang="zh-CN"/>
      </a:defPPr>
      <a:lvl1pPr marL="0" algn="l" defTabSz="1218730" rtl="0" eaLnBrk="1" latinLnBrk="0" hangingPunct="1">
        <a:defRPr sz="2371" kern="1200">
          <a:solidFill>
            <a:schemeClr val="tx1"/>
          </a:solidFill>
          <a:latin typeface="+mn-lt"/>
          <a:ea typeface="+mn-ea"/>
          <a:cs typeface="+mn-cs"/>
        </a:defRPr>
      </a:lvl1pPr>
      <a:lvl2pPr marL="609366" algn="l" defTabSz="1218730" rtl="0" eaLnBrk="1" latinLnBrk="0" hangingPunct="1">
        <a:defRPr sz="2371" kern="1200">
          <a:solidFill>
            <a:schemeClr val="tx1"/>
          </a:solidFill>
          <a:latin typeface="+mn-lt"/>
          <a:ea typeface="+mn-ea"/>
          <a:cs typeface="+mn-cs"/>
        </a:defRPr>
      </a:lvl2pPr>
      <a:lvl3pPr marL="1218730" algn="l" defTabSz="1218730" rtl="0" eaLnBrk="1" latinLnBrk="0" hangingPunct="1">
        <a:defRPr sz="2371" kern="1200">
          <a:solidFill>
            <a:schemeClr val="tx1"/>
          </a:solidFill>
          <a:latin typeface="+mn-lt"/>
          <a:ea typeface="+mn-ea"/>
          <a:cs typeface="+mn-cs"/>
        </a:defRPr>
      </a:lvl3pPr>
      <a:lvl4pPr marL="1828095" algn="l" defTabSz="1218730" rtl="0" eaLnBrk="1" latinLnBrk="0" hangingPunct="1">
        <a:defRPr sz="2371" kern="1200">
          <a:solidFill>
            <a:schemeClr val="tx1"/>
          </a:solidFill>
          <a:latin typeface="+mn-lt"/>
          <a:ea typeface="+mn-ea"/>
          <a:cs typeface="+mn-cs"/>
        </a:defRPr>
      </a:lvl4pPr>
      <a:lvl5pPr marL="2437463" algn="l" defTabSz="1218730" rtl="0" eaLnBrk="1" latinLnBrk="0" hangingPunct="1">
        <a:defRPr sz="2371" kern="1200">
          <a:solidFill>
            <a:schemeClr val="tx1"/>
          </a:solidFill>
          <a:latin typeface="+mn-lt"/>
          <a:ea typeface="+mn-ea"/>
          <a:cs typeface="+mn-cs"/>
        </a:defRPr>
      </a:lvl5pPr>
      <a:lvl6pPr marL="3046827" algn="l" defTabSz="1218730" rtl="0" eaLnBrk="1" latinLnBrk="0" hangingPunct="1">
        <a:defRPr sz="2371" kern="1200">
          <a:solidFill>
            <a:schemeClr val="tx1"/>
          </a:solidFill>
          <a:latin typeface="+mn-lt"/>
          <a:ea typeface="+mn-ea"/>
          <a:cs typeface="+mn-cs"/>
        </a:defRPr>
      </a:lvl6pPr>
      <a:lvl7pPr marL="3656193" algn="l" defTabSz="1218730" rtl="0" eaLnBrk="1" latinLnBrk="0" hangingPunct="1">
        <a:defRPr sz="2371" kern="1200">
          <a:solidFill>
            <a:schemeClr val="tx1"/>
          </a:solidFill>
          <a:latin typeface="+mn-lt"/>
          <a:ea typeface="+mn-ea"/>
          <a:cs typeface="+mn-cs"/>
        </a:defRPr>
      </a:lvl7pPr>
      <a:lvl8pPr marL="4265558" algn="l" defTabSz="1218730" rtl="0" eaLnBrk="1" latinLnBrk="0" hangingPunct="1">
        <a:defRPr sz="2371" kern="1200">
          <a:solidFill>
            <a:schemeClr val="tx1"/>
          </a:solidFill>
          <a:latin typeface="+mn-lt"/>
          <a:ea typeface="+mn-ea"/>
          <a:cs typeface="+mn-cs"/>
        </a:defRPr>
      </a:lvl8pPr>
      <a:lvl9pPr marL="4874924" algn="l" defTabSz="1218730" rtl="0" eaLnBrk="1" latinLnBrk="0" hangingPunct="1">
        <a:defRPr sz="237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492" y="365780"/>
            <a:ext cx="10515016" cy="132463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492" y="1825890"/>
            <a:ext cx="10515016" cy="435172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493" y="6356747"/>
            <a:ext cx="2742786" cy="364275"/>
          </a:xfrm>
          <a:prstGeom prst="rect">
            <a:avLst/>
          </a:prstGeom>
        </p:spPr>
        <p:txBody>
          <a:bodyPr vert="horz" lIns="91440" tIns="45720" rIns="91440" bIns="45720" rtlCol="0" anchor="ctr"/>
          <a:lstStyle>
            <a:lvl1pPr algn="l">
              <a:defRPr sz="1138">
                <a:solidFill>
                  <a:schemeClr val="tx1">
                    <a:tint val="75000"/>
                  </a:schemeClr>
                </a:solidFill>
              </a:defRPr>
            </a:lvl1pPr>
          </a:lstStyle>
          <a:p>
            <a:fld id="{3BED4874-415F-4462-8CBD-90FA9588F106}" type="datetimeFigureOut">
              <a:rPr lang="zh-CN" altLang="en-US" smtClean="0"/>
              <a:t>2024/9/6</a:t>
            </a:fld>
            <a:endParaRPr lang="zh-CN" altLang="en-US"/>
          </a:p>
        </p:txBody>
      </p:sp>
      <p:sp>
        <p:nvSpPr>
          <p:cNvPr id="5" name="页脚占位符 4"/>
          <p:cNvSpPr>
            <a:spLocks noGrp="1"/>
          </p:cNvSpPr>
          <p:nvPr>
            <p:ph type="ftr" sz="quarter" idx="3"/>
          </p:nvPr>
        </p:nvSpPr>
        <p:spPr>
          <a:xfrm>
            <a:off x="4038911" y="6356747"/>
            <a:ext cx="4114178" cy="364275"/>
          </a:xfrm>
          <a:prstGeom prst="rect">
            <a:avLst/>
          </a:prstGeom>
        </p:spPr>
        <p:txBody>
          <a:bodyPr vert="horz" lIns="91440" tIns="45720" rIns="91440" bIns="45720" rtlCol="0" anchor="ctr"/>
          <a:lstStyle>
            <a:lvl1pPr algn="ctr">
              <a:defRPr sz="1138">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722" y="6356747"/>
            <a:ext cx="2742786" cy="364275"/>
          </a:xfrm>
          <a:prstGeom prst="rect">
            <a:avLst/>
          </a:prstGeom>
        </p:spPr>
        <p:txBody>
          <a:bodyPr vert="horz" lIns="91440" tIns="45720" rIns="91440" bIns="45720" rtlCol="0" anchor="ctr"/>
          <a:lstStyle>
            <a:lvl1pPr algn="r">
              <a:defRPr sz="1138">
                <a:solidFill>
                  <a:schemeClr val="tx1">
                    <a:tint val="75000"/>
                  </a:schemeClr>
                </a:solidFill>
              </a:defRPr>
            </a:lvl1pPr>
          </a:lstStyle>
          <a:p>
            <a:fld id="{8C92ADDF-ABC6-4EEC-846D-A1AE2D410679}" type="slidenum">
              <a:rPr lang="zh-CN" altLang="en-US" smtClean="0"/>
              <a:t>‹#›</a:t>
            </a:fld>
            <a:endParaRPr lang="zh-CN" altLang="en-US"/>
          </a:p>
        </p:txBody>
      </p:sp>
    </p:spTree>
    <p:extLst>
      <p:ext uri="{BB962C8B-B14F-4D97-AF65-F5344CB8AC3E}">
        <p14:creationId xmlns:p14="http://schemas.microsoft.com/office/powerpoint/2010/main" val="488644765"/>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867034" rtl="0" eaLnBrk="1" latinLnBrk="0" hangingPunct="1">
        <a:lnSpc>
          <a:spcPct val="90000"/>
        </a:lnSpc>
        <a:spcBef>
          <a:spcPct val="0"/>
        </a:spcBef>
        <a:buNone/>
        <a:defRPr sz="4172" kern="1200">
          <a:solidFill>
            <a:schemeClr val="tx1"/>
          </a:solidFill>
          <a:latin typeface="+mj-lt"/>
          <a:ea typeface="+mj-ea"/>
          <a:cs typeface="+mj-cs"/>
        </a:defRPr>
      </a:lvl1pPr>
    </p:titleStyle>
    <p:bodyStyle>
      <a:lvl1pPr marL="216759" indent="-216759" algn="l" defTabSz="867034" rtl="0" eaLnBrk="1" latinLnBrk="0" hangingPunct="1">
        <a:lnSpc>
          <a:spcPct val="90000"/>
        </a:lnSpc>
        <a:spcBef>
          <a:spcPts val="948"/>
        </a:spcBef>
        <a:buFont typeface="Arial" panose="020B0604020202020204" pitchFamily="34" charset="0"/>
        <a:buChar char="•"/>
        <a:defRPr sz="2655" kern="1200">
          <a:solidFill>
            <a:schemeClr val="tx1"/>
          </a:solidFill>
          <a:latin typeface="+mn-lt"/>
          <a:ea typeface="+mn-ea"/>
          <a:cs typeface="+mn-cs"/>
        </a:defRPr>
      </a:lvl1pPr>
      <a:lvl2pPr marL="650276" indent="-216759" algn="l" defTabSz="867034" rtl="0" eaLnBrk="1" latinLnBrk="0" hangingPunct="1">
        <a:lnSpc>
          <a:spcPct val="90000"/>
        </a:lnSpc>
        <a:spcBef>
          <a:spcPts val="474"/>
        </a:spcBef>
        <a:buFont typeface="Arial" panose="020B0604020202020204" pitchFamily="34" charset="0"/>
        <a:buChar char="•"/>
        <a:defRPr sz="2276" kern="1200">
          <a:solidFill>
            <a:schemeClr val="tx1"/>
          </a:solidFill>
          <a:latin typeface="+mn-lt"/>
          <a:ea typeface="+mn-ea"/>
          <a:cs typeface="+mn-cs"/>
        </a:defRPr>
      </a:lvl2pPr>
      <a:lvl3pPr marL="1083793" indent="-216759" algn="l" defTabSz="867034" rtl="0" eaLnBrk="1" latinLnBrk="0" hangingPunct="1">
        <a:lnSpc>
          <a:spcPct val="90000"/>
        </a:lnSpc>
        <a:spcBef>
          <a:spcPts val="474"/>
        </a:spcBef>
        <a:buFont typeface="Arial" panose="020B0604020202020204" pitchFamily="34" charset="0"/>
        <a:buChar char="•"/>
        <a:defRPr sz="1896" kern="1200">
          <a:solidFill>
            <a:schemeClr val="tx1"/>
          </a:solidFill>
          <a:latin typeface="+mn-lt"/>
          <a:ea typeface="+mn-ea"/>
          <a:cs typeface="+mn-cs"/>
        </a:defRPr>
      </a:lvl3pPr>
      <a:lvl4pPr marL="1517310"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4pPr>
      <a:lvl5pPr marL="1950827"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5pPr>
      <a:lvl6pPr marL="2384344"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6pPr>
      <a:lvl7pPr marL="2817861"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7pPr>
      <a:lvl8pPr marL="3251378"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8pPr>
      <a:lvl9pPr marL="3684895" indent="-216759" algn="l" defTabSz="867034" rtl="0" eaLnBrk="1" latinLnBrk="0" hangingPunct="1">
        <a:lnSpc>
          <a:spcPct val="90000"/>
        </a:lnSpc>
        <a:spcBef>
          <a:spcPts val="474"/>
        </a:spcBef>
        <a:buFont typeface="Arial" panose="020B0604020202020204" pitchFamily="34" charset="0"/>
        <a:buChar char="•"/>
        <a:defRPr sz="1707" kern="1200">
          <a:solidFill>
            <a:schemeClr val="tx1"/>
          </a:solidFill>
          <a:latin typeface="+mn-lt"/>
          <a:ea typeface="+mn-ea"/>
          <a:cs typeface="+mn-cs"/>
        </a:defRPr>
      </a:lvl9pPr>
    </p:bodyStyle>
    <p:otherStyle>
      <a:defPPr>
        <a:defRPr lang="zh-CN"/>
      </a:defPPr>
      <a:lvl1pPr marL="0" algn="l" defTabSz="867034" rtl="0" eaLnBrk="1" latinLnBrk="0" hangingPunct="1">
        <a:defRPr sz="1707" kern="1200">
          <a:solidFill>
            <a:schemeClr val="tx1"/>
          </a:solidFill>
          <a:latin typeface="+mn-lt"/>
          <a:ea typeface="+mn-ea"/>
          <a:cs typeface="+mn-cs"/>
        </a:defRPr>
      </a:lvl1pPr>
      <a:lvl2pPr marL="433517" algn="l" defTabSz="867034" rtl="0" eaLnBrk="1" latinLnBrk="0" hangingPunct="1">
        <a:defRPr sz="1707" kern="1200">
          <a:solidFill>
            <a:schemeClr val="tx1"/>
          </a:solidFill>
          <a:latin typeface="+mn-lt"/>
          <a:ea typeface="+mn-ea"/>
          <a:cs typeface="+mn-cs"/>
        </a:defRPr>
      </a:lvl2pPr>
      <a:lvl3pPr marL="867034" algn="l" defTabSz="867034" rtl="0" eaLnBrk="1" latinLnBrk="0" hangingPunct="1">
        <a:defRPr sz="1707" kern="1200">
          <a:solidFill>
            <a:schemeClr val="tx1"/>
          </a:solidFill>
          <a:latin typeface="+mn-lt"/>
          <a:ea typeface="+mn-ea"/>
          <a:cs typeface="+mn-cs"/>
        </a:defRPr>
      </a:lvl3pPr>
      <a:lvl4pPr marL="1300551" algn="l" defTabSz="867034" rtl="0" eaLnBrk="1" latinLnBrk="0" hangingPunct="1">
        <a:defRPr sz="1707" kern="1200">
          <a:solidFill>
            <a:schemeClr val="tx1"/>
          </a:solidFill>
          <a:latin typeface="+mn-lt"/>
          <a:ea typeface="+mn-ea"/>
          <a:cs typeface="+mn-cs"/>
        </a:defRPr>
      </a:lvl4pPr>
      <a:lvl5pPr marL="1734068" algn="l" defTabSz="867034" rtl="0" eaLnBrk="1" latinLnBrk="0" hangingPunct="1">
        <a:defRPr sz="1707" kern="1200">
          <a:solidFill>
            <a:schemeClr val="tx1"/>
          </a:solidFill>
          <a:latin typeface="+mn-lt"/>
          <a:ea typeface="+mn-ea"/>
          <a:cs typeface="+mn-cs"/>
        </a:defRPr>
      </a:lvl5pPr>
      <a:lvl6pPr marL="2167585" algn="l" defTabSz="867034" rtl="0" eaLnBrk="1" latinLnBrk="0" hangingPunct="1">
        <a:defRPr sz="1707" kern="1200">
          <a:solidFill>
            <a:schemeClr val="tx1"/>
          </a:solidFill>
          <a:latin typeface="+mn-lt"/>
          <a:ea typeface="+mn-ea"/>
          <a:cs typeface="+mn-cs"/>
        </a:defRPr>
      </a:lvl6pPr>
      <a:lvl7pPr marL="2601102" algn="l" defTabSz="867034" rtl="0" eaLnBrk="1" latinLnBrk="0" hangingPunct="1">
        <a:defRPr sz="1707" kern="1200">
          <a:solidFill>
            <a:schemeClr val="tx1"/>
          </a:solidFill>
          <a:latin typeface="+mn-lt"/>
          <a:ea typeface="+mn-ea"/>
          <a:cs typeface="+mn-cs"/>
        </a:defRPr>
      </a:lvl7pPr>
      <a:lvl8pPr marL="3034619" algn="l" defTabSz="867034" rtl="0" eaLnBrk="1" latinLnBrk="0" hangingPunct="1">
        <a:defRPr sz="1707" kern="1200">
          <a:solidFill>
            <a:schemeClr val="tx1"/>
          </a:solidFill>
          <a:latin typeface="+mn-lt"/>
          <a:ea typeface="+mn-ea"/>
          <a:cs typeface="+mn-cs"/>
        </a:defRPr>
      </a:lvl8pPr>
      <a:lvl9pPr marL="3468136" algn="l" defTabSz="867034" rtl="0" eaLnBrk="1" latinLnBrk="0" hangingPunct="1">
        <a:defRPr sz="17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5"/>
          <p:cNvSpPr txBox="1"/>
          <p:nvPr/>
        </p:nvSpPr>
        <p:spPr>
          <a:xfrm>
            <a:off x="1973434" y="2459504"/>
            <a:ext cx="8563530" cy="2585323"/>
          </a:xfrm>
          <a:prstGeom prst="rect">
            <a:avLst/>
          </a:prstGeom>
          <a:noFill/>
        </p:spPr>
        <p:txBody>
          <a:bodyPr wrap="square" rtlCol="0">
            <a:spAutoFit/>
          </a:bodyPr>
          <a:lstStyle/>
          <a:p>
            <a:pPr algn="ctr" defTabSz="867034" fontAlgn="base">
              <a:spcBef>
                <a:spcPct val="0"/>
              </a:spcBef>
              <a:spcAft>
                <a:spcPct val="0"/>
              </a:spcAft>
              <a:defRPr/>
            </a:pPr>
            <a:r>
              <a:rPr lang="zh-CN" altLang="en-US" sz="5400" b="1" cap="all" spc="-142" dirty="0">
                <a:solidFill>
                  <a:srgbClr val="0760A4"/>
                </a:solidFill>
                <a:latin typeface="微软雅黑" panose="020B0503020204020204" pitchFamily="34" charset="-122"/>
                <a:ea typeface="微软雅黑" panose="020B0503020204020204" pitchFamily="34" charset="-122"/>
              </a:rPr>
              <a:t>云南师范大学</a:t>
            </a:r>
            <a:endParaRPr lang="en-US" altLang="zh-CN" sz="5400" b="1" cap="all" spc="-142" dirty="0">
              <a:solidFill>
                <a:srgbClr val="0760A4"/>
              </a:solidFill>
              <a:latin typeface="微软雅黑" panose="020B0503020204020204" pitchFamily="34" charset="-122"/>
              <a:ea typeface="微软雅黑" panose="020B0503020204020204" pitchFamily="34" charset="-122"/>
            </a:endParaRPr>
          </a:p>
          <a:p>
            <a:pPr algn="ctr" defTabSz="867034" fontAlgn="base">
              <a:spcBef>
                <a:spcPct val="0"/>
              </a:spcBef>
              <a:spcAft>
                <a:spcPct val="0"/>
              </a:spcAft>
              <a:defRPr/>
            </a:pPr>
            <a:r>
              <a:rPr lang="zh-CN" altLang="en-US" sz="5400" b="1" cap="all" spc="-142" dirty="0">
                <a:solidFill>
                  <a:srgbClr val="0760A4"/>
                </a:solidFill>
                <a:latin typeface="微软雅黑" panose="020B0503020204020204" pitchFamily="34" charset="-122"/>
                <a:ea typeface="微软雅黑" panose="020B0503020204020204" pitchFamily="34" charset="-122"/>
              </a:rPr>
              <a:t>高性能计算</a:t>
            </a:r>
            <a:r>
              <a:rPr lang="zh-CN" altLang="en-US" sz="5400" b="1" cap="all" spc="-142" dirty="0">
                <a:solidFill>
                  <a:srgbClr val="0760A4"/>
                </a:solidFill>
                <a:latin typeface="微软雅黑" panose="020B0503020204020204" pitchFamily="34" charset="-122"/>
                <a:ea typeface="微软雅黑" panose="020B0503020204020204" pitchFamily="34" charset="-122"/>
                <a:cs typeface="+mj-cs"/>
              </a:rPr>
              <a:t>平台</a:t>
            </a:r>
            <a:endParaRPr lang="en-US" altLang="zh-CN" sz="5400" b="1" cap="all" spc="-142" dirty="0">
              <a:solidFill>
                <a:srgbClr val="0760A4"/>
              </a:solidFill>
              <a:latin typeface="微软雅黑" panose="020B0503020204020204" pitchFamily="34" charset="-122"/>
              <a:ea typeface="微软雅黑" panose="020B0503020204020204" pitchFamily="34" charset="-122"/>
              <a:cs typeface="宋体" pitchFamily="2" charset="-122"/>
            </a:endParaRPr>
          </a:p>
          <a:p>
            <a:pPr algn="ctr" defTabSz="867034" fontAlgn="base">
              <a:spcBef>
                <a:spcPct val="0"/>
              </a:spcBef>
              <a:spcAft>
                <a:spcPct val="0"/>
              </a:spcAft>
              <a:defRPr/>
            </a:pPr>
            <a:r>
              <a:rPr lang="zh-CN" altLang="en-US" sz="5400" b="1" cap="all" spc="-142" dirty="0">
                <a:solidFill>
                  <a:srgbClr val="0760A4"/>
                </a:solidFill>
                <a:latin typeface="微软雅黑" panose="020B0503020204020204" pitchFamily="34" charset="-122"/>
                <a:ea typeface="微软雅黑" panose="020B0503020204020204" pitchFamily="34" charset="-122"/>
                <a:cs typeface="宋体" pitchFamily="2" charset="-122"/>
              </a:rPr>
              <a:t>使用培训</a:t>
            </a:r>
            <a:endParaRPr lang="zh-CN" altLang="en-US" sz="5400" b="1" cap="all" spc="-142" dirty="0">
              <a:solidFill>
                <a:srgbClr val="FF0000"/>
              </a:solidFill>
              <a:latin typeface="微软雅黑" panose="020B0503020204020204" pitchFamily="34" charset="-122"/>
              <a:ea typeface="微软雅黑" panose="020B0503020204020204" pitchFamily="34" charset="-122"/>
              <a:cs typeface="宋体" pitchFamily="2" charset="-122"/>
            </a:endParaRPr>
          </a:p>
        </p:txBody>
      </p:sp>
    </p:spTree>
    <p:extLst>
      <p:ext uri="{BB962C8B-B14F-4D97-AF65-F5344CB8AC3E}">
        <p14:creationId xmlns:p14="http://schemas.microsoft.com/office/powerpoint/2010/main" val="33611142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4707394" y="1417204"/>
            <a:ext cx="7275278" cy="648051"/>
          </a:xfrm>
        </p:spPr>
        <p:txBody>
          <a:bodyPr/>
          <a:lstStyle/>
          <a:p>
            <a:pPr algn="l" fontAlgn="auto">
              <a:spcBef>
                <a:spcPts val="0"/>
              </a:spcBef>
              <a:spcAft>
                <a:spcPts val="0"/>
              </a:spcAft>
              <a:defRPr/>
            </a:pPr>
            <a:r>
              <a:rPr lang="zh-CN" altLang="en-US" sz="3200" b="1" dirty="0">
                <a:solidFill>
                  <a:schemeClr val="tx1">
                    <a:lumMod val="75000"/>
                    <a:lumOff val="25000"/>
                  </a:schemeClr>
                </a:solidFill>
                <a:sym typeface="SF Orson Casual Heavy" panose="00000400000000000000" pitchFamily="2" charset="0"/>
              </a:rPr>
              <a:t>平台</a:t>
            </a: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sym typeface="SF Orson Casual Heavy" panose="00000400000000000000" pitchFamily="2" charset="0"/>
              </a:rPr>
              <a:t>概况</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20" name="组合 19"/>
          <p:cNvGrpSpPr/>
          <p:nvPr/>
        </p:nvGrpSpPr>
        <p:grpSpPr>
          <a:xfrm>
            <a:off x="366207" y="3046859"/>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794836" y="4397809"/>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259182" y="2296759"/>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558341" y="4687123"/>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885624" y="459533"/>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4151621" y="1523230"/>
            <a:ext cx="422664" cy="43600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1</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41" name="对角圆角矩形 40"/>
          <p:cNvSpPr/>
          <p:nvPr/>
        </p:nvSpPr>
        <p:spPr bwMode="auto">
          <a:xfrm>
            <a:off x="4151621" y="2277804"/>
            <a:ext cx="422664" cy="43600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2</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44" name="标题 12"/>
          <p:cNvSpPr txBox="1">
            <a:spLocks/>
          </p:cNvSpPr>
          <p:nvPr/>
        </p:nvSpPr>
        <p:spPr bwMode="auto">
          <a:xfrm>
            <a:off x="4714149" y="4432325"/>
            <a:ext cx="6171230" cy="64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prstTxWarp prst="textNoShape">
              <a:avLst/>
            </a:prstTxWarp>
          </a:bodyPr>
          <a:lstStyle>
            <a:lvl1pPr algn="ctr" rtl="0" eaLnBrk="0" fontAlgn="base" hangingPunct="0">
              <a:spcBef>
                <a:spcPct val="0"/>
              </a:spcBef>
              <a:spcAft>
                <a:spcPct val="0"/>
              </a:spcAft>
              <a:defRPr sz="6200" kern="1200">
                <a:solidFill>
                  <a:schemeClr val="tx1"/>
                </a:solidFill>
                <a:latin typeface="+mj-lt"/>
                <a:ea typeface="+mj-ea"/>
                <a:cs typeface="+mj-cs"/>
              </a:defRPr>
            </a:lvl1pPr>
            <a:lvl2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5pPr>
            <a:lvl6pPr marL="642656" algn="ctr" rtl="0" fontAlgn="base">
              <a:spcBef>
                <a:spcPct val="0"/>
              </a:spcBef>
              <a:spcAft>
                <a:spcPct val="0"/>
              </a:spcAft>
              <a:defRPr sz="6200">
                <a:solidFill>
                  <a:schemeClr val="tx1"/>
                </a:solidFill>
                <a:latin typeface="Calibri" pitchFamily="34" charset="0"/>
                <a:ea typeface="宋体" charset="-122"/>
              </a:defRPr>
            </a:lvl6pPr>
            <a:lvl7pPr marL="1285309" algn="ctr" rtl="0" fontAlgn="base">
              <a:spcBef>
                <a:spcPct val="0"/>
              </a:spcBef>
              <a:spcAft>
                <a:spcPct val="0"/>
              </a:spcAft>
              <a:defRPr sz="6200">
                <a:solidFill>
                  <a:schemeClr val="tx1"/>
                </a:solidFill>
                <a:latin typeface="Calibri" pitchFamily="34" charset="0"/>
                <a:ea typeface="宋体" charset="-122"/>
              </a:defRPr>
            </a:lvl7pPr>
            <a:lvl8pPr marL="1927964" algn="ctr" rtl="0" fontAlgn="base">
              <a:spcBef>
                <a:spcPct val="0"/>
              </a:spcBef>
              <a:spcAft>
                <a:spcPct val="0"/>
              </a:spcAft>
              <a:defRPr sz="6200">
                <a:solidFill>
                  <a:schemeClr val="tx1"/>
                </a:solidFill>
                <a:latin typeface="Calibri" pitchFamily="34" charset="0"/>
                <a:ea typeface="宋体" charset="-122"/>
              </a:defRPr>
            </a:lvl8pPr>
            <a:lvl9pPr marL="2570621" algn="ctr" rtl="0" fontAlgn="base">
              <a:spcBef>
                <a:spcPct val="0"/>
              </a:spcBef>
              <a:spcAft>
                <a:spcPct val="0"/>
              </a:spcAft>
              <a:defRPr sz="6200">
                <a:solidFill>
                  <a:schemeClr val="tx1"/>
                </a:solidFill>
                <a:latin typeface="Calibri" pitchFamily="34" charset="0"/>
                <a:ea typeface="宋体" charset="-122"/>
              </a:defRPr>
            </a:lvl9pPr>
          </a:lstStyle>
          <a:p>
            <a:pPr algn="l" defTabSz="867034" fontAlgn="auto">
              <a:spcBef>
                <a:spcPts val="0"/>
              </a:spcBef>
              <a:spcAft>
                <a:spcPts val="0"/>
              </a:spcAft>
              <a:defRPr/>
            </a:pP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45" name="标题 12"/>
          <p:cNvSpPr txBox="1">
            <a:spLocks/>
          </p:cNvSpPr>
          <p:nvPr/>
        </p:nvSpPr>
        <p:spPr bwMode="auto">
          <a:xfrm>
            <a:off x="4707394" y="2225577"/>
            <a:ext cx="6322303" cy="64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prstTxWarp prst="textNoShape">
              <a:avLst/>
            </a:prstTxWarp>
          </a:bodyPr>
          <a:lstStyle>
            <a:lvl1pPr algn="ctr" rtl="0" eaLnBrk="0" fontAlgn="base" hangingPunct="0">
              <a:spcBef>
                <a:spcPct val="0"/>
              </a:spcBef>
              <a:spcAft>
                <a:spcPct val="0"/>
              </a:spcAft>
              <a:defRPr sz="6200" kern="1200">
                <a:solidFill>
                  <a:schemeClr val="tx1"/>
                </a:solidFill>
                <a:latin typeface="+mj-lt"/>
                <a:ea typeface="+mj-ea"/>
                <a:cs typeface="+mj-cs"/>
              </a:defRPr>
            </a:lvl1pPr>
            <a:lvl2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5pPr>
            <a:lvl6pPr marL="642656" algn="ctr" rtl="0" fontAlgn="base">
              <a:spcBef>
                <a:spcPct val="0"/>
              </a:spcBef>
              <a:spcAft>
                <a:spcPct val="0"/>
              </a:spcAft>
              <a:defRPr sz="6200">
                <a:solidFill>
                  <a:schemeClr val="tx1"/>
                </a:solidFill>
                <a:latin typeface="Calibri" pitchFamily="34" charset="0"/>
                <a:ea typeface="宋体" charset="-122"/>
              </a:defRPr>
            </a:lvl6pPr>
            <a:lvl7pPr marL="1285309" algn="ctr" rtl="0" fontAlgn="base">
              <a:spcBef>
                <a:spcPct val="0"/>
              </a:spcBef>
              <a:spcAft>
                <a:spcPct val="0"/>
              </a:spcAft>
              <a:defRPr sz="6200">
                <a:solidFill>
                  <a:schemeClr val="tx1"/>
                </a:solidFill>
                <a:latin typeface="Calibri" pitchFamily="34" charset="0"/>
                <a:ea typeface="宋体" charset="-122"/>
              </a:defRPr>
            </a:lvl7pPr>
            <a:lvl8pPr marL="1927964" algn="ctr" rtl="0" fontAlgn="base">
              <a:spcBef>
                <a:spcPct val="0"/>
              </a:spcBef>
              <a:spcAft>
                <a:spcPct val="0"/>
              </a:spcAft>
              <a:defRPr sz="6200">
                <a:solidFill>
                  <a:schemeClr val="tx1"/>
                </a:solidFill>
                <a:latin typeface="Calibri" pitchFamily="34" charset="0"/>
                <a:ea typeface="宋体" charset="-122"/>
              </a:defRPr>
            </a:lvl8pPr>
            <a:lvl9pPr marL="2570621" algn="ctr" rtl="0" fontAlgn="base">
              <a:spcBef>
                <a:spcPct val="0"/>
              </a:spcBef>
              <a:spcAft>
                <a:spcPct val="0"/>
              </a:spcAft>
              <a:defRPr sz="6200">
                <a:solidFill>
                  <a:schemeClr val="tx1"/>
                </a:solidFill>
                <a:latin typeface="Calibri" pitchFamily="34" charset="0"/>
                <a:ea typeface="宋体" charset="-122"/>
              </a:defRPr>
            </a:lvl9pPr>
          </a:lstStyle>
          <a:p>
            <a:pPr algn="l" defTabSz="867034" fontAlgn="auto">
              <a:spcBef>
                <a:spcPts val="0"/>
              </a:spcBef>
              <a:spcAft>
                <a:spcPts val="0"/>
              </a:spcAft>
              <a:defRPr/>
            </a:pPr>
            <a:r>
              <a:rPr lang="en-US" altLang="zh-CN" sz="3200" b="1" dirty="0" err="1">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37" name="对角圆角矩形 36"/>
          <p:cNvSpPr/>
          <p:nvPr/>
        </p:nvSpPr>
        <p:spPr bwMode="auto">
          <a:xfrm>
            <a:off x="4151621" y="3786952"/>
            <a:ext cx="422664" cy="43600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4</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48" name="标题 12"/>
          <p:cNvSpPr txBox="1">
            <a:spLocks/>
          </p:cNvSpPr>
          <p:nvPr/>
        </p:nvSpPr>
        <p:spPr bwMode="auto">
          <a:xfrm>
            <a:off x="4714149" y="2928720"/>
            <a:ext cx="4942300" cy="64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prstTxWarp prst="textNoShape">
              <a:avLst/>
            </a:prstTxWarp>
          </a:bodyPr>
          <a:lstStyle>
            <a:lvl1pPr algn="ctr" rtl="0" eaLnBrk="0" fontAlgn="base" hangingPunct="0">
              <a:spcBef>
                <a:spcPct val="0"/>
              </a:spcBef>
              <a:spcAft>
                <a:spcPct val="0"/>
              </a:spcAft>
              <a:defRPr sz="6200" kern="1200">
                <a:solidFill>
                  <a:schemeClr val="tx1"/>
                </a:solidFill>
                <a:latin typeface="+mj-lt"/>
                <a:ea typeface="+mj-ea"/>
                <a:cs typeface="+mj-cs"/>
              </a:defRPr>
            </a:lvl1pPr>
            <a:lvl2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5pPr>
            <a:lvl6pPr marL="642656" algn="ctr" rtl="0" fontAlgn="base">
              <a:spcBef>
                <a:spcPct val="0"/>
              </a:spcBef>
              <a:spcAft>
                <a:spcPct val="0"/>
              </a:spcAft>
              <a:defRPr sz="6200">
                <a:solidFill>
                  <a:schemeClr val="tx1"/>
                </a:solidFill>
                <a:latin typeface="Calibri" pitchFamily="34" charset="0"/>
                <a:ea typeface="宋体" charset="-122"/>
              </a:defRPr>
            </a:lvl6pPr>
            <a:lvl7pPr marL="1285309" algn="ctr" rtl="0" fontAlgn="base">
              <a:spcBef>
                <a:spcPct val="0"/>
              </a:spcBef>
              <a:spcAft>
                <a:spcPct val="0"/>
              </a:spcAft>
              <a:defRPr sz="6200">
                <a:solidFill>
                  <a:schemeClr val="tx1"/>
                </a:solidFill>
                <a:latin typeface="Calibri" pitchFamily="34" charset="0"/>
                <a:ea typeface="宋体" charset="-122"/>
              </a:defRPr>
            </a:lvl7pPr>
            <a:lvl8pPr marL="1927964" algn="ctr" rtl="0" fontAlgn="base">
              <a:spcBef>
                <a:spcPct val="0"/>
              </a:spcBef>
              <a:spcAft>
                <a:spcPct val="0"/>
              </a:spcAft>
              <a:defRPr sz="6200">
                <a:solidFill>
                  <a:schemeClr val="tx1"/>
                </a:solidFill>
                <a:latin typeface="Calibri" pitchFamily="34" charset="0"/>
                <a:ea typeface="宋体" charset="-122"/>
              </a:defRPr>
            </a:lvl8pPr>
            <a:lvl9pPr marL="2570621" algn="ctr" rtl="0" fontAlgn="base">
              <a:spcBef>
                <a:spcPct val="0"/>
              </a:spcBef>
              <a:spcAft>
                <a:spcPct val="0"/>
              </a:spcAft>
              <a:defRPr sz="6200">
                <a:solidFill>
                  <a:schemeClr val="tx1"/>
                </a:solidFill>
                <a:latin typeface="Calibri" pitchFamily="34" charset="0"/>
                <a:ea typeface="宋体" charset="-122"/>
              </a:defRPr>
            </a:lvl9pPr>
          </a:lstStyle>
          <a:p>
            <a:pPr algn="l" defTabSz="867034" fontAlgn="auto">
              <a:spcBef>
                <a:spcPts val="0"/>
              </a:spcBef>
              <a:spcAft>
                <a:spcPts val="0"/>
              </a:spcAft>
              <a:defRPr/>
            </a:pPr>
            <a:r>
              <a:rPr lang="en-US" altLang="zh-CN" sz="3200" b="1" dirty="0" err="1">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使用介绍</a:t>
            </a:r>
            <a:endPar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42" name="对角圆角矩形 41"/>
          <p:cNvSpPr/>
          <p:nvPr/>
        </p:nvSpPr>
        <p:spPr bwMode="auto">
          <a:xfrm>
            <a:off x="4151621" y="4541526"/>
            <a:ext cx="422664" cy="439854"/>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5</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43" name="标题 12"/>
          <p:cNvSpPr txBox="1">
            <a:spLocks/>
          </p:cNvSpPr>
          <p:nvPr/>
        </p:nvSpPr>
        <p:spPr bwMode="auto">
          <a:xfrm>
            <a:off x="4714149" y="3874732"/>
            <a:ext cx="7775486" cy="71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prstTxWarp prst="textNoShape">
              <a:avLst/>
            </a:prstTxWarp>
          </a:bodyPr>
          <a:lstStyle>
            <a:lvl1pPr algn="ctr" rtl="0" eaLnBrk="0" fontAlgn="base" hangingPunct="0">
              <a:spcBef>
                <a:spcPct val="0"/>
              </a:spcBef>
              <a:spcAft>
                <a:spcPct val="0"/>
              </a:spcAft>
              <a:defRPr sz="6200" kern="1200">
                <a:solidFill>
                  <a:schemeClr val="tx1"/>
                </a:solidFill>
                <a:latin typeface="+mj-lt"/>
                <a:ea typeface="+mj-ea"/>
                <a:cs typeface="+mj-cs"/>
              </a:defRPr>
            </a:lvl1pPr>
            <a:lvl2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5pPr>
            <a:lvl6pPr marL="642656" algn="ctr" rtl="0" fontAlgn="base">
              <a:spcBef>
                <a:spcPct val="0"/>
              </a:spcBef>
              <a:spcAft>
                <a:spcPct val="0"/>
              </a:spcAft>
              <a:defRPr sz="6200">
                <a:solidFill>
                  <a:schemeClr val="tx1"/>
                </a:solidFill>
                <a:latin typeface="Calibri" pitchFamily="34" charset="0"/>
                <a:ea typeface="宋体" charset="-122"/>
              </a:defRPr>
            </a:lvl6pPr>
            <a:lvl7pPr marL="1285309" algn="ctr" rtl="0" fontAlgn="base">
              <a:spcBef>
                <a:spcPct val="0"/>
              </a:spcBef>
              <a:spcAft>
                <a:spcPct val="0"/>
              </a:spcAft>
              <a:defRPr sz="6200">
                <a:solidFill>
                  <a:schemeClr val="tx1"/>
                </a:solidFill>
                <a:latin typeface="Calibri" pitchFamily="34" charset="0"/>
                <a:ea typeface="宋体" charset="-122"/>
              </a:defRPr>
            </a:lvl7pPr>
            <a:lvl8pPr marL="1927964" algn="ctr" rtl="0" fontAlgn="base">
              <a:spcBef>
                <a:spcPct val="0"/>
              </a:spcBef>
              <a:spcAft>
                <a:spcPct val="0"/>
              </a:spcAft>
              <a:defRPr sz="6200">
                <a:solidFill>
                  <a:schemeClr val="tx1"/>
                </a:solidFill>
                <a:latin typeface="Calibri" pitchFamily="34" charset="0"/>
                <a:ea typeface="宋体" charset="-122"/>
              </a:defRPr>
            </a:lvl8pPr>
            <a:lvl9pPr marL="2570621" algn="ctr" rtl="0" fontAlgn="base">
              <a:spcBef>
                <a:spcPct val="0"/>
              </a:spcBef>
              <a:spcAft>
                <a:spcPct val="0"/>
              </a:spcAft>
              <a:defRPr sz="6200">
                <a:solidFill>
                  <a:schemeClr val="tx1"/>
                </a:solidFill>
                <a:latin typeface="Calibri" pitchFamily="34" charset="0"/>
                <a:ea typeface="宋体" charset="-122"/>
              </a:defRPr>
            </a:lvl9pPr>
          </a:lstStyle>
          <a:p>
            <a:pPr algn="l" defTabSz="867034" fontAlgn="auto">
              <a:spcBef>
                <a:spcPts val="0"/>
              </a:spcBef>
              <a:spcAft>
                <a:spcPts val="0"/>
              </a:spcAft>
              <a:defRPr/>
            </a:pPr>
            <a:r>
              <a:rPr lang="en-US" altLang="zh-CN" sz="3200" b="1" dirty="0" err="1">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作业调度介绍</a:t>
            </a:r>
            <a:endPar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endParaRPr>
          </a:p>
          <a:p>
            <a:pPr algn="l" defTabSz="867034" fontAlgn="auto">
              <a:spcBef>
                <a:spcPts val="0"/>
              </a:spcBef>
              <a:spcAft>
                <a:spcPts val="0"/>
              </a:spcAft>
              <a:defRPr/>
            </a:pPr>
            <a:endPar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49" name="对角圆角矩形 48"/>
          <p:cNvSpPr/>
          <p:nvPr/>
        </p:nvSpPr>
        <p:spPr bwMode="auto">
          <a:xfrm>
            <a:off x="4151621" y="5299953"/>
            <a:ext cx="422664" cy="436001"/>
          </a:xfrm>
          <a:prstGeom prst="round2DiagRect">
            <a:avLst>
              <a:gd name="adj1" fmla="val 0"/>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6</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46" name="标题 12"/>
          <p:cNvSpPr txBox="1">
            <a:spLocks/>
          </p:cNvSpPr>
          <p:nvPr/>
        </p:nvSpPr>
        <p:spPr bwMode="auto">
          <a:xfrm>
            <a:off x="4707394" y="5182080"/>
            <a:ext cx="5670182" cy="64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prstTxWarp prst="textNoShape">
              <a:avLst/>
            </a:prstTxWarp>
          </a:bodyPr>
          <a:lstStyle>
            <a:lvl1pPr algn="ctr" rtl="0" eaLnBrk="0" fontAlgn="base" hangingPunct="0">
              <a:spcBef>
                <a:spcPct val="0"/>
              </a:spcBef>
              <a:spcAft>
                <a:spcPct val="0"/>
              </a:spcAft>
              <a:defRPr sz="6200" kern="1200">
                <a:solidFill>
                  <a:schemeClr val="tx1"/>
                </a:solidFill>
                <a:latin typeface="+mj-lt"/>
                <a:ea typeface="+mj-ea"/>
                <a:cs typeface="+mj-cs"/>
              </a:defRPr>
            </a:lvl1pPr>
            <a:lvl2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2pPr>
            <a:lvl3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3pPr>
            <a:lvl4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4pPr>
            <a:lvl5pPr algn="ctr" rtl="0" eaLnBrk="0" fontAlgn="base" hangingPunct="0">
              <a:spcBef>
                <a:spcPct val="0"/>
              </a:spcBef>
              <a:spcAft>
                <a:spcPct val="0"/>
              </a:spcAft>
              <a:defRPr sz="6200">
                <a:solidFill>
                  <a:schemeClr val="tx1"/>
                </a:solidFill>
                <a:latin typeface="Franklin Gothic Medium" pitchFamily="34" charset="0"/>
                <a:ea typeface="微软雅黑" pitchFamily="34" charset="-122"/>
              </a:defRPr>
            </a:lvl5pPr>
            <a:lvl6pPr marL="642656" algn="ctr" rtl="0" fontAlgn="base">
              <a:spcBef>
                <a:spcPct val="0"/>
              </a:spcBef>
              <a:spcAft>
                <a:spcPct val="0"/>
              </a:spcAft>
              <a:defRPr sz="6200">
                <a:solidFill>
                  <a:schemeClr val="tx1"/>
                </a:solidFill>
                <a:latin typeface="Calibri" pitchFamily="34" charset="0"/>
                <a:ea typeface="宋体" charset="-122"/>
              </a:defRPr>
            </a:lvl6pPr>
            <a:lvl7pPr marL="1285309" algn="ctr" rtl="0" fontAlgn="base">
              <a:spcBef>
                <a:spcPct val="0"/>
              </a:spcBef>
              <a:spcAft>
                <a:spcPct val="0"/>
              </a:spcAft>
              <a:defRPr sz="6200">
                <a:solidFill>
                  <a:schemeClr val="tx1"/>
                </a:solidFill>
                <a:latin typeface="Calibri" pitchFamily="34" charset="0"/>
                <a:ea typeface="宋体" charset="-122"/>
              </a:defRPr>
            </a:lvl7pPr>
            <a:lvl8pPr marL="1927964" algn="ctr" rtl="0" fontAlgn="base">
              <a:spcBef>
                <a:spcPct val="0"/>
              </a:spcBef>
              <a:spcAft>
                <a:spcPct val="0"/>
              </a:spcAft>
              <a:defRPr sz="6200">
                <a:solidFill>
                  <a:schemeClr val="tx1"/>
                </a:solidFill>
                <a:latin typeface="Calibri" pitchFamily="34" charset="0"/>
                <a:ea typeface="宋体" charset="-122"/>
              </a:defRPr>
            </a:lvl8pPr>
            <a:lvl9pPr marL="2570621" algn="ctr" rtl="0" fontAlgn="base">
              <a:spcBef>
                <a:spcPct val="0"/>
              </a:spcBef>
              <a:spcAft>
                <a:spcPct val="0"/>
              </a:spcAft>
              <a:defRPr sz="6200">
                <a:solidFill>
                  <a:schemeClr val="tx1"/>
                </a:solidFill>
                <a:latin typeface="Calibri" pitchFamily="34" charset="0"/>
                <a:ea typeface="宋体" charset="-122"/>
              </a:defRPr>
            </a:lvl9pPr>
          </a:lstStyle>
          <a:p>
            <a:pPr algn="l" defTabSz="867034" fontAlgn="auto">
              <a:spcBef>
                <a:spcPts val="0"/>
              </a:spcBef>
              <a:spcAft>
                <a:spcPts val="0"/>
              </a:spcAft>
              <a:defRPr/>
            </a:pPr>
            <a:r>
              <a:rPr lang="zh-CN" altLang="en-US"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endParaRPr lang="en-US" altLang="zh-CN" sz="3200" b="1" dirty="0">
              <a:solidFill>
                <a:prstClr val="black">
                  <a:lumMod val="75000"/>
                  <a:lumOff val="25000"/>
                </a:prstClr>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52" name="对角圆角矩形 51"/>
          <p:cNvSpPr/>
          <p:nvPr/>
        </p:nvSpPr>
        <p:spPr bwMode="auto">
          <a:xfrm>
            <a:off x="4151621" y="3032378"/>
            <a:ext cx="422664" cy="43600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spcBef>
                <a:spcPct val="0"/>
              </a:spcBef>
              <a:spcAft>
                <a:spcPct val="0"/>
              </a:spcAft>
            </a:pPr>
            <a:r>
              <a:rPr lang="en-US" altLang="zh-CN"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3</a:t>
            </a:r>
            <a:endParaRPr lang="zh-CN" altLang="en-US" sz="3414"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207914985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5300584" y="3429000"/>
            <a:ext cx="6238347" cy="648051"/>
          </a:xfrm>
        </p:spPr>
        <p:txBody>
          <a:bodyPr/>
          <a:lstStyle/>
          <a:p>
            <a:pPr algn="l" fontAlgn="auto">
              <a:spcBef>
                <a:spcPts val="0"/>
              </a:spcBef>
              <a:spcAft>
                <a:spcPts val="0"/>
              </a:spcAft>
              <a:defRPr/>
            </a:pPr>
            <a:r>
              <a:rPr lang="zh-CN" altLang="en-US" sz="4000" b="1" dirty="0">
                <a:solidFill>
                  <a:schemeClr val="tx1">
                    <a:lumMod val="75000"/>
                    <a:lumOff val="25000"/>
                  </a:schemeClr>
                </a:solidFill>
                <a:sym typeface="SF Orson Casual Heavy" panose="00000400000000000000" pitchFamily="2" charset="0"/>
              </a:rPr>
              <a:t>平台概况</a:t>
            </a:r>
            <a:endParaRPr lang="en-US" altLang="zh-CN" sz="3793" b="1" dirty="0">
              <a:solidFill>
                <a:schemeClr val="tx1">
                  <a:lumMod val="75000"/>
                  <a:lumOff val="25000"/>
                </a:scheme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1</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228821694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1592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5"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集群节点信息及功能</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aphicFrame>
        <p:nvGraphicFramePr>
          <p:cNvPr id="75" name="表格 74"/>
          <p:cNvGraphicFramePr>
            <a:graphicFrameLocks noGrp="1"/>
          </p:cNvGraphicFramePr>
          <p:nvPr>
            <p:extLst>
              <p:ext uri="{D42A27DB-BD31-4B8C-83A1-F6EECF244321}">
                <p14:modId xmlns:p14="http://schemas.microsoft.com/office/powerpoint/2010/main" val="1729342092"/>
              </p:ext>
            </p:extLst>
          </p:nvPr>
        </p:nvGraphicFramePr>
        <p:xfrm>
          <a:off x="2741373" y="1871995"/>
          <a:ext cx="7316100" cy="3843839"/>
        </p:xfrm>
        <a:graphic>
          <a:graphicData uri="http://schemas.openxmlformats.org/drawingml/2006/table">
            <a:tbl>
              <a:tblPr>
                <a:tableStyleId>{5C22544A-7EE6-4342-B048-85BDC9FD1C3A}</a:tableStyleId>
              </a:tblPr>
              <a:tblGrid>
                <a:gridCol w="1647056">
                  <a:extLst>
                    <a:ext uri="{9D8B030D-6E8A-4147-A177-3AD203B41FA5}">
                      <a16:colId xmlns:a16="http://schemas.microsoft.com/office/drawing/2014/main" val="1915347303"/>
                    </a:ext>
                  </a:extLst>
                </a:gridCol>
                <a:gridCol w="2578495">
                  <a:extLst>
                    <a:ext uri="{9D8B030D-6E8A-4147-A177-3AD203B41FA5}">
                      <a16:colId xmlns:a16="http://schemas.microsoft.com/office/drawing/2014/main" val="1722953342"/>
                    </a:ext>
                  </a:extLst>
                </a:gridCol>
                <a:gridCol w="2679243">
                  <a:extLst>
                    <a:ext uri="{9D8B030D-6E8A-4147-A177-3AD203B41FA5}">
                      <a16:colId xmlns:a16="http://schemas.microsoft.com/office/drawing/2014/main" val="316633010"/>
                    </a:ext>
                  </a:extLst>
                </a:gridCol>
                <a:gridCol w="411306">
                  <a:extLst>
                    <a:ext uri="{9D8B030D-6E8A-4147-A177-3AD203B41FA5}">
                      <a16:colId xmlns:a16="http://schemas.microsoft.com/office/drawing/2014/main" val="3353646238"/>
                    </a:ext>
                  </a:extLst>
                </a:gridCol>
              </a:tblGrid>
              <a:tr h="666474">
                <a:tc>
                  <a:txBody>
                    <a:bodyPr/>
                    <a:lstStyle/>
                    <a:p>
                      <a:pPr algn="ctr" fontAlgn="ctr"/>
                      <a:r>
                        <a:rPr lang="zh-CN" altLang="en-US" sz="1800" b="1" u="none" strike="noStrike" dirty="0">
                          <a:solidFill>
                            <a:schemeClr val="bg1"/>
                          </a:solidFill>
                          <a:effectLst/>
                          <a:latin typeface="微软雅黑" panose="020B0503020204020204" pitchFamily="34" charset="-122"/>
                          <a:ea typeface="微软雅黑" panose="020B0503020204020204" pitchFamily="34" charset="-122"/>
                        </a:rPr>
                        <a:t>节点名称</a:t>
                      </a:r>
                      <a:endParaRPr lang="zh-CN" altLang="en-US" sz="18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zh-CN" altLang="en-US" sz="1800" b="1" u="none" strike="noStrike" dirty="0">
                          <a:solidFill>
                            <a:schemeClr val="bg1"/>
                          </a:solidFill>
                          <a:effectLst/>
                          <a:latin typeface="微软雅黑" panose="020B0503020204020204" pitchFamily="34" charset="-122"/>
                          <a:ea typeface="微软雅黑" panose="020B0503020204020204" pitchFamily="34" charset="-122"/>
                        </a:rPr>
                        <a:t>节点命名</a:t>
                      </a:r>
                      <a:endParaRPr lang="zh-CN" altLang="en-US" sz="18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zh-CN" altLang="en-US" sz="1800" b="1" u="none" strike="noStrike" dirty="0">
                          <a:solidFill>
                            <a:schemeClr val="bg1"/>
                          </a:solidFill>
                          <a:effectLst/>
                          <a:latin typeface="微软雅黑" panose="020B0503020204020204" pitchFamily="34" charset="-122"/>
                          <a:ea typeface="微软雅黑" panose="020B0503020204020204" pitchFamily="34" charset="-122"/>
                        </a:rPr>
                        <a:t>节点用途</a:t>
                      </a:r>
                      <a:endParaRPr lang="zh-CN" altLang="en-US" sz="18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zh-CN" altLang="en-US" sz="1800" b="1" u="none" strike="noStrike" dirty="0">
                          <a:solidFill>
                            <a:schemeClr val="bg1"/>
                          </a:solidFill>
                          <a:effectLst/>
                          <a:latin typeface="微软雅黑" panose="020B0503020204020204" pitchFamily="34" charset="-122"/>
                          <a:ea typeface="微软雅黑" panose="020B0503020204020204" pitchFamily="34" charset="-122"/>
                        </a:rPr>
                        <a:t>数量</a:t>
                      </a:r>
                      <a:endParaRPr lang="zh-CN" altLang="en-US" sz="18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133675005"/>
                  </a:ext>
                </a:extLst>
              </a:tr>
              <a:tr h="635473">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管理节点</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mu01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集群调度管理</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949913"/>
                  </a:ext>
                </a:extLst>
              </a:tr>
              <a:tr h="635473">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登录节点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effectLst/>
                          <a:latin typeface="微软雅黑" panose="020B0503020204020204" pitchFamily="34" charset="-122"/>
                          <a:ea typeface="微软雅黑" panose="020B0503020204020204" pitchFamily="34" charset="-122"/>
                        </a:rPr>
                        <a:t>login01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用户登录，作业提交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3220748"/>
                  </a:ext>
                </a:extLst>
              </a:tr>
              <a:tr h="635473">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通用瘦计算节点</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cu01-</a:t>
                      </a:r>
                      <a:r>
                        <a:rPr lang="en-US" altLang="zh-CN" sz="1600" u="none" strike="noStrike" dirty="0">
                          <a:effectLst/>
                          <a:latin typeface="微软雅黑" panose="020B0503020204020204" pitchFamily="34" charset="-122"/>
                          <a:ea typeface="微软雅黑" panose="020B0503020204020204" pitchFamily="34" charset="-122"/>
                        </a:rPr>
                        <a:t>cu23</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CPU</a:t>
                      </a:r>
                      <a:r>
                        <a:rPr lang="zh-CN" altLang="en-US" sz="1600" u="none" strike="noStrike" dirty="0">
                          <a:effectLst/>
                          <a:latin typeface="微软雅黑" panose="020B0503020204020204" pitchFamily="34" charset="-122"/>
                          <a:ea typeface="微软雅黑" panose="020B0503020204020204" pitchFamily="34" charset="-122"/>
                        </a:rPr>
                        <a:t>作业运算</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0870949"/>
                  </a:ext>
                </a:extLst>
              </a:tr>
              <a:tr h="635473">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图形计算节点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gpu01-gpu03</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GPU</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CPU</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作业运算</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1848544"/>
                  </a:ext>
                </a:extLst>
              </a:tr>
              <a:tr h="635473">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胖计算节点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fat01</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单机大内存，多核心任务运算</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0666156"/>
                  </a:ext>
                </a:extLst>
              </a:tr>
            </a:tbl>
          </a:graphicData>
        </a:graphic>
      </p:graphicFrame>
    </p:spTree>
    <p:extLst>
      <p:ext uri="{BB962C8B-B14F-4D97-AF65-F5344CB8AC3E}">
        <p14:creationId xmlns:p14="http://schemas.microsoft.com/office/powerpoint/2010/main" val="365395517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6775">
                  <a:defRPr/>
                </a:pPr>
                <a:r>
                  <a:rPr lang="zh-CN" altLang="en-US" sz="1895"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管理节点</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49" name="对角圆角矩形 48"/>
          <p:cNvSpPr/>
          <p:nvPr/>
        </p:nvSpPr>
        <p:spPr bwMode="auto">
          <a:xfrm>
            <a:off x="977353" y="707359"/>
            <a:ext cx="10895779" cy="2915406"/>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管理节点是集群系统各种管理措施的控制节点</a:t>
            </a: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管理网络的控制点，监控集群中各个节点网络的运行状况。集群的调度管理软件也运行在该节点上</a:t>
            </a: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管理节点是计算网络中的关键点，如果它失效，所有的计算节点都会失效（已提交的作业很有可能会）</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a:p>
            <a:pPr defTabSz="801370" fontAlgn="base">
              <a:lnSpc>
                <a:spcPct val="150000"/>
              </a:lnSpc>
              <a:spcBef>
                <a:spcPct val="0"/>
              </a:spcBef>
              <a:spcAft>
                <a:spcPts val="570"/>
              </a:spcAft>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     终止运行）</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对计算性能要求不高，一套集群配置一台双路机架式服务器即可满足。</a:t>
            </a:r>
          </a:p>
        </p:txBody>
      </p:sp>
      <p:graphicFrame>
        <p:nvGraphicFramePr>
          <p:cNvPr id="2" name="表格 1"/>
          <p:cNvGraphicFramePr>
            <a:graphicFrameLocks noGrp="1"/>
          </p:cNvGraphicFramePr>
          <p:nvPr>
            <p:extLst>
              <p:ext uri="{D42A27DB-BD31-4B8C-83A1-F6EECF244321}">
                <p14:modId xmlns:p14="http://schemas.microsoft.com/office/powerpoint/2010/main" val="4037661768"/>
              </p:ext>
            </p:extLst>
          </p:nvPr>
        </p:nvGraphicFramePr>
        <p:xfrm>
          <a:off x="5296749" y="3861370"/>
          <a:ext cx="6576383" cy="1877430"/>
        </p:xfrm>
        <a:graphic>
          <a:graphicData uri="http://schemas.openxmlformats.org/drawingml/2006/table">
            <a:tbl>
              <a:tblPr firstRow="1" bandRow="1">
                <a:tableStyleId>{5C22544A-7EE6-4342-B048-85BDC9FD1C3A}</a:tableStyleId>
              </a:tblPr>
              <a:tblGrid>
                <a:gridCol w="1466976">
                  <a:extLst>
                    <a:ext uri="{9D8B030D-6E8A-4147-A177-3AD203B41FA5}">
                      <a16:colId xmlns:a16="http://schemas.microsoft.com/office/drawing/2014/main" val="382141840"/>
                    </a:ext>
                  </a:extLst>
                </a:gridCol>
                <a:gridCol w="5109407">
                  <a:extLst>
                    <a:ext uri="{9D8B030D-6E8A-4147-A177-3AD203B41FA5}">
                      <a16:colId xmlns:a16="http://schemas.microsoft.com/office/drawing/2014/main" val="107712133"/>
                    </a:ext>
                  </a:extLst>
                </a:gridCol>
              </a:tblGrid>
              <a:tr h="394070">
                <a:tc gridSpan="2">
                  <a:txBody>
                    <a:bodyPr/>
                    <a:lstStyle/>
                    <a:p>
                      <a:pPr algn="ctr"/>
                      <a:r>
                        <a:rPr lang="zh-CN" altLang="en-US" sz="1400" dirty="0">
                          <a:latin typeface="微软雅黑" panose="020B0503020204020204" pitchFamily="34" charset="-122"/>
                          <a:ea typeface="微软雅黑" panose="020B0503020204020204" pitchFamily="34" charset="-122"/>
                        </a:rPr>
                        <a:t>集群管理节点硬件配置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lang="zh-CN" altLang="en-US" dirty="0"/>
                    </a:p>
                  </a:txBody>
                  <a:tcPr/>
                </a:tc>
                <a:extLst>
                  <a:ext uri="{0D108BD9-81ED-4DB2-BD59-A6C34878D82A}">
                    <a16:rowId xmlns:a16="http://schemas.microsoft.com/office/drawing/2014/main" val="1918138576"/>
                  </a:ext>
                </a:extLst>
              </a:tr>
              <a:tr h="370840">
                <a:tc>
                  <a:txBody>
                    <a:bodyPr/>
                    <a:lstStyle/>
                    <a:p>
                      <a:r>
                        <a:rPr lang="en-US" altLang="zh-CN" sz="1400" dirty="0">
                          <a:latin typeface="微软雅黑" panose="020B0503020204020204" pitchFamily="34" charset="-122"/>
                          <a:ea typeface="微软雅黑" panose="020B0503020204020204" pitchFamily="34" charset="-122"/>
                        </a:rPr>
                        <a:t>CPU</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de-DE" altLang="zh-CN" sz="1400" dirty="0">
                          <a:latin typeface="微软雅黑" panose="020B0503020204020204" pitchFamily="34" charset="-122"/>
                          <a:ea typeface="微软雅黑" panose="020B0503020204020204" pitchFamily="34" charset="-122"/>
                        </a:rPr>
                        <a:t>Intel_8358_Xeon_2.6GHz_32C*2</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2992883"/>
                  </a:ext>
                </a:extLst>
              </a:tr>
              <a:tr h="370840">
                <a:tc>
                  <a:txBody>
                    <a:bodyPr/>
                    <a:lstStyle/>
                    <a:p>
                      <a:r>
                        <a:rPr lang="zh-CN" altLang="en-US" sz="1400" dirty="0">
                          <a:latin typeface="微软雅黑" panose="020B0503020204020204" pitchFamily="34" charset="-122"/>
                          <a:ea typeface="微软雅黑" panose="020B0503020204020204" pitchFamily="34" charset="-122"/>
                        </a:rPr>
                        <a:t>内存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Mem_32G_DDR4-3200MHz_ECC-RDIMM*8</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689228"/>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硬盘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SSD_480G_SATA_6Gpbs_2.5in_Read*2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006470"/>
                  </a:ext>
                </a:extLst>
              </a:tr>
              <a:tr h="370840">
                <a:tc>
                  <a:txBody>
                    <a:bodyPr/>
                    <a:lstStyle/>
                    <a:p>
                      <a:r>
                        <a:rPr lang="en-US" altLang="zh-CN" sz="1400" kern="1200" dirty="0">
                          <a:solidFill>
                            <a:schemeClr val="dk1"/>
                          </a:solidFill>
                          <a:latin typeface="微软雅黑" panose="020B0503020204020204" pitchFamily="34" charset="-122"/>
                          <a:ea typeface="微软雅黑" panose="020B0503020204020204" pitchFamily="34" charset="-122"/>
                          <a:cs typeface="+mn-cs"/>
                        </a:rPr>
                        <a:t>HCA</a:t>
                      </a:r>
                      <a:r>
                        <a:rPr lang="zh-CN" altLang="en-US" sz="1400" kern="1200" dirty="0">
                          <a:solidFill>
                            <a:schemeClr val="dk1"/>
                          </a:solidFill>
                          <a:latin typeface="微软雅黑" panose="020B0503020204020204" pitchFamily="34" charset="-122"/>
                          <a:ea typeface="微软雅黑" panose="020B0503020204020204" pitchFamily="34" charset="-122"/>
                          <a:cs typeface="+mn-cs"/>
                        </a:rPr>
                        <a:t>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HCA_1Port_HDR100G_MCX653105A-ECAT_M*1</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7266891"/>
                  </a:ext>
                </a:extLst>
              </a:tr>
            </a:tbl>
          </a:graphicData>
        </a:graphic>
      </p:graphicFrame>
      <p:sp>
        <p:nvSpPr>
          <p:cNvPr id="17" name="文本框 16"/>
          <p:cNvSpPr txBox="1"/>
          <p:nvPr/>
        </p:nvSpPr>
        <p:spPr>
          <a:xfrm>
            <a:off x="1997313" y="5635091"/>
            <a:ext cx="222869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2U</a:t>
            </a:r>
            <a:r>
              <a:rPr lang="zh-CN" altLang="en-US" sz="1600" dirty="0">
                <a:latin typeface="微软雅黑" panose="020B0503020204020204" pitchFamily="34" charset="-122"/>
                <a:ea typeface="微软雅黑" panose="020B0503020204020204" pitchFamily="34" charset="-122"/>
              </a:rPr>
              <a:t>服务</a:t>
            </a:r>
            <a:r>
              <a:rPr lang="en-US" altLang="zh-CN" sz="1600" dirty="0">
                <a:latin typeface="微软雅黑" panose="020B0503020204020204" pitchFamily="34" charset="-122"/>
                <a:ea typeface="微软雅黑" panose="020B0503020204020204" pitchFamily="34" charset="-122"/>
              </a:rPr>
              <a:t>NF5280M6</a:t>
            </a:r>
            <a:endParaRPr lang="zh-CN" altLang="en-US" sz="16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28F4632-E657-3EFD-AAD6-47C62971C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8824" y="3861370"/>
            <a:ext cx="3696710" cy="1676497"/>
          </a:xfrm>
          <a:prstGeom prst="rect">
            <a:avLst/>
          </a:prstGeom>
        </p:spPr>
      </p:pic>
    </p:spTree>
    <p:extLst>
      <p:ext uri="{BB962C8B-B14F-4D97-AF65-F5344CB8AC3E}">
        <p14:creationId xmlns:p14="http://schemas.microsoft.com/office/powerpoint/2010/main" val="155695816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6775">
                  <a:defRPr/>
                </a:pPr>
                <a:r>
                  <a:rPr lang="zh-CN" altLang="en-US" sz="1895"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登录节点</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49" name="对角圆角矩形 48"/>
          <p:cNvSpPr/>
          <p:nvPr/>
        </p:nvSpPr>
        <p:spPr bwMode="auto">
          <a:xfrm>
            <a:off x="1448901" y="844075"/>
            <a:ext cx="9485465" cy="2144408"/>
          </a:xfrm>
          <a:prstGeom prst="round2DiagRect">
            <a:avLst/>
          </a:prstGeom>
          <a:gradFill flip="none" rotWithShape="1">
            <a:gsLst>
              <a:gs pos="5000">
                <a:schemeClr val="bg1">
                  <a:lumMod val="85000"/>
                </a:schemeClr>
              </a:gs>
              <a:gs pos="42000">
                <a:schemeClr val="bg1"/>
              </a:gs>
            </a:gsLst>
            <a:lin ang="8100000" scaled="1"/>
            <a:tileRect/>
          </a:gradFill>
          <a:ln w="9525" cap="flat" cmpd="sng" algn="ctr">
            <a:gradFill flip="none" rotWithShape="1">
              <a:gsLst>
                <a:gs pos="0">
                  <a:schemeClr val="bg1">
                    <a:lumMod val="100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登录节点是用户访问集群系统的通道</a:t>
            </a: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登录节点是外部访问集群系统强大计算或存储能力的入口，是整个系统的关键点</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小规模集群中登录节点一般和管理节点合并</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a:p>
            <a:pPr marL="325120" indent="-325120" defTabSz="801370" fontAlgn="base">
              <a:lnSpc>
                <a:spcPct val="150000"/>
              </a:lnSpc>
              <a:spcBef>
                <a:spcPct val="0"/>
              </a:spcBef>
              <a:spcAft>
                <a:spcPts val="570"/>
              </a:spcAft>
              <a:buFont typeface="Arial" panose="020B0604020202020204" pitchFamily="34" charset="0"/>
              <a:buChar char="•"/>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对计算性能要求不高，一套集群配置一到两台双路机架式服务器即可满足</a:t>
            </a:r>
          </a:p>
        </p:txBody>
      </p:sp>
      <p:sp>
        <p:nvSpPr>
          <p:cNvPr id="19" name="文本框 18"/>
          <p:cNvSpPr txBox="1"/>
          <p:nvPr/>
        </p:nvSpPr>
        <p:spPr>
          <a:xfrm>
            <a:off x="2156861" y="5449199"/>
            <a:ext cx="2228698"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2U</a:t>
            </a:r>
            <a:r>
              <a:rPr lang="zh-CN" altLang="en-US" sz="1600" dirty="0">
                <a:latin typeface="微软雅黑" panose="020B0503020204020204" pitchFamily="34" charset="-122"/>
                <a:ea typeface="微软雅黑" panose="020B0503020204020204" pitchFamily="34" charset="-122"/>
              </a:rPr>
              <a:t>服务</a:t>
            </a:r>
            <a:r>
              <a:rPr lang="en-US" altLang="zh-CN" sz="1600" dirty="0">
                <a:latin typeface="微软雅黑" panose="020B0503020204020204" pitchFamily="34" charset="-122"/>
                <a:ea typeface="微软雅黑" panose="020B0503020204020204" pitchFamily="34" charset="-122"/>
              </a:rPr>
              <a:t>NF5280M6</a:t>
            </a:r>
            <a:endParaRPr lang="zh-CN" altLang="en-US" sz="1600" dirty="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E2BA3409-5419-4064-8C59-58580F1246A6}"/>
              </a:ext>
            </a:extLst>
          </p:cNvPr>
          <p:cNvGraphicFramePr>
            <a:graphicFrameLocks noGrp="1"/>
          </p:cNvGraphicFramePr>
          <p:nvPr>
            <p:extLst>
              <p:ext uri="{D42A27DB-BD31-4B8C-83A1-F6EECF244321}">
                <p14:modId xmlns:p14="http://schemas.microsoft.com/office/powerpoint/2010/main" val="3586749280"/>
              </p:ext>
            </p:extLst>
          </p:nvPr>
        </p:nvGraphicFramePr>
        <p:xfrm>
          <a:off x="5457186" y="3728088"/>
          <a:ext cx="6576383" cy="1877430"/>
        </p:xfrm>
        <a:graphic>
          <a:graphicData uri="http://schemas.openxmlformats.org/drawingml/2006/table">
            <a:tbl>
              <a:tblPr firstRow="1" bandRow="1">
                <a:tableStyleId>{5C22544A-7EE6-4342-B048-85BDC9FD1C3A}</a:tableStyleId>
              </a:tblPr>
              <a:tblGrid>
                <a:gridCol w="1466976">
                  <a:extLst>
                    <a:ext uri="{9D8B030D-6E8A-4147-A177-3AD203B41FA5}">
                      <a16:colId xmlns:a16="http://schemas.microsoft.com/office/drawing/2014/main" val="1345568655"/>
                    </a:ext>
                  </a:extLst>
                </a:gridCol>
                <a:gridCol w="5109407">
                  <a:extLst>
                    <a:ext uri="{9D8B030D-6E8A-4147-A177-3AD203B41FA5}">
                      <a16:colId xmlns:a16="http://schemas.microsoft.com/office/drawing/2014/main" val="3588255957"/>
                    </a:ext>
                  </a:extLst>
                </a:gridCol>
              </a:tblGrid>
              <a:tr h="394070">
                <a:tc gridSpan="2">
                  <a:txBody>
                    <a:bodyPr/>
                    <a:lstStyle/>
                    <a:p>
                      <a:pPr algn="ctr"/>
                      <a:r>
                        <a:rPr lang="zh-CN" altLang="en-US" sz="1400" dirty="0">
                          <a:latin typeface="微软雅黑" panose="020B0503020204020204" pitchFamily="34" charset="-122"/>
                          <a:ea typeface="微软雅黑" panose="020B0503020204020204" pitchFamily="34" charset="-122"/>
                        </a:rPr>
                        <a:t>集群登录节点硬件配置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lang="zh-CN" altLang="en-US" dirty="0"/>
                    </a:p>
                  </a:txBody>
                  <a:tcPr/>
                </a:tc>
                <a:extLst>
                  <a:ext uri="{0D108BD9-81ED-4DB2-BD59-A6C34878D82A}">
                    <a16:rowId xmlns:a16="http://schemas.microsoft.com/office/drawing/2014/main" val="2935702816"/>
                  </a:ext>
                </a:extLst>
              </a:tr>
              <a:tr h="370840">
                <a:tc>
                  <a:txBody>
                    <a:bodyPr/>
                    <a:lstStyle/>
                    <a:p>
                      <a:r>
                        <a:rPr lang="en-US" altLang="zh-CN" sz="1400" dirty="0">
                          <a:latin typeface="微软雅黑" panose="020B0503020204020204" pitchFamily="34" charset="-122"/>
                          <a:ea typeface="微软雅黑" panose="020B0503020204020204" pitchFamily="34" charset="-122"/>
                        </a:rPr>
                        <a:t>CPU</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de-DE" altLang="zh-CN" sz="1400" dirty="0">
                          <a:latin typeface="微软雅黑" panose="020B0503020204020204" pitchFamily="34" charset="-122"/>
                          <a:ea typeface="微软雅黑" panose="020B0503020204020204" pitchFamily="34" charset="-122"/>
                        </a:rPr>
                        <a:t>Intel_8358_Xeon_2.6GHz_32C*2</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812521"/>
                  </a:ext>
                </a:extLst>
              </a:tr>
              <a:tr h="370840">
                <a:tc>
                  <a:txBody>
                    <a:bodyPr/>
                    <a:lstStyle/>
                    <a:p>
                      <a:r>
                        <a:rPr lang="zh-CN" altLang="en-US" sz="1400" dirty="0">
                          <a:latin typeface="微软雅黑" panose="020B0503020204020204" pitchFamily="34" charset="-122"/>
                          <a:ea typeface="微软雅黑" panose="020B0503020204020204" pitchFamily="34" charset="-122"/>
                        </a:rPr>
                        <a:t>内存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Mem_32G_DDR4-3200MHz_ECC-RDIMM*8</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2130493"/>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硬盘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SSD_480G_SATA_6Gpbs_2.5in_Read*2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0521355"/>
                  </a:ext>
                </a:extLst>
              </a:tr>
              <a:tr h="370840">
                <a:tc>
                  <a:txBody>
                    <a:bodyPr/>
                    <a:lstStyle/>
                    <a:p>
                      <a:r>
                        <a:rPr lang="en-US" altLang="zh-CN" sz="1400" kern="1200" dirty="0">
                          <a:solidFill>
                            <a:schemeClr val="dk1"/>
                          </a:solidFill>
                          <a:latin typeface="微软雅黑" panose="020B0503020204020204" pitchFamily="34" charset="-122"/>
                          <a:ea typeface="微软雅黑" panose="020B0503020204020204" pitchFamily="34" charset="-122"/>
                          <a:cs typeface="+mn-cs"/>
                        </a:rPr>
                        <a:t>HCA</a:t>
                      </a:r>
                      <a:r>
                        <a:rPr lang="zh-CN" altLang="en-US" sz="1400" kern="1200" dirty="0">
                          <a:solidFill>
                            <a:schemeClr val="dk1"/>
                          </a:solidFill>
                          <a:latin typeface="微软雅黑" panose="020B0503020204020204" pitchFamily="34" charset="-122"/>
                          <a:ea typeface="微软雅黑" panose="020B0503020204020204" pitchFamily="34" charset="-122"/>
                          <a:cs typeface="+mn-cs"/>
                        </a:rPr>
                        <a:t>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HCA_1Port_HDR100G_MCX653105A-ECAT_M*1</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5381319"/>
                  </a:ext>
                </a:extLst>
              </a:tr>
            </a:tbl>
          </a:graphicData>
        </a:graphic>
      </p:graphicFrame>
      <p:pic>
        <p:nvPicPr>
          <p:cNvPr id="3" name="图片 2">
            <a:extLst>
              <a:ext uri="{FF2B5EF4-FFF2-40B4-BE49-F238E27FC236}">
                <a16:creationId xmlns:a16="http://schemas.microsoft.com/office/drawing/2014/main" id="{0A7A81E9-3493-7724-AD20-0B4D9F10A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8901" y="3616940"/>
            <a:ext cx="3696710" cy="1676497"/>
          </a:xfrm>
          <a:prstGeom prst="rect">
            <a:avLst/>
          </a:prstGeom>
        </p:spPr>
      </p:pic>
    </p:spTree>
    <p:extLst>
      <p:ext uri="{BB962C8B-B14F-4D97-AF65-F5344CB8AC3E}">
        <p14:creationId xmlns:p14="http://schemas.microsoft.com/office/powerpoint/2010/main" val="21771320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6775">
                  <a:defRPr/>
                </a:pPr>
                <a:r>
                  <a:rPr lang="zh-CN" altLang="en-US" sz="1895"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通用瘦计算节点</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49" name="对角圆角矩形 48"/>
          <p:cNvSpPr/>
          <p:nvPr/>
        </p:nvSpPr>
        <p:spPr bwMode="auto">
          <a:xfrm>
            <a:off x="1318013" y="647321"/>
            <a:ext cx="10114671" cy="1254613"/>
          </a:xfrm>
          <a:prstGeom prst="round2DiagRect">
            <a:avLst/>
          </a:prstGeom>
          <a:gradFill flip="none" rotWithShape="1">
            <a:gsLst>
              <a:gs pos="0">
                <a:schemeClr val="bg1">
                  <a:lumMod val="85000"/>
                </a:schemeClr>
              </a:gs>
              <a:gs pos="42000">
                <a:schemeClr val="bg1"/>
              </a:gs>
            </a:gsLst>
            <a:lin ang="8100000" scaled="1"/>
            <a:tileRect/>
          </a:gradFill>
          <a:ln w="9525" cap="flat" cmpd="sng" algn="ctr">
            <a:no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indent="-325120" fontAlgn="base">
              <a:lnSpc>
                <a:spcPct val="150000"/>
              </a:lnSpc>
              <a:spcBef>
                <a:spcPct val="0"/>
              </a:spcBef>
              <a:spcAft>
                <a:spcPts val="57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计算节点是整个集群系统的计算服务器。它的功能是使用本地的</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CPU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、内存、</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GPU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卡等资源完成计算任务。用户可以根据自身需求和预算来决定采用何种配置。</a:t>
            </a:r>
            <a:endParaRPr lang="en-US" altLang="zh-CN" dirty="0">
              <a:latin typeface="微软雅黑" panose="020B0503020204020204" pitchFamily="34" charset="-122"/>
              <a:ea typeface="微软雅黑" panose="020B0503020204020204" pitchFamily="34" charset="-122"/>
              <a:sym typeface="SF Orson Casual Heavy" panose="00000400000000000000" pitchFamily="2" charset="0"/>
            </a:endParaRPr>
          </a:p>
          <a:p>
            <a:pPr indent="-325120" fontAlgn="base">
              <a:lnSpc>
                <a:spcPct val="150000"/>
              </a:lnSpc>
              <a:spcBef>
                <a:spcPct val="0"/>
              </a:spcBef>
              <a:spcAft>
                <a:spcPts val="57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瘦计算节点一般使用场景：多核并行和针对单台服务器</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CPU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、内存资源要求不高的计算任务</a:t>
            </a:r>
          </a:p>
        </p:txBody>
      </p:sp>
      <p:sp>
        <p:nvSpPr>
          <p:cNvPr id="5" name="文本框 4"/>
          <p:cNvSpPr txBox="1"/>
          <p:nvPr/>
        </p:nvSpPr>
        <p:spPr>
          <a:xfrm>
            <a:off x="4935274" y="4025494"/>
            <a:ext cx="3856483"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2U</a:t>
            </a:r>
            <a:r>
              <a:rPr lang="zh-CN" altLang="en-US" sz="1600" dirty="0">
                <a:latin typeface="微软雅黑" panose="020B0503020204020204" pitchFamily="34" charset="-122"/>
                <a:ea typeface="微软雅黑" panose="020B0503020204020204" pitchFamily="34" charset="-122"/>
              </a:rPr>
              <a:t>服务</a:t>
            </a:r>
            <a:r>
              <a:rPr lang="en-US" altLang="zh-CN" sz="1600" dirty="0">
                <a:latin typeface="微软雅黑" panose="020B0503020204020204" pitchFamily="34" charset="-122"/>
                <a:ea typeface="微软雅黑" panose="020B0503020204020204" pitchFamily="34" charset="-122"/>
              </a:rPr>
              <a:t>NF5280M6</a:t>
            </a:r>
            <a:endParaRPr lang="zh-CN" altLang="en-US" sz="1600" dirty="0">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extLst>
              <p:ext uri="{D42A27DB-BD31-4B8C-83A1-F6EECF244321}">
                <p14:modId xmlns:p14="http://schemas.microsoft.com/office/powerpoint/2010/main" val="2394013894"/>
              </p:ext>
            </p:extLst>
          </p:nvPr>
        </p:nvGraphicFramePr>
        <p:xfrm>
          <a:off x="3408457" y="4548126"/>
          <a:ext cx="5933782" cy="1830121"/>
        </p:xfrm>
        <a:graphic>
          <a:graphicData uri="http://schemas.openxmlformats.org/drawingml/2006/table">
            <a:tbl>
              <a:tblPr firstRow="1" bandRow="1">
                <a:tableStyleId>{5C22544A-7EE6-4342-B048-85BDC9FD1C3A}</a:tableStyleId>
              </a:tblPr>
              <a:tblGrid>
                <a:gridCol w="907572">
                  <a:extLst>
                    <a:ext uri="{9D8B030D-6E8A-4147-A177-3AD203B41FA5}">
                      <a16:colId xmlns:a16="http://schemas.microsoft.com/office/drawing/2014/main" val="382141840"/>
                    </a:ext>
                  </a:extLst>
                </a:gridCol>
                <a:gridCol w="5026210">
                  <a:extLst>
                    <a:ext uri="{9D8B030D-6E8A-4147-A177-3AD203B41FA5}">
                      <a16:colId xmlns:a16="http://schemas.microsoft.com/office/drawing/2014/main" val="107712133"/>
                    </a:ext>
                  </a:extLst>
                </a:gridCol>
              </a:tblGrid>
              <a:tr h="346761">
                <a:tc gridSpan="2">
                  <a:txBody>
                    <a:bodyPr/>
                    <a:lstStyle/>
                    <a:p>
                      <a:pPr algn="ctr"/>
                      <a:r>
                        <a:rPr lang="zh-CN" altLang="en-US" sz="1400" dirty="0">
                          <a:latin typeface="微软雅黑" panose="020B0503020204020204" pitchFamily="34" charset="-122"/>
                          <a:ea typeface="微软雅黑" panose="020B0503020204020204" pitchFamily="34" charset="-122"/>
                        </a:rPr>
                        <a:t>通用计算节点硬件配置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lang="zh-CN" altLang="en-US" dirty="0"/>
                    </a:p>
                  </a:txBody>
                  <a:tcPr/>
                </a:tc>
                <a:extLst>
                  <a:ext uri="{0D108BD9-81ED-4DB2-BD59-A6C34878D82A}">
                    <a16:rowId xmlns:a16="http://schemas.microsoft.com/office/drawing/2014/main" val="1918138576"/>
                  </a:ext>
                </a:extLst>
              </a:tr>
              <a:tr h="370840">
                <a:tc>
                  <a:txBody>
                    <a:bodyPr/>
                    <a:lstStyle/>
                    <a:p>
                      <a:r>
                        <a:rPr lang="en-US" altLang="zh-CN" sz="1400" dirty="0">
                          <a:latin typeface="微软雅黑" panose="020B0503020204020204" pitchFamily="34" charset="-122"/>
                          <a:ea typeface="微软雅黑" panose="020B0503020204020204" pitchFamily="34" charset="-122"/>
                        </a:rPr>
                        <a:t>CPU</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de-DE" altLang="zh-CN" sz="1400" dirty="0">
                          <a:latin typeface="微软雅黑" panose="020B0503020204020204" pitchFamily="34" charset="-122"/>
                          <a:ea typeface="微软雅黑" panose="020B0503020204020204" pitchFamily="34" charset="-122"/>
                        </a:rPr>
                        <a:t>Intel_8358_Xeon_2.6GHz_32C*2</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2992883"/>
                  </a:ext>
                </a:extLst>
              </a:tr>
              <a:tr h="370840">
                <a:tc>
                  <a:txBody>
                    <a:bodyPr/>
                    <a:lstStyle/>
                    <a:p>
                      <a:r>
                        <a:rPr lang="zh-CN" altLang="en-US" sz="1400" dirty="0">
                          <a:latin typeface="微软雅黑" panose="020B0503020204020204" pitchFamily="34" charset="-122"/>
                          <a:ea typeface="微软雅黑" panose="020B0503020204020204" pitchFamily="34" charset="-122"/>
                        </a:rPr>
                        <a:t>内存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Mem_32G_DDR4-3200MHz_ECC-RDIMM*8</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689228"/>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硬盘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SSD_480G_SATA_6Gpbs_2.5in_Read*2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006470"/>
                  </a:ext>
                </a:extLst>
              </a:tr>
              <a:tr h="370840">
                <a:tc>
                  <a:txBody>
                    <a:bodyPr/>
                    <a:lstStyle/>
                    <a:p>
                      <a:r>
                        <a:rPr lang="en-US" altLang="zh-CN" sz="1400" kern="1200" dirty="0">
                          <a:solidFill>
                            <a:schemeClr val="dk1"/>
                          </a:solidFill>
                          <a:latin typeface="微软雅黑" panose="020B0503020204020204" pitchFamily="34" charset="-122"/>
                          <a:ea typeface="微软雅黑" panose="020B0503020204020204" pitchFamily="34" charset="-122"/>
                          <a:cs typeface="+mn-cs"/>
                        </a:rPr>
                        <a:t>HCA</a:t>
                      </a:r>
                      <a:r>
                        <a:rPr lang="zh-CN" altLang="en-US" sz="1400" kern="1200" dirty="0">
                          <a:solidFill>
                            <a:schemeClr val="dk1"/>
                          </a:solidFill>
                          <a:latin typeface="微软雅黑" panose="020B0503020204020204" pitchFamily="34" charset="-122"/>
                          <a:ea typeface="微软雅黑" panose="020B0503020204020204" pitchFamily="34" charset="-122"/>
                          <a:cs typeface="+mn-cs"/>
                        </a:rPr>
                        <a:t>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HCA_1Port_HDR100G_MCX653105A-ECAT_M*1</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0932138"/>
                  </a:ext>
                </a:extLst>
              </a:tr>
            </a:tbl>
          </a:graphicData>
        </a:graphic>
      </p:graphicFrame>
      <p:pic>
        <p:nvPicPr>
          <p:cNvPr id="2" name="图片 1">
            <a:extLst>
              <a:ext uri="{FF2B5EF4-FFF2-40B4-BE49-F238E27FC236}">
                <a16:creationId xmlns:a16="http://schemas.microsoft.com/office/drawing/2014/main" id="{CAC9BCB6-0D58-33F3-2954-FAF693F76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1683" y="2164919"/>
            <a:ext cx="3696710" cy="1676497"/>
          </a:xfrm>
          <a:prstGeom prst="rect">
            <a:avLst/>
          </a:prstGeom>
        </p:spPr>
      </p:pic>
    </p:spTree>
    <p:extLst>
      <p:ext uri="{BB962C8B-B14F-4D97-AF65-F5344CB8AC3E}">
        <p14:creationId xmlns:p14="http://schemas.microsoft.com/office/powerpoint/2010/main" val="40114924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6775">
                  <a:defRPr/>
                </a:pPr>
                <a:r>
                  <a:rPr lang="zh-CN" altLang="en-US" sz="1895"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胖计算节点</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49" name="对角圆角矩形 48"/>
          <p:cNvSpPr/>
          <p:nvPr/>
        </p:nvSpPr>
        <p:spPr bwMode="auto">
          <a:xfrm>
            <a:off x="584443" y="647321"/>
            <a:ext cx="11413852" cy="1759278"/>
          </a:xfrm>
          <a:prstGeom prst="round2DiagRect">
            <a:avLst/>
          </a:prstGeom>
          <a:gradFill flip="none" rotWithShape="1">
            <a:gsLst>
              <a:gs pos="0">
                <a:schemeClr val="bg1">
                  <a:lumMod val="85000"/>
                </a:schemeClr>
              </a:gs>
              <a:gs pos="42000">
                <a:schemeClr val="bg1"/>
              </a:gs>
            </a:gsLst>
            <a:lin ang="8100000" scaled="1"/>
            <a:tileRect/>
          </a:gradFill>
          <a:ln w="9525" cap="flat" cmpd="sng" algn="ctr">
            <a:no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indent="-325120" fontAlgn="base">
              <a:lnSpc>
                <a:spcPct val="150000"/>
              </a:lnSpc>
              <a:spcBef>
                <a:spcPct val="0"/>
              </a:spcBef>
              <a:spcAft>
                <a:spcPts val="57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胖节点相比双路“瘦”节点，最大的优势在于单机的</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CPU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核数多、单机计算能力强，内存扩展能力强</a:t>
            </a:r>
            <a:endParaRPr lang="en-US" altLang="zh-CN" dirty="0">
              <a:latin typeface="微软雅黑" panose="020B0503020204020204" pitchFamily="34" charset="-122"/>
              <a:ea typeface="微软雅黑" panose="020B0503020204020204" pitchFamily="34" charset="-122"/>
              <a:sym typeface="SF Orson Casual Heavy" panose="00000400000000000000" pitchFamily="2" charset="0"/>
            </a:endParaRPr>
          </a:p>
          <a:p>
            <a:pPr indent="-325120" fontAlgn="base">
              <a:lnSpc>
                <a:spcPct val="150000"/>
              </a:lnSpc>
              <a:spcBef>
                <a:spcPct val="0"/>
              </a:spcBef>
              <a:spcAft>
                <a:spcPts val="57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胖节点使用场景：有大量内存需求的应用程序，要求单机计算能力强的应用程序（比如只能支持节点内多线程并行， 无法多节点并行）等</a:t>
            </a:r>
          </a:p>
        </p:txBody>
      </p:sp>
      <p:sp>
        <p:nvSpPr>
          <p:cNvPr id="5" name="文本框 4"/>
          <p:cNvSpPr txBox="1"/>
          <p:nvPr/>
        </p:nvSpPr>
        <p:spPr>
          <a:xfrm>
            <a:off x="4831663" y="4408392"/>
            <a:ext cx="4731081"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       2U</a:t>
            </a:r>
            <a:r>
              <a:rPr lang="zh-CN" altLang="en-US" sz="1600" dirty="0">
                <a:latin typeface="微软雅黑" panose="020B0503020204020204" pitchFamily="34" charset="-122"/>
                <a:ea typeface="微软雅黑" panose="020B0503020204020204" pitchFamily="34" charset="-122"/>
              </a:rPr>
              <a:t>服务器</a:t>
            </a:r>
            <a:r>
              <a:rPr lang="en-US" altLang="zh-CN" sz="1600" dirty="0">
                <a:latin typeface="微软雅黑" panose="020B0503020204020204" pitchFamily="34" charset="-122"/>
                <a:ea typeface="微软雅黑" panose="020B0503020204020204" pitchFamily="34" charset="-122"/>
              </a:rPr>
              <a:t>NF8260M7</a:t>
            </a:r>
            <a:endParaRPr lang="zh-CN" altLang="en-US" sz="1600" dirty="0">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extLst>
              <p:ext uri="{D42A27DB-BD31-4B8C-83A1-F6EECF244321}">
                <p14:modId xmlns:p14="http://schemas.microsoft.com/office/powerpoint/2010/main" val="1746995516"/>
              </p:ext>
            </p:extLst>
          </p:nvPr>
        </p:nvGraphicFramePr>
        <p:xfrm>
          <a:off x="3493914" y="4790227"/>
          <a:ext cx="5933782" cy="1830121"/>
        </p:xfrm>
        <a:graphic>
          <a:graphicData uri="http://schemas.openxmlformats.org/drawingml/2006/table">
            <a:tbl>
              <a:tblPr firstRow="1" bandRow="1">
                <a:tableStyleId>{5C22544A-7EE6-4342-B048-85BDC9FD1C3A}</a:tableStyleId>
              </a:tblPr>
              <a:tblGrid>
                <a:gridCol w="907572">
                  <a:extLst>
                    <a:ext uri="{9D8B030D-6E8A-4147-A177-3AD203B41FA5}">
                      <a16:colId xmlns:a16="http://schemas.microsoft.com/office/drawing/2014/main" val="382141840"/>
                    </a:ext>
                  </a:extLst>
                </a:gridCol>
                <a:gridCol w="5026210">
                  <a:extLst>
                    <a:ext uri="{9D8B030D-6E8A-4147-A177-3AD203B41FA5}">
                      <a16:colId xmlns:a16="http://schemas.microsoft.com/office/drawing/2014/main" val="107712133"/>
                    </a:ext>
                  </a:extLst>
                </a:gridCol>
              </a:tblGrid>
              <a:tr h="346761">
                <a:tc gridSpan="2">
                  <a:txBody>
                    <a:bodyPr/>
                    <a:lstStyle/>
                    <a:p>
                      <a:pPr algn="ctr"/>
                      <a:r>
                        <a:rPr lang="en-US" altLang="zh-CN" sz="1400" dirty="0">
                          <a:latin typeface="微软雅黑" panose="020B0503020204020204" pitchFamily="34" charset="-122"/>
                          <a:ea typeface="微软雅黑" panose="020B0503020204020204" pitchFamily="34" charset="-122"/>
                        </a:rPr>
                        <a:t>2U</a:t>
                      </a:r>
                      <a:r>
                        <a:rPr lang="zh-CN" altLang="en-US" sz="1400" dirty="0">
                          <a:latin typeface="微软雅黑" panose="020B0503020204020204" pitchFamily="34" charset="-122"/>
                          <a:ea typeface="微软雅黑" panose="020B0503020204020204" pitchFamily="34" charset="-122"/>
                        </a:rPr>
                        <a:t>胖计算节点硬件配置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lang="zh-CN" altLang="en-US" dirty="0"/>
                    </a:p>
                  </a:txBody>
                  <a:tcPr/>
                </a:tc>
                <a:extLst>
                  <a:ext uri="{0D108BD9-81ED-4DB2-BD59-A6C34878D82A}">
                    <a16:rowId xmlns:a16="http://schemas.microsoft.com/office/drawing/2014/main" val="1918138576"/>
                  </a:ext>
                </a:extLst>
              </a:tr>
              <a:tr h="370840">
                <a:tc>
                  <a:txBody>
                    <a:bodyPr/>
                    <a:lstStyle/>
                    <a:p>
                      <a:r>
                        <a:rPr lang="en-US" altLang="zh-CN" sz="1400" dirty="0">
                          <a:latin typeface="微软雅黑" panose="020B0503020204020204" pitchFamily="34" charset="-122"/>
                          <a:ea typeface="微软雅黑" panose="020B0503020204020204" pitchFamily="34" charset="-122"/>
                        </a:rPr>
                        <a:t>CPU</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pt-BR" altLang="zh-CN" sz="1400" dirty="0">
                          <a:latin typeface="微软雅黑" panose="020B0503020204020204" pitchFamily="34" charset="-122"/>
                          <a:ea typeface="微软雅黑" panose="020B0503020204020204" pitchFamily="34" charset="-122"/>
                        </a:rPr>
                        <a:t>Intel_6448H_Xeon_2.4GHz_32C*4</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2992883"/>
                  </a:ext>
                </a:extLst>
              </a:tr>
              <a:tr h="370840">
                <a:tc>
                  <a:txBody>
                    <a:bodyPr/>
                    <a:lstStyle/>
                    <a:p>
                      <a:r>
                        <a:rPr lang="zh-CN" altLang="en-US" sz="1400" dirty="0">
                          <a:latin typeface="微软雅黑" panose="020B0503020204020204" pitchFamily="34" charset="-122"/>
                          <a:ea typeface="微软雅黑" panose="020B0503020204020204" pitchFamily="34" charset="-122"/>
                        </a:rPr>
                        <a:t>内存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Mem_64G_DDR5-4800MHz_ECC-RDIMM*48</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689228"/>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硬盘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SSD_480G_SATA_6Gpbs_2.5in_Read*2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006470"/>
                  </a:ext>
                </a:extLst>
              </a:tr>
              <a:tr h="370840">
                <a:tc>
                  <a:txBody>
                    <a:bodyPr/>
                    <a:lstStyle/>
                    <a:p>
                      <a:r>
                        <a:rPr lang="en-US" altLang="zh-CN" sz="1400" kern="1200" dirty="0">
                          <a:solidFill>
                            <a:schemeClr val="dk1"/>
                          </a:solidFill>
                          <a:latin typeface="微软雅黑" panose="020B0503020204020204" pitchFamily="34" charset="-122"/>
                          <a:ea typeface="微软雅黑" panose="020B0503020204020204" pitchFamily="34" charset="-122"/>
                          <a:cs typeface="+mn-cs"/>
                        </a:rPr>
                        <a:t>HCA</a:t>
                      </a:r>
                      <a:r>
                        <a:rPr lang="zh-CN" altLang="en-US" sz="1400" kern="1200" dirty="0">
                          <a:solidFill>
                            <a:schemeClr val="dk1"/>
                          </a:solidFill>
                          <a:latin typeface="微软雅黑" panose="020B0503020204020204" pitchFamily="34" charset="-122"/>
                          <a:ea typeface="微软雅黑" panose="020B0503020204020204" pitchFamily="34" charset="-122"/>
                          <a:cs typeface="+mn-cs"/>
                        </a:rPr>
                        <a:t>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HCA_1Port_HDR100G_MCX653105A-ECAT_M*1</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8083048"/>
                  </a:ext>
                </a:extLst>
              </a:tr>
            </a:tbl>
          </a:graphicData>
        </a:graphic>
      </p:graphicFrame>
      <p:pic>
        <p:nvPicPr>
          <p:cNvPr id="6" name="图片 5">
            <a:extLst>
              <a:ext uri="{FF2B5EF4-FFF2-40B4-BE49-F238E27FC236}">
                <a16:creationId xmlns:a16="http://schemas.microsoft.com/office/drawing/2014/main" id="{0F547B64-B057-3766-3BD0-D7B8E38757DE}"/>
              </a:ext>
            </a:extLst>
          </p:cNvPr>
          <p:cNvPicPr>
            <a:picLocks noChangeAspect="1"/>
          </p:cNvPicPr>
          <p:nvPr/>
        </p:nvPicPr>
        <p:blipFill>
          <a:blip r:embed="rId3"/>
          <a:stretch>
            <a:fillRect/>
          </a:stretch>
        </p:blipFill>
        <p:spPr>
          <a:xfrm>
            <a:off x="2390832" y="2620867"/>
            <a:ext cx="8572563" cy="1633549"/>
          </a:xfrm>
          <a:prstGeom prst="rect">
            <a:avLst/>
          </a:prstGeom>
        </p:spPr>
      </p:pic>
    </p:spTree>
    <p:extLst>
      <p:ext uri="{BB962C8B-B14F-4D97-AF65-F5344CB8AC3E}">
        <p14:creationId xmlns:p14="http://schemas.microsoft.com/office/powerpoint/2010/main" val="179713622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30000"/>
                  </a:lnSpc>
                  <a:spcBef>
                    <a:spcPct val="0"/>
                  </a:spcBef>
                  <a:spcAft>
                    <a:spcPct val="0"/>
                  </a:spcAft>
                </a:pPr>
                <a:endParaRPr lang="zh-CN" altLang="en-US" sz="1705"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1 </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平台概况</a:t>
                </a:r>
                <a:endPar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6775">
                  <a:defRPr/>
                </a:pPr>
                <a:r>
                  <a:rPr lang="zh-CN" altLang="en-US" sz="1895"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图形计算节点</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noAutofit/>
            </a:bodyPr>
            <a:lstStyle/>
            <a:p>
              <a:pPr algn="ctr" defTabSz="801370"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49" name="对角圆角矩形 48"/>
          <p:cNvSpPr/>
          <p:nvPr/>
        </p:nvSpPr>
        <p:spPr bwMode="auto">
          <a:xfrm>
            <a:off x="584443" y="647321"/>
            <a:ext cx="11413852" cy="1759278"/>
          </a:xfrm>
          <a:prstGeom prst="round2DiagRect">
            <a:avLst/>
          </a:prstGeom>
          <a:gradFill flip="none" rotWithShape="1">
            <a:gsLst>
              <a:gs pos="0">
                <a:schemeClr val="bg1">
                  <a:lumMod val="85000"/>
                </a:schemeClr>
              </a:gs>
              <a:gs pos="42000">
                <a:schemeClr val="bg1"/>
              </a:gs>
            </a:gsLst>
            <a:lin ang="8100000" scaled="1"/>
            <a:tileRect/>
          </a:gradFill>
          <a:ln w="9525" cap="flat" cmpd="sng" algn="ctr">
            <a:no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indent="-325120" fontAlgn="base">
              <a:lnSpc>
                <a:spcPct val="150000"/>
              </a:lnSpc>
              <a:spcBef>
                <a:spcPct val="0"/>
              </a:spcBef>
              <a:spcAft>
                <a:spcPts val="570"/>
              </a:spcAf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图形计算节点资源包含</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GPU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显卡，可用作</a:t>
            </a:r>
            <a:r>
              <a:rPr lang="en-US" altLang="zh-CN" dirty="0">
                <a:latin typeface="微软雅黑" panose="020B0503020204020204" pitchFamily="34" charset="-122"/>
                <a:ea typeface="微软雅黑" panose="020B0503020204020204" pitchFamily="34" charset="-122"/>
                <a:sym typeface="SF Orson Casual Heavy" panose="00000400000000000000" pitchFamily="2" charset="0"/>
              </a:rPr>
              <a:t>GPU</a:t>
            </a:r>
            <a:r>
              <a:rPr lang="zh-CN" altLang="en-US" dirty="0">
                <a:latin typeface="微软雅黑" panose="020B0503020204020204" pitchFamily="34" charset="-122"/>
                <a:ea typeface="微软雅黑" panose="020B0503020204020204" pitchFamily="34" charset="-122"/>
                <a:sym typeface="SF Orson Casual Heavy" panose="00000400000000000000" pitchFamily="2" charset="0"/>
              </a:rPr>
              <a:t>程序运算</a:t>
            </a:r>
          </a:p>
        </p:txBody>
      </p:sp>
      <p:sp>
        <p:nvSpPr>
          <p:cNvPr id="5" name="文本框 4"/>
          <p:cNvSpPr txBox="1"/>
          <p:nvPr/>
        </p:nvSpPr>
        <p:spPr>
          <a:xfrm>
            <a:off x="4696615" y="4199565"/>
            <a:ext cx="4731081" cy="33855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       4U</a:t>
            </a:r>
            <a:r>
              <a:rPr lang="zh-CN" altLang="en-US" sz="1600" dirty="0">
                <a:latin typeface="微软雅黑" panose="020B0503020204020204" pitchFamily="34" charset="-122"/>
                <a:ea typeface="微软雅黑" panose="020B0503020204020204" pitchFamily="34" charset="-122"/>
              </a:rPr>
              <a:t>服务器</a:t>
            </a:r>
            <a:r>
              <a:rPr lang="en-US" altLang="zh-CN" sz="1600" dirty="0">
                <a:latin typeface="微软雅黑" panose="020B0503020204020204" pitchFamily="34" charset="-122"/>
                <a:ea typeface="微软雅黑" panose="020B0503020204020204" pitchFamily="34" charset="-122"/>
              </a:rPr>
              <a:t>NF5468M6</a:t>
            </a:r>
            <a:endParaRPr lang="zh-CN" altLang="en-US" sz="1600" dirty="0">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extLst>
              <p:ext uri="{D42A27DB-BD31-4B8C-83A1-F6EECF244321}">
                <p14:modId xmlns:p14="http://schemas.microsoft.com/office/powerpoint/2010/main" val="1018774451"/>
              </p:ext>
            </p:extLst>
          </p:nvPr>
        </p:nvGraphicFramePr>
        <p:xfrm>
          <a:off x="3493914" y="4500964"/>
          <a:ext cx="5933782" cy="2200961"/>
        </p:xfrm>
        <a:graphic>
          <a:graphicData uri="http://schemas.openxmlformats.org/drawingml/2006/table">
            <a:tbl>
              <a:tblPr firstRow="1" bandRow="1">
                <a:tableStyleId>{5C22544A-7EE6-4342-B048-85BDC9FD1C3A}</a:tableStyleId>
              </a:tblPr>
              <a:tblGrid>
                <a:gridCol w="907572">
                  <a:extLst>
                    <a:ext uri="{9D8B030D-6E8A-4147-A177-3AD203B41FA5}">
                      <a16:colId xmlns:a16="http://schemas.microsoft.com/office/drawing/2014/main" val="382141840"/>
                    </a:ext>
                  </a:extLst>
                </a:gridCol>
                <a:gridCol w="5026210">
                  <a:extLst>
                    <a:ext uri="{9D8B030D-6E8A-4147-A177-3AD203B41FA5}">
                      <a16:colId xmlns:a16="http://schemas.microsoft.com/office/drawing/2014/main" val="107712133"/>
                    </a:ext>
                  </a:extLst>
                </a:gridCol>
              </a:tblGrid>
              <a:tr h="346761">
                <a:tc gridSpan="2">
                  <a:txBody>
                    <a:bodyPr/>
                    <a:lstStyle/>
                    <a:p>
                      <a:pPr algn="ctr"/>
                      <a:r>
                        <a:rPr lang="en-US" altLang="zh-CN" sz="1400" dirty="0">
                          <a:latin typeface="微软雅黑" panose="020B0503020204020204" pitchFamily="34" charset="-122"/>
                          <a:ea typeface="微软雅黑" panose="020B0503020204020204" pitchFamily="34" charset="-122"/>
                        </a:rPr>
                        <a:t>4U</a:t>
                      </a:r>
                      <a:r>
                        <a:rPr lang="zh-CN" altLang="en-US" sz="1400" dirty="0">
                          <a:latin typeface="微软雅黑" panose="020B0503020204020204" pitchFamily="34" charset="-122"/>
                          <a:ea typeface="微软雅黑" panose="020B0503020204020204" pitchFamily="34" charset="-122"/>
                        </a:rPr>
                        <a:t>图形计算节点硬件配置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lang="zh-CN" altLang="en-US" dirty="0"/>
                    </a:p>
                  </a:txBody>
                  <a:tcPr/>
                </a:tc>
                <a:extLst>
                  <a:ext uri="{0D108BD9-81ED-4DB2-BD59-A6C34878D82A}">
                    <a16:rowId xmlns:a16="http://schemas.microsoft.com/office/drawing/2014/main" val="1918138576"/>
                  </a:ext>
                </a:extLst>
              </a:tr>
              <a:tr h="370840">
                <a:tc>
                  <a:txBody>
                    <a:bodyPr/>
                    <a:lstStyle/>
                    <a:p>
                      <a:r>
                        <a:rPr lang="en-US" altLang="zh-CN" sz="1400" dirty="0">
                          <a:latin typeface="微软雅黑" panose="020B0503020204020204" pitchFamily="34" charset="-122"/>
                          <a:ea typeface="微软雅黑" panose="020B0503020204020204" pitchFamily="34" charset="-122"/>
                        </a:rPr>
                        <a:t>CPU</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de-DE" altLang="zh-CN" sz="1400" dirty="0">
                          <a:latin typeface="微软雅黑" panose="020B0503020204020204" pitchFamily="34" charset="-122"/>
                          <a:ea typeface="微软雅黑" panose="020B0503020204020204" pitchFamily="34" charset="-122"/>
                        </a:rPr>
                        <a:t>Intel_8358_Xeon_2.6GHz_32C*2</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2992883"/>
                  </a:ext>
                </a:extLst>
              </a:tr>
              <a:tr h="370840">
                <a:tc>
                  <a:txBody>
                    <a:bodyPr/>
                    <a:lstStyle/>
                    <a:p>
                      <a:r>
                        <a:rPr lang="zh-CN" altLang="en-US" sz="1400" dirty="0">
                          <a:latin typeface="微软雅黑" panose="020B0503020204020204" pitchFamily="34" charset="-122"/>
                          <a:ea typeface="微软雅黑" panose="020B0503020204020204" pitchFamily="34" charset="-122"/>
                        </a:rPr>
                        <a:t>内存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Mem_32G_DDR4-3200MHz_ECC-RDIMM*8</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689228"/>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硬盘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SSD_480G_SATA_6Gpbs_2.5in_Read*2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006470"/>
                  </a:ext>
                </a:extLst>
              </a:tr>
              <a:tr h="370840">
                <a:tc>
                  <a:txBody>
                    <a:bodyPr/>
                    <a:lstStyle/>
                    <a:p>
                      <a:r>
                        <a:rPr lang="en-US" altLang="zh-CN" sz="1400" kern="1200" dirty="0">
                          <a:solidFill>
                            <a:schemeClr val="dk1"/>
                          </a:solidFill>
                          <a:latin typeface="微软雅黑" panose="020B0503020204020204" pitchFamily="34" charset="-122"/>
                          <a:ea typeface="微软雅黑" panose="020B0503020204020204" pitchFamily="34" charset="-122"/>
                          <a:cs typeface="+mn-cs"/>
                        </a:rPr>
                        <a:t>HCA</a:t>
                      </a:r>
                      <a:r>
                        <a:rPr lang="zh-CN" altLang="en-US" sz="1400" kern="1200" dirty="0">
                          <a:solidFill>
                            <a:schemeClr val="dk1"/>
                          </a:solidFill>
                          <a:latin typeface="微软雅黑" panose="020B0503020204020204" pitchFamily="34" charset="-122"/>
                          <a:ea typeface="微软雅黑" panose="020B0503020204020204" pitchFamily="34" charset="-122"/>
                          <a:cs typeface="+mn-cs"/>
                        </a:rPr>
                        <a:t>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HCA_1Port_HDR100G_MCX653105A-ECAT_M*1</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8083048"/>
                  </a:ext>
                </a:extLst>
              </a:tr>
              <a:tr h="370840">
                <a:tc>
                  <a:txBody>
                    <a:bodyPr/>
                    <a:lstStyle/>
                    <a:p>
                      <a:r>
                        <a:rPr lang="zh-CN" altLang="en-US" sz="1400" kern="1200" dirty="0">
                          <a:solidFill>
                            <a:schemeClr val="dk1"/>
                          </a:solidFill>
                          <a:latin typeface="微软雅黑" panose="020B0503020204020204" pitchFamily="34" charset="-122"/>
                          <a:ea typeface="微软雅黑" panose="020B0503020204020204" pitchFamily="34" charset="-122"/>
                          <a:cs typeface="+mn-cs"/>
                        </a:rPr>
                        <a:t>显卡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400" dirty="0">
                          <a:latin typeface="微软雅黑" panose="020B0503020204020204" pitchFamily="34" charset="-122"/>
                          <a:ea typeface="微软雅黑" panose="020B0503020204020204" pitchFamily="34" charset="-122"/>
                        </a:rPr>
                        <a:t>Nvidia_L20_48G*4</a:t>
                      </a:r>
                      <a:endParaRPr lang="zh-CN" altLang="en-US" sz="14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2914871"/>
                  </a:ext>
                </a:extLst>
              </a:tr>
            </a:tbl>
          </a:graphicData>
        </a:graphic>
      </p:graphicFrame>
      <p:pic>
        <p:nvPicPr>
          <p:cNvPr id="3" name="图片 2">
            <a:extLst>
              <a:ext uri="{FF2B5EF4-FFF2-40B4-BE49-F238E27FC236}">
                <a16:creationId xmlns:a16="http://schemas.microsoft.com/office/drawing/2014/main" id="{42C27374-29EB-DADE-E739-EA3F85121885}"/>
              </a:ext>
            </a:extLst>
          </p:cNvPr>
          <p:cNvPicPr>
            <a:picLocks noChangeAspect="1"/>
          </p:cNvPicPr>
          <p:nvPr/>
        </p:nvPicPr>
        <p:blipFill>
          <a:blip r:embed="rId3"/>
          <a:stretch>
            <a:fillRect/>
          </a:stretch>
        </p:blipFill>
        <p:spPr>
          <a:xfrm>
            <a:off x="4329333" y="2406599"/>
            <a:ext cx="3718971" cy="1771716"/>
          </a:xfrm>
          <a:prstGeom prst="rect">
            <a:avLst/>
          </a:prstGeom>
        </p:spPr>
      </p:pic>
    </p:spTree>
    <p:extLst>
      <p:ext uri="{BB962C8B-B14F-4D97-AF65-F5344CB8AC3E}">
        <p14:creationId xmlns:p14="http://schemas.microsoft.com/office/powerpoint/2010/main" val="2355491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4615822" y="3540739"/>
            <a:ext cx="7032227" cy="648051"/>
          </a:xfrm>
        </p:spPr>
        <p:txBody>
          <a:bodyPr/>
          <a:lstStyle/>
          <a:p>
            <a:pPr algn="l" defTabSz="867034" fontAlgn="auto">
              <a:spcBef>
                <a:spcPts val="0"/>
              </a:spcBef>
              <a:spcAft>
                <a:spcPts val="0"/>
              </a:spcAft>
              <a:defRPr/>
            </a:pPr>
            <a:r>
              <a:rPr lang="en-US" altLang="zh-CN" sz="4000" b="1" dirty="0" err="1">
                <a:solidFill>
                  <a:prstClr val="black">
                    <a:lumMod val="75000"/>
                    <a:lumOff val="25000"/>
                  </a:prstClr>
                </a:solidFill>
                <a:sym typeface="SF Orson Casual Heavy" panose="00000400000000000000" pitchFamily="2" charset="0"/>
              </a:rPr>
              <a:t>ClusterEngine</a:t>
            </a:r>
            <a:r>
              <a:rPr lang="zh-CN" altLang="en-US" sz="4000" b="1" dirty="0">
                <a:solidFill>
                  <a:prstClr val="black">
                    <a:lumMod val="75000"/>
                    <a:lumOff val="25000"/>
                  </a:prstClr>
                </a:solidFill>
                <a:sym typeface="SF Orson Casual Heavy" panose="00000400000000000000" pitchFamily="2" charset="0"/>
              </a:rPr>
              <a:t>产品介绍</a:t>
            </a:r>
            <a:endParaRPr lang="en-US" altLang="zh-CN" sz="4000" b="1" dirty="0">
              <a:solidFill>
                <a:prstClr val="black">
                  <a:lumMod val="75000"/>
                  <a:lumOff val="25000"/>
                </a:prst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2</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295924972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ClusterEngine</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1084509" y="741773"/>
            <a:ext cx="9616782" cy="1635766"/>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ClusterEngine</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是面向高性能计算业务，实现计算资源统一分配和调度、集群的全面监控、作业的多样化提交和管理、计费管理的精准灵活，为</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HPC</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开发构建稳定、高效、易用的全栈式平台。</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p:txBody>
      </p: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4607" y="2418795"/>
            <a:ext cx="4207141" cy="2124974"/>
          </a:xfrm>
          <a:prstGeom prst="rect">
            <a:avLst/>
          </a:prstGeom>
        </p:spPr>
      </p:pic>
      <p:grpSp>
        <p:nvGrpSpPr>
          <p:cNvPr id="22" name="组合 21"/>
          <p:cNvGrpSpPr/>
          <p:nvPr/>
        </p:nvGrpSpPr>
        <p:grpSpPr>
          <a:xfrm>
            <a:off x="1013072" y="4724959"/>
            <a:ext cx="10422864" cy="1701245"/>
            <a:chOff x="132480" y="4258449"/>
            <a:chExt cx="11934934" cy="1705177"/>
          </a:xfrm>
        </p:grpSpPr>
        <p:sp>
          <p:nvSpPr>
            <p:cNvPr id="23" name="ísľïdé"/>
            <p:cNvSpPr/>
            <p:nvPr/>
          </p:nvSpPr>
          <p:spPr>
            <a:xfrm>
              <a:off x="703816" y="4284201"/>
              <a:ext cx="774911" cy="774911"/>
            </a:xfrm>
            <a:prstGeom prst="ellipse">
              <a:avLst/>
            </a:prstGeom>
            <a:solidFill>
              <a:srgbClr val="4390C8"/>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24" name="iṧ1ídè"/>
            <p:cNvSpPr/>
            <p:nvPr/>
          </p:nvSpPr>
          <p:spPr>
            <a:xfrm>
              <a:off x="132480" y="5209944"/>
              <a:ext cx="1970836" cy="741002"/>
            </a:xfrm>
            <a:prstGeom prst="rect">
              <a:avLst/>
            </a:prstGeom>
          </p:spPr>
          <p:txBody>
            <a:bodyPr wrap="square" lIns="91440" tIns="45720" rIns="91440" bIns="45720" anchor="ctr" anchorCtr="1">
              <a:noAutofit/>
            </a:bodyPr>
            <a:lstStyle/>
            <a:p>
              <a:pPr marL="17145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资源统</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17145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一调度</a:t>
              </a:r>
              <a:endParaRPr lang="en-US" altLang="zh-CN" sz="1400" b="1"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25" name="is1iďè"/>
            <p:cNvSpPr/>
            <p:nvPr/>
          </p:nvSpPr>
          <p:spPr>
            <a:xfrm>
              <a:off x="2283104" y="4276041"/>
              <a:ext cx="774911" cy="774910"/>
            </a:xfrm>
            <a:prstGeom prst="ellipse">
              <a:avLst/>
            </a:prstGeom>
            <a:solidFill>
              <a:srgbClr val="0F6FC6"/>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26" name="îŝļîḍê"/>
            <p:cNvSpPr/>
            <p:nvPr/>
          </p:nvSpPr>
          <p:spPr>
            <a:xfrm>
              <a:off x="3926100" y="4264063"/>
              <a:ext cx="774911" cy="774911"/>
            </a:xfrm>
            <a:prstGeom prst="ellipse">
              <a:avLst/>
            </a:prstGeom>
            <a:solidFill>
              <a:srgbClr val="4390C8"/>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grpSp>
          <p:nvGrpSpPr>
            <p:cNvPr id="27" name="ïšḷiḋe"/>
            <p:cNvGrpSpPr/>
            <p:nvPr/>
          </p:nvGrpSpPr>
          <p:grpSpPr>
            <a:xfrm>
              <a:off x="5653487" y="4258449"/>
              <a:ext cx="774911" cy="774911"/>
              <a:chOff x="7926651" y="1932928"/>
              <a:chExt cx="1024172" cy="1024172"/>
            </a:xfrm>
          </p:grpSpPr>
          <p:sp>
            <p:nvSpPr>
              <p:cNvPr id="49" name="îślïde"/>
              <p:cNvSpPr/>
              <p:nvPr/>
            </p:nvSpPr>
            <p:spPr>
              <a:xfrm>
                <a:off x="7926651" y="1932928"/>
                <a:ext cx="1024172" cy="1024172"/>
              </a:xfrm>
              <a:prstGeom prst="ellipse">
                <a:avLst/>
              </a:prstGeom>
              <a:solidFill>
                <a:srgbClr val="0F6FC6"/>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50" name="îSľíďe"/>
              <p:cNvSpPr/>
              <p:nvPr/>
            </p:nvSpPr>
            <p:spPr>
              <a:xfrm>
                <a:off x="8123775" y="2163429"/>
                <a:ext cx="629922" cy="588347"/>
              </a:xfrm>
              <a:custGeom>
                <a:avLst/>
                <a:gdLst>
                  <a:gd name="connsiteX0" fmla="*/ 167572 w 609174"/>
                  <a:gd name="connsiteY0" fmla="*/ 286566 h 568969"/>
                  <a:gd name="connsiteX1" fmla="*/ 590026 w 609174"/>
                  <a:gd name="connsiteY1" fmla="*/ 286566 h 568969"/>
                  <a:gd name="connsiteX2" fmla="*/ 606477 w 609174"/>
                  <a:gd name="connsiteY2" fmla="*/ 312883 h 568969"/>
                  <a:gd name="connsiteX3" fmla="*/ 492865 w 609174"/>
                  <a:gd name="connsiteY3" fmla="*/ 542653 h 568969"/>
                  <a:gd name="connsiteX4" fmla="*/ 450419 w 609174"/>
                  <a:gd name="connsiteY4" fmla="*/ 568969 h 568969"/>
                  <a:gd name="connsiteX5" fmla="*/ 27965 w 609174"/>
                  <a:gd name="connsiteY5" fmla="*/ 568969 h 568969"/>
                  <a:gd name="connsiteX6" fmla="*/ 11605 w 609174"/>
                  <a:gd name="connsiteY6" fmla="*/ 542653 h 568969"/>
                  <a:gd name="connsiteX7" fmla="*/ 125217 w 609174"/>
                  <a:gd name="connsiteY7" fmla="*/ 312883 h 568969"/>
                  <a:gd name="connsiteX8" fmla="*/ 167572 w 609174"/>
                  <a:gd name="connsiteY8" fmla="*/ 286566 h 568969"/>
                  <a:gd name="connsiteX9" fmla="*/ 108612 w 609174"/>
                  <a:gd name="connsiteY9" fmla="*/ 78592 h 568969"/>
                  <a:gd name="connsiteX10" fmla="*/ 108612 w 609174"/>
                  <a:gd name="connsiteY10" fmla="*/ 223433 h 568969"/>
                  <a:gd name="connsiteX11" fmla="*/ 145421 w 609174"/>
                  <a:gd name="connsiteY11" fmla="*/ 223433 h 568969"/>
                  <a:gd name="connsiteX12" fmla="*/ 145421 w 609174"/>
                  <a:gd name="connsiteY12" fmla="*/ 78592 h 568969"/>
                  <a:gd name="connsiteX13" fmla="*/ 178232 w 609174"/>
                  <a:gd name="connsiteY13" fmla="*/ 32762 h 568969"/>
                  <a:gd name="connsiteX14" fmla="*/ 178232 w 609174"/>
                  <a:gd name="connsiteY14" fmla="*/ 223433 h 568969"/>
                  <a:gd name="connsiteX15" fmla="*/ 418723 w 609174"/>
                  <a:gd name="connsiteY15" fmla="*/ 223433 h 568969"/>
                  <a:gd name="connsiteX16" fmla="*/ 489252 w 609174"/>
                  <a:gd name="connsiteY16" fmla="*/ 223433 h 568969"/>
                  <a:gd name="connsiteX17" fmla="*/ 489252 w 609174"/>
                  <a:gd name="connsiteY17" fmla="*/ 32762 h 568969"/>
                  <a:gd name="connsiteX18" fmla="*/ 145421 w 609174"/>
                  <a:gd name="connsiteY18" fmla="*/ 0 h 568969"/>
                  <a:gd name="connsiteX19" fmla="*/ 521972 w 609174"/>
                  <a:gd name="connsiteY19" fmla="*/ 0 h 568969"/>
                  <a:gd name="connsiteX20" fmla="*/ 521972 w 609174"/>
                  <a:gd name="connsiteY20" fmla="*/ 256104 h 568969"/>
                  <a:gd name="connsiteX21" fmla="*/ 481254 w 609174"/>
                  <a:gd name="connsiteY21" fmla="*/ 256104 h 568969"/>
                  <a:gd name="connsiteX22" fmla="*/ 481254 w 609174"/>
                  <a:gd name="connsiteY22" fmla="*/ 257193 h 568969"/>
                  <a:gd name="connsiteX23" fmla="*/ 167598 w 609174"/>
                  <a:gd name="connsiteY23" fmla="*/ 257193 h 568969"/>
                  <a:gd name="connsiteX24" fmla="*/ 98887 w 609174"/>
                  <a:gd name="connsiteY24" fmla="*/ 299937 h 568969"/>
                  <a:gd name="connsiteX25" fmla="*/ 0 w 609174"/>
                  <a:gd name="connsiteY25" fmla="*/ 499956 h 568969"/>
                  <a:gd name="connsiteX26" fmla="*/ 0 w 609174"/>
                  <a:gd name="connsiteY26" fmla="*/ 188403 h 568969"/>
                  <a:gd name="connsiteX27" fmla="*/ 37082 w 609174"/>
                  <a:gd name="connsiteY27" fmla="*/ 151285 h 568969"/>
                  <a:gd name="connsiteX28" fmla="*/ 75892 w 609174"/>
                  <a:gd name="connsiteY28" fmla="*/ 151285 h 568969"/>
                  <a:gd name="connsiteX29" fmla="*/ 75892 w 609174"/>
                  <a:gd name="connsiteY29" fmla="*/ 45921 h 568969"/>
                  <a:gd name="connsiteX30" fmla="*/ 145421 w 609174"/>
                  <a:gd name="connsiteY30" fmla="*/ 45921 h 56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174" h="568969">
                    <a:moveTo>
                      <a:pt x="167572" y="286566"/>
                    </a:moveTo>
                    <a:lnTo>
                      <a:pt x="590026" y="286566"/>
                    </a:lnTo>
                    <a:cubicBezTo>
                      <a:pt x="606204" y="286566"/>
                      <a:pt x="613566" y="298363"/>
                      <a:pt x="606477" y="312883"/>
                    </a:cubicBezTo>
                    <a:lnTo>
                      <a:pt x="492865" y="542653"/>
                    </a:lnTo>
                    <a:cubicBezTo>
                      <a:pt x="485685" y="557172"/>
                      <a:pt x="466598" y="568969"/>
                      <a:pt x="450419" y="568969"/>
                    </a:cubicBezTo>
                    <a:lnTo>
                      <a:pt x="27965" y="568969"/>
                    </a:lnTo>
                    <a:cubicBezTo>
                      <a:pt x="11878" y="568969"/>
                      <a:pt x="4516" y="557172"/>
                      <a:pt x="11605" y="542653"/>
                    </a:cubicBezTo>
                    <a:lnTo>
                      <a:pt x="125217" y="312883"/>
                    </a:lnTo>
                    <a:cubicBezTo>
                      <a:pt x="132307" y="298363"/>
                      <a:pt x="151393" y="286566"/>
                      <a:pt x="167572" y="286566"/>
                    </a:cubicBezTo>
                    <a:close/>
                    <a:moveTo>
                      <a:pt x="108612" y="78592"/>
                    </a:moveTo>
                    <a:lnTo>
                      <a:pt x="108612" y="223433"/>
                    </a:lnTo>
                    <a:lnTo>
                      <a:pt x="145421" y="223433"/>
                    </a:lnTo>
                    <a:lnTo>
                      <a:pt x="145421" y="78592"/>
                    </a:lnTo>
                    <a:close/>
                    <a:moveTo>
                      <a:pt x="178232" y="32762"/>
                    </a:moveTo>
                    <a:lnTo>
                      <a:pt x="178232" y="223433"/>
                    </a:lnTo>
                    <a:lnTo>
                      <a:pt x="418723" y="223433"/>
                    </a:lnTo>
                    <a:lnTo>
                      <a:pt x="489252" y="223433"/>
                    </a:lnTo>
                    <a:lnTo>
                      <a:pt x="489252" y="32762"/>
                    </a:lnTo>
                    <a:close/>
                    <a:moveTo>
                      <a:pt x="145421" y="0"/>
                    </a:moveTo>
                    <a:lnTo>
                      <a:pt x="521972" y="0"/>
                    </a:lnTo>
                    <a:lnTo>
                      <a:pt x="521972" y="256104"/>
                    </a:lnTo>
                    <a:lnTo>
                      <a:pt x="481254" y="256104"/>
                    </a:lnTo>
                    <a:lnTo>
                      <a:pt x="481254" y="257193"/>
                    </a:lnTo>
                    <a:lnTo>
                      <a:pt x="167598" y="257193"/>
                    </a:lnTo>
                    <a:cubicBezTo>
                      <a:pt x="140513" y="257193"/>
                      <a:pt x="110884" y="275616"/>
                      <a:pt x="98887" y="299937"/>
                    </a:cubicBezTo>
                    <a:lnTo>
                      <a:pt x="0" y="499956"/>
                    </a:lnTo>
                    <a:lnTo>
                      <a:pt x="0" y="188403"/>
                    </a:lnTo>
                    <a:cubicBezTo>
                      <a:pt x="0" y="168074"/>
                      <a:pt x="16723" y="151285"/>
                      <a:pt x="37082" y="151285"/>
                    </a:cubicBezTo>
                    <a:lnTo>
                      <a:pt x="75892" y="151285"/>
                    </a:lnTo>
                    <a:lnTo>
                      <a:pt x="75892" y="45921"/>
                    </a:lnTo>
                    <a:lnTo>
                      <a:pt x="145421" y="45921"/>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grpSp>
        <p:cxnSp>
          <p:nvCxnSpPr>
            <p:cNvPr id="28" name="直接连接符 27"/>
            <p:cNvCxnSpPr/>
            <p:nvPr/>
          </p:nvCxnSpPr>
          <p:spPr>
            <a:xfrm>
              <a:off x="1828812" y="4828933"/>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316593" y="4871478"/>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124907" y="4871478"/>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1" name="îślïde"/>
            <p:cNvSpPr/>
            <p:nvPr/>
          </p:nvSpPr>
          <p:spPr>
            <a:xfrm>
              <a:off x="7445736" y="4284201"/>
              <a:ext cx="774910" cy="774910"/>
            </a:xfrm>
            <a:prstGeom prst="ellipse">
              <a:avLst/>
            </a:prstGeom>
            <a:solidFill>
              <a:srgbClr val="4390C8"/>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32" name="îSľíďe"/>
            <p:cNvSpPr/>
            <p:nvPr/>
          </p:nvSpPr>
          <p:spPr>
            <a:xfrm>
              <a:off x="7595508" y="4365594"/>
              <a:ext cx="476612" cy="475893"/>
            </a:xfrm>
            <a:custGeom>
              <a:avLst/>
              <a:gdLst>
                <a:gd name="connsiteX0" fmla="*/ 129243 w 607561"/>
                <a:gd name="connsiteY0" fmla="*/ 432873 h 606645"/>
                <a:gd name="connsiteX1" fmla="*/ 148582 w 607561"/>
                <a:gd name="connsiteY1" fmla="*/ 433539 h 606645"/>
                <a:gd name="connsiteX2" fmla="*/ 161134 w 607561"/>
                <a:gd name="connsiteY2" fmla="*/ 467045 h 606645"/>
                <a:gd name="connsiteX3" fmla="*/ 151876 w 607561"/>
                <a:gd name="connsiteY3" fmla="*/ 505618 h 606645"/>
                <a:gd name="connsiteX4" fmla="*/ 126505 w 607561"/>
                <a:gd name="connsiteY4" fmla="*/ 530858 h 606645"/>
                <a:gd name="connsiteX5" fmla="*/ 101224 w 607561"/>
                <a:gd name="connsiteY5" fmla="*/ 505618 h 606645"/>
                <a:gd name="connsiteX6" fmla="*/ 115111 w 607561"/>
                <a:gd name="connsiteY6" fmla="*/ 446071 h 606645"/>
                <a:gd name="connsiteX7" fmla="*/ 129243 w 607561"/>
                <a:gd name="connsiteY7" fmla="*/ 432873 h 606645"/>
                <a:gd name="connsiteX8" fmla="*/ 230233 w 607561"/>
                <a:gd name="connsiteY8" fmla="*/ 359160 h 606645"/>
                <a:gd name="connsiteX9" fmla="*/ 260234 w 607561"/>
                <a:gd name="connsiteY9" fmla="*/ 378534 h 606645"/>
                <a:gd name="connsiteX10" fmla="*/ 240738 w 607561"/>
                <a:gd name="connsiteY10" fmla="*/ 408573 h 606645"/>
                <a:gd name="connsiteX11" fmla="*/ 201033 w 607561"/>
                <a:gd name="connsiteY11" fmla="*/ 423326 h 606645"/>
                <a:gd name="connsiteX12" fmla="*/ 188392 w 607561"/>
                <a:gd name="connsiteY12" fmla="*/ 426703 h 606645"/>
                <a:gd name="connsiteX13" fmla="*/ 166492 w 607561"/>
                <a:gd name="connsiteY13" fmla="*/ 414083 h 606645"/>
                <a:gd name="connsiteX14" fmla="*/ 175661 w 607561"/>
                <a:gd name="connsiteY14" fmla="*/ 379601 h 606645"/>
                <a:gd name="connsiteX15" fmla="*/ 230233 w 607561"/>
                <a:gd name="connsiteY15" fmla="*/ 359160 h 606645"/>
                <a:gd name="connsiteX16" fmla="*/ 466517 w 607561"/>
                <a:gd name="connsiteY16" fmla="*/ 300854 h 606645"/>
                <a:gd name="connsiteX17" fmla="*/ 485587 w 607561"/>
                <a:gd name="connsiteY17" fmla="*/ 304187 h 606645"/>
                <a:gd name="connsiteX18" fmla="*/ 493425 w 607561"/>
                <a:gd name="connsiteY18" fmla="*/ 339114 h 606645"/>
                <a:gd name="connsiteX19" fmla="*/ 446133 w 607561"/>
                <a:gd name="connsiteY19" fmla="*/ 380884 h 606645"/>
                <a:gd name="connsiteX20" fmla="*/ 434376 w 607561"/>
                <a:gd name="connsiteY20" fmla="*/ 383728 h 606645"/>
                <a:gd name="connsiteX21" fmla="*/ 411933 w 607561"/>
                <a:gd name="connsiteY21" fmla="*/ 370219 h 606645"/>
                <a:gd name="connsiteX22" fmla="*/ 422620 w 607561"/>
                <a:gd name="connsiteY22" fmla="*/ 336092 h 606645"/>
                <a:gd name="connsiteX23" fmla="*/ 450586 w 607561"/>
                <a:gd name="connsiteY23" fmla="*/ 311919 h 606645"/>
                <a:gd name="connsiteX24" fmla="*/ 466517 w 607561"/>
                <a:gd name="connsiteY24" fmla="*/ 300854 h 606645"/>
                <a:gd name="connsiteX25" fmla="*/ 50624 w 607561"/>
                <a:gd name="connsiteY25" fmla="*/ 202164 h 606645"/>
                <a:gd name="connsiteX26" fmla="*/ 151905 w 607561"/>
                <a:gd name="connsiteY26" fmla="*/ 202164 h 606645"/>
                <a:gd name="connsiteX27" fmla="*/ 177181 w 607561"/>
                <a:gd name="connsiteY27" fmla="*/ 227494 h 606645"/>
                <a:gd name="connsiteX28" fmla="*/ 151905 w 607561"/>
                <a:gd name="connsiteY28" fmla="*/ 252735 h 606645"/>
                <a:gd name="connsiteX29" fmla="*/ 74209 w 607561"/>
                <a:gd name="connsiteY29" fmla="*/ 252735 h 606645"/>
                <a:gd name="connsiteX30" fmla="*/ 52493 w 607561"/>
                <a:gd name="connsiteY30" fmla="*/ 556074 h 606645"/>
                <a:gd name="connsiteX31" fmla="*/ 555070 w 607561"/>
                <a:gd name="connsiteY31" fmla="*/ 556074 h 606645"/>
                <a:gd name="connsiteX32" fmla="*/ 533354 w 607561"/>
                <a:gd name="connsiteY32" fmla="*/ 252735 h 606645"/>
                <a:gd name="connsiteX33" fmla="*/ 455658 w 607561"/>
                <a:gd name="connsiteY33" fmla="*/ 252735 h 606645"/>
                <a:gd name="connsiteX34" fmla="*/ 430382 w 607561"/>
                <a:gd name="connsiteY34" fmla="*/ 227494 h 606645"/>
                <a:gd name="connsiteX35" fmla="*/ 455658 w 607561"/>
                <a:gd name="connsiteY35" fmla="*/ 202164 h 606645"/>
                <a:gd name="connsiteX36" fmla="*/ 556939 w 607561"/>
                <a:gd name="connsiteY36" fmla="*/ 202164 h 606645"/>
                <a:gd name="connsiteX37" fmla="*/ 582125 w 607561"/>
                <a:gd name="connsiteY37" fmla="*/ 225717 h 606645"/>
                <a:gd name="connsiteX38" fmla="*/ 607490 w 607561"/>
                <a:gd name="connsiteY38" fmla="*/ 579627 h 606645"/>
                <a:gd name="connsiteX39" fmla="*/ 600726 w 607561"/>
                <a:gd name="connsiteY39" fmla="*/ 598646 h 606645"/>
                <a:gd name="connsiteX40" fmla="*/ 582214 w 607561"/>
                <a:gd name="connsiteY40" fmla="*/ 606645 h 606645"/>
                <a:gd name="connsiteX41" fmla="*/ 25260 w 607561"/>
                <a:gd name="connsiteY41" fmla="*/ 606645 h 606645"/>
                <a:gd name="connsiteX42" fmla="*/ 6748 w 607561"/>
                <a:gd name="connsiteY42" fmla="*/ 598646 h 606645"/>
                <a:gd name="connsiteX43" fmla="*/ 73 w 607561"/>
                <a:gd name="connsiteY43" fmla="*/ 579627 h 606645"/>
                <a:gd name="connsiteX44" fmla="*/ 25349 w 607561"/>
                <a:gd name="connsiteY44" fmla="*/ 225717 h 606645"/>
                <a:gd name="connsiteX45" fmla="*/ 50624 w 607561"/>
                <a:gd name="connsiteY45" fmla="*/ 202164 h 606645"/>
                <a:gd name="connsiteX46" fmla="*/ 303736 w 607561"/>
                <a:gd name="connsiteY46" fmla="*/ 101117 h 606645"/>
                <a:gd name="connsiteX47" fmla="*/ 278455 w 607561"/>
                <a:gd name="connsiteY47" fmla="*/ 126357 h 606645"/>
                <a:gd name="connsiteX48" fmla="*/ 303736 w 607561"/>
                <a:gd name="connsiteY48" fmla="*/ 151596 h 606645"/>
                <a:gd name="connsiteX49" fmla="*/ 329106 w 607561"/>
                <a:gd name="connsiteY49" fmla="*/ 126357 h 606645"/>
                <a:gd name="connsiteX50" fmla="*/ 303736 w 607561"/>
                <a:gd name="connsiteY50" fmla="*/ 101117 h 606645"/>
                <a:gd name="connsiteX51" fmla="*/ 275662 w 607561"/>
                <a:gd name="connsiteY51" fmla="*/ 3114 h 606645"/>
                <a:gd name="connsiteX52" fmla="*/ 332845 w 607561"/>
                <a:gd name="connsiteY52" fmla="*/ 3270 h 606645"/>
                <a:gd name="connsiteX53" fmla="*/ 424534 w 607561"/>
                <a:gd name="connsiteY53" fmla="*/ 88320 h 606645"/>
                <a:gd name="connsiteX54" fmla="*/ 416611 w 607561"/>
                <a:gd name="connsiteY54" fmla="*/ 182968 h 606645"/>
                <a:gd name="connsiteX55" fmla="*/ 416611 w 607561"/>
                <a:gd name="connsiteY55" fmla="*/ 183057 h 606645"/>
                <a:gd name="connsiteX56" fmla="*/ 413763 w 607561"/>
                <a:gd name="connsiteY56" fmla="*/ 188478 h 606645"/>
                <a:gd name="connsiteX57" fmla="*/ 393556 w 607561"/>
                <a:gd name="connsiteY57" fmla="*/ 231759 h 606645"/>
                <a:gd name="connsiteX58" fmla="*/ 341925 w 607561"/>
                <a:gd name="connsiteY58" fmla="*/ 353957 h 606645"/>
                <a:gd name="connsiteX59" fmla="*/ 359105 w 607561"/>
                <a:gd name="connsiteY59" fmla="*/ 352890 h 606645"/>
                <a:gd name="connsiteX60" fmla="*/ 386790 w 607561"/>
                <a:gd name="connsiteY60" fmla="*/ 375553 h 606645"/>
                <a:gd name="connsiteX61" fmla="*/ 364090 w 607561"/>
                <a:gd name="connsiteY61" fmla="*/ 403192 h 606645"/>
                <a:gd name="connsiteX62" fmla="*/ 326169 w 607561"/>
                <a:gd name="connsiteY62" fmla="*/ 404969 h 606645"/>
                <a:gd name="connsiteX63" fmla="*/ 310234 w 607561"/>
                <a:gd name="connsiteY63" fmla="*/ 404703 h 606645"/>
                <a:gd name="connsiteX64" fmla="*/ 307030 w 607561"/>
                <a:gd name="connsiteY64" fmla="*/ 403992 h 606645"/>
                <a:gd name="connsiteX65" fmla="*/ 303736 w 607561"/>
                <a:gd name="connsiteY65" fmla="*/ 404436 h 606645"/>
                <a:gd name="connsiteX66" fmla="*/ 280413 w 607561"/>
                <a:gd name="connsiteY66" fmla="*/ 388972 h 606645"/>
                <a:gd name="connsiteX67" fmla="*/ 214718 w 607561"/>
                <a:gd name="connsiteY67" fmla="*/ 233803 h 606645"/>
                <a:gd name="connsiteX68" fmla="*/ 194155 w 607561"/>
                <a:gd name="connsiteY68" fmla="*/ 189189 h 606645"/>
                <a:gd name="connsiteX69" fmla="*/ 190772 w 607561"/>
                <a:gd name="connsiteY69" fmla="*/ 182701 h 606645"/>
                <a:gd name="connsiteX70" fmla="*/ 177152 w 607561"/>
                <a:gd name="connsiteY70" fmla="*/ 126357 h 606645"/>
                <a:gd name="connsiteX71" fmla="*/ 224688 w 607561"/>
                <a:gd name="connsiteY71" fmla="*/ 27620 h 606645"/>
                <a:gd name="connsiteX72" fmla="*/ 275662 w 607561"/>
                <a:gd name="connsiteY72" fmla="*/ 3114 h 6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7561" h="606645">
                  <a:moveTo>
                    <a:pt x="129243" y="432873"/>
                  </a:moveTo>
                  <a:cubicBezTo>
                    <a:pt x="135318" y="430606"/>
                    <a:pt x="142262" y="430651"/>
                    <a:pt x="148582" y="433539"/>
                  </a:cubicBezTo>
                  <a:cubicBezTo>
                    <a:pt x="161312" y="439316"/>
                    <a:pt x="166920" y="454336"/>
                    <a:pt x="161134" y="467045"/>
                  </a:cubicBezTo>
                  <a:cubicBezTo>
                    <a:pt x="151965" y="487220"/>
                    <a:pt x="151876" y="504818"/>
                    <a:pt x="151876" y="505618"/>
                  </a:cubicBezTo>
                  <a:cubicBezTo>
                    <a:pt x="151876" y="519571"/>
                    <a:pt x="140481" y="530858"/>
                    <a:pt x="126505" y="530858"/>
                  </a:cubicBezTo>
                  <a:cubicBezTo>
                    <a:pt x="112529" y="530858"/>
                    <a:pt x="101224" y="519571"/>
                    <a:pt x="101224" y="505618"/>
                  </a:cubicBezTo>
                  <a:cubicBezTo>
                    <a:pt x="101224" y="500729"/>
                    <a:pt x="101847" y="475044"/>
                    <a:pt x="115111" y="446071"/>
                  </a:cubicBezTo>
                  <a:cubicBezTo>
                    <a:pt x="117960" y="439716"/>
                    <a:pt x="123167" y="435139"/>
                    <a:pt x="129243" y="432873"/>
                  </a:cubicBezTo>
                  <a:close/>
                  <a:moveTo>
                    <a:pt x="230233" y="359160"/>
                  </a:moveTo>
                  <a:cubicBezTo>
                    <a:pt x="243854" y="356138"/>
                    <a:pt x="257296" y="364937"/>
                    <a:pt x="260234" y="378534"/>
                  </a:cubicBezTo>
                  <a:cubicBezTo>
                    <a:pt x="263172" y="392221"/>
                    <a:pt x="254448" y="405640"/>
                    <a:pt x="240738" y="408573"/>
                  </a:cubicBezTo>
                  <a:cubicBezTo>
                    <a:pt x="225782" y="411773"/>
                    <a:pt x="212428" y="416661"/>
                    <a:pt x="201033" y="423326"/>
                  </a:cubicBezTo>
                  <a:cubicBezTo>
                    <a:pt x="197027" y="425637"/>
                    <a:pt x="192665" y="426703"/>
                    <a:pt x="188392" y="426703"/>
                  </a:cubicBezTo>
                  <a:cubicBezTo>
                    <a:pt x="179667" y="426703"/>
                    <a:pt x="171121" y="422171"/>
                    <a:pt x="166492" y="414083"/>
                  </a:cubicBezTo>
                  <a:cubicBezTo>
                    <a:pt x="159370" y="401997"/>
                    <a:pt x="163554" y="386533"/>
                    <a:pt x="175661" y="379601"/>
                  </a:cubicBezTo>
                  <a:cubicBezTo>
                    <a:pt x="191686" y="370269"/>
                    <a:pt x="210025" y="363426"/>
                    <a:pt x="230233" y="359160"/>
                  </a:cubicBezTo>
                  <a:close/>
                  <a:moveTo>
                    <a:pt x="466517" y="300854"/>
                  </a:moveTo>
                  <a:cubicBezTo>
                    <a:pt x="472851" y="299454"/>
                    <a:pt x="479709" y="300454"/>
                    <a:pt x="485587" y="304187"/>
                  </a:cubicBezTo>
                  <a:cubicBezTo>
                    <a:pt x="497433" y="311741"/>
                    <a:pt x="500906" y="327383"/>
                    <a:pt x="493425" y="339114"/>
                  </a:cubicBezTo>
                  <a:cubicBezTo>
                    <a:pt x="482559" y="356089"/>
                    <a:pt x="466617" y="370131"/>
                    <a:pt x="446133" y="380884"/>
                  </a:cubicBezTo>
                  <a:cubicBezTo>
                    <a:pt x="442392" y="382840"/>
                    <a:pt x="438384" y="383728"/>
                    <a:pt x="434376" y="383728"/>
                  </a:cubicBezTo>
                  <a:cubicBezTo>
                    <a:pt x="425292" y="383728"/>
                    <a:pt x="416475" y="378840"/>
                    <a:pt x="411933" y="370219"/>
                  </a:cubicBezTo>
                  <a:cubicBezTo>
                    <a:pt x="405431" y="357866"/>
                    <a:pt x="410240" y="342580"/>
                    <a:pt x="422620" y="336092"/>
                  </a:cubicBezTo>
                  <a:cubicBezTo>
                    <a:pt x="435178" y="329516"/>
                    <a:pt x="444618" y="321339"/>
                    <a:pt x="450586" y="311919"/>
                  </a:cubicBezTo>
                  <a:cubicBezTo>
                    <a:pt x="454371" y="306053"/>
                    <a:pt x="460182" y="302254"/>
                    <a:pt x="466517" y="300854"/>
                  </a:cubicBezTo>
                  <a:close/>
                  <a:moveTo>
                    <a:pt x="50624" y="202164"/>
                  </a:moveTo>
                  <a:lnTo>
                    <a:pt x="151905" y="202164"/>
                  </a:lnTo>
                  <a:cubicBezTo>
                    <a:pt x="165878" y="202164"/>
                    <a:pt x="177181" y="213541"/>
                    <a:pt x="177181" y="227494"/>
                  </a:cubicBezTo>
                  <a:cubicBezTo>
                    <a:pt x="177181" y="241448"/>
                    <a:pt x="165878" y="252735"/>
                    <a:pt x="151905" y="252735"/>
                  </a:cubicBezTo>
                  <a:lnTo>
                    <a:pt x="74209" y="252735"/>
                  </a:lnTo>
                  <a:lnTo>
                    <a:pt x="52493" y="556074"/>
                  </a:lnTo>
                  <a:lnTo>
                    <a:pt x="555070" y="556074"/>
                  </a:lnTo>
                  <a:lnTo>
                    <a:pt x="533354" y="252735"/>
                  </a:lnTo>
                  <a:lnTo>
                    <a:pt x="455658" y="252735"/>
                  </a:lnTo>
                  <a:cubicBezTo>
                    <a:pt x="441685" y="252735"/>
                    <a:pt x="430382" y="241448"/>
                    <a:pt x="430382" y="227494"/>
                  </a:cubicBezTo>
                  <a:cubicBezTo>
                    <a:pt x="430382" y="213541"/>
                    <a:pt x="441685" y="202164"/>
                    <a:pt x="455658" y="202164"/>
                  </a:cubicBezTo>
                  <a:lnTo>
                    <a:pt x="556939" y="202164"/>
                  </a:lnTo>
                  <a:cubicBezTo>
                    <a:pt x="570200" y="202164"/>
                    <a:pt x="581235" y="212474"/>
                    <a:pt x="582125" y="225717"/>
                  </a:cubicBezTo>
                  <a:lnTo>
                    <a:pt x="607490" y="579627"/>
                  </a:lnTo>
                  <a:cubicBezTo>
                    <a:pt x="608024" y="586648"/>
                    <a:pt x="605532" y="593491"/>
                    <a:pt x="600726" y="598646"/>
                  </a:cubicBezTo>
                  <a:cubicBezTo>
                    <a:pt x="596009" y="603801"/>
                    <a:pt x="589245" y="606645"/>
                    <a:pt x="582214" y="606645"/>
                  </a:cubicBezTo>
                  <a:lnTo>
                    <a:pt x="25260" y="606645"/>
                  </a:lnTo>
                  <a:cubicBezTo>
                    <a:pt x="18318" y="606645"/>
                    <a:pt x="11554" y="603801"/>
                    <a:pt x="6748" y="598646"/>
                  </a:cubicBezTo>
                  <a:cubicBezTo>
                    <a:pt x="1942" y="593491"/>
                    <a:pt x="-461" y="586648"/>
                    <a:pt x="73" y="579627"/>
                  </a:cubicBezTo>
                  <a:lnTo>
                    <a:pt x="25349" y="225717"/>
                  </a:lnTo>
                  <a:cubicBezTo>
                    <a:pt x="26328" y="212474"/>
                    <a:pt x="37364" y="202164"/>
                    <a:pt x="50624" y="202164"/>
                  </a:cubicBezTo>
                  <a:close/>
                  <a:moveTo>
                    <a:pt x="303736" y="101117"/>
                  </a:moveTo>
                  <a:cubicBezTo>
                    <a:pt x="289760" y="101117"/>
                    <a:pt x="278455" y="112404"/>
                    <a:pt x="278455" y="126357"/>
                  </a:cubicBezTo>
                  <a:cubicBezTo>
                    <a:pt x="278455" y="140310"/>
                    <a:pt x="289760" y="151596"/>
                    <a:pt x="303736" y="151596"/>
                  </a:cubicBezTo>
                  <a:cubicBezTo>
                    <a:pt x="317712" y="151596"/>
                    <a:pt x="329106" y="140310"/>
                    <a:pt x="329106" y="126357"/>
                  </a:cubicBezTo>
                  <a:cubicBezTo>
                    <a:pt x="329106" y="112404"/>
                    <a:pt x="317712" y="101117"/>
                    <a:pt x="303736" y="101117"/>
                  </a:cubicBezTo>
                  <a:close/>
                  <a:moveTo>
                    <a:pt x="275662" y="3114"/>
                  </a:moveTo>
                  <a:cubicBezTo>
                    <a:pt x="294100" y="-1041"/>
                    <a:pt x="313573" y="-1085"/>
                    <a:pt x="332845" y="3270"/>
                  </a:cubicBezTo>
                  <a:cubicBezTo>
                    <a:pt x="375752" y="12868"/>
                    <a:pt x="411715" y="46284"/>
                    <a:pt x="424534" y="88320"/>
                  </a:cubicBezTo>
                  <a:cubicBezTo>
                    <a:pt x="434504" y="120758"/>
                    <a:pt x="431744" y="153552"/>
                    <a:pt x="416611" y="182968"/>
                  </a:cubicBezTo>
                  <a:lnTo>
                    <a:pt x="416611" y="183057"/>
                  </a:lnTo>
                  <a:lnTo>
                    <a:pt x="413763" y="188478"/>
                  </a:lnTo>
                  <a:cubicBezTo>
                    <a:pt x="406107" y="203231"/>
                    <a:pt x="398897" y="217272"/>
                    <a:pt x="393556" y="231759"/>
                  </a:cubicBezTo>
                  <a:lnTo>
                    <a:pt x="341925" y="353957"/>
                  </a:lnTo>
                  <a:cubicBezTo>
                    <a:pt x="347800" y="353690"/>
                    <a:pt x="353675" y="353424"/>
                    <a:pt x="359105" y="352890"/>
                  </a:cubicBezTo>
                  <a:cubicBezTo>
                    <a:pt x="372903" y="351469"/>
                    <a:pt x="385455" y="361689"/>
                    <a:pt x="386790" y="375553"/>
                  </a:cubicBezTo>
                  <a:cubicBezTo>
                    <a:pt x="388214" y="389417"/>
                    <a:pt x="378066" y="401859"/>
                    <a:pt x="364090" y="403192"/>
                  </a:cubicBezTo>
                  <a:cubicBezTo>
                    <a:pt x="352251" y="404436"/>
                    <a:pt x="339432" y="404969"/>
                    <a:pt x="326169" y="404969"/>
                  </a:cubicBezTo>
                  <a:cubicBezTo>
                    <a:pt x="321006" y="404969"/>
                    <a:pt x="315754" y="404880"/>
                    <a:pt x="310234" y="404703"/>
                  </a:cubicBezTo>
                  <a:cubicBezTo>
                    <a:pt x="309077" y="404703"/>
                    <a:pt x="308098" y="404169"/>
                    <a:pt x="307030" y="403992"/>
                  </a:cubicBezTo>
                  <a:cubicBezTo>
                    <a:pt x="305873" y="404081"/>
                    <a:pt x="304893" y="404436"/>
                    <a:pt x="303736" y="404436"/>
                  </a:cubicBezTo>
                  <a:cubicBezTo>
                    <a:pt x="293588" y="404436"/>
                    <a:pt x="284419" y="398393"/>
                    <a:pt x="280413" y="388972"/>
                  </a:cubicBezTo>
                  <a:lnTo>
                    <a:pt x="214718" y="233803"/>
                  </a:lnTo>
                  <a:cubicBezTo>
                    <a:pt x="208932" y="218072"/>
                    <a:pt x="201721" y="204031"/>
                    <a:pt x="194155" y="189189"/>
                  </a:cubicBezTo>
                  <a:lnTo>
                    <a:pt x="190772" y="182701"/>
                  </a:lnTo>
                  <a:cubicBezTo>
                    <a:pt x="181781" y="165016"/>
                    <a:pt x="177152" y="145997"/>
                    <a:pt x="177152" y="126357"/>
                  </a:cubicBezTo>
                  <a:cubicBezTo>
                    <a:pt x="177152" y="87787"/>
                    <a:pt x="194511" y="51794"/>
                    <a:pt x="224688" y="27620"/>
                  </a:cubicBezTo>
                  <a:cubicBezTo>
                    <a:pt x="239821" y="15534"/>
                    <a:pt x="257224" y="7269"/>
                    <a:pt x="275662" y="3114"/>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cxnSp>
          <p:nvCxnSpPr>
            <p:cNvPr id="33" name="直接连接符 32"/>
            <p:cNvCxnSpPr/>
            <p:nvPr/>
          </p:nvCxnSpPr>
          <p:spPr>
            <a:xfrm>
              <a:off x="6874476" y="4871308"/>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4" name="îślïde"/>
            <p:cNvSpPr/>
            <p:nvPr/>
          </p:nvSpPr>
          <p:spPr>
            <a:xfrm>
              <a:off x="9065584" y="4268099"/>
              <a:ext cx="774910" cy="774910"/>
            </a:xfrm>
            <a:prstGeom prst="ellipse">
              <a:avLst/>
            </a:prstGeom>
            <a:solidFill>
              <a:srgbClr val="0F6FC6"/>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cxnSp>
          <p:nvCxnSpPr>
            <p:cNvPr id="35" name="直接连接符 34"/>
            <p:cNvCxnSpPr/>
            <p:nvPr/>
          </p:nvCxnSpPr>
          <p:spPr>
            <a:xfrm>
              <a:off x="8505314" y="4871689"/>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6" name="iṧ1ídè"/>
            <p:cNvSpPr/>
            <p:nvPr/>
          </p:nvSpPr>
          <p:spPr>
            <a:xfrm>
              <a:off x="1703512" y="5222624"/>
              <a:ext cx="1970836" cy="741002"/>
            </a:xfrm>
            <a:prstGeom prst="rect">
              <a:avLst/>
            </a:prstGeom>
          </p:spPr>
          <p:txBody>
            <a:bodyPr wrap="square" lIns="91440" tIns="45720" rIns="91440" bIns="4572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defRPr/>
              </a:pPr>
              <a:r>
                <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HPC</a:t>
              </a: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场景</a:t>
              </a:r>
              <a:endParaRPr lang="en-US" altLang="zh-CN" sz="1400" b="1"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业务监控</a:t>
              </a:r>
              <a:endParaRPr lang="en-US" altLang="zh-CN" sz="1400" b="1"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37" name="iṧ1ídè"/>
            <p:cNvSpPr/>
            <p:nvPr/>
          </p:nvSpPr>
          <p:spPr>
            <a:xfrm>
              <a:off x="3252230" y="5214287"/>
              <a:ext cx="1970836" cy="741002"/>
            </a:xfrm>
            <a:prstGeom prst="rect">
              <a:avLst/>
            </a:prstGeom>
          </p:spPr>
          <p:txBody>
            <a:bodyPr wrap="square" lIns="91440" tIns="45720" rIns="91440" bIns="4572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精细化</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记账管理</a:t>
              </a:r>
              <a:endParaRPr lang="en-US" altLang="zh-CN" sz="1400" dirty="0">
                <a:solidFill>
                  <a:srgbClr val="FF000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38" name="iṧ1ídè"/>
            <p:cNvSpPr/>
            <p:nvPr/>
          </p:nvSpPr>
          <p:spPr>
            <a:xfrm>
              <a:off x="5055181" y="5209944"/>
              <a:ext cx="1970836" cy="741002"/>
            </a:xfrm>
            <a:prstGeom prst="rect">
              <a:avLst/>
            </a:prstGeom>
          </p:spPr>
          <p:txBody>
            <a:bodyPr wrap="square" lIns="91440" tIns="45720" rIns="91440" bIns="4572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可视化</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文件管理</a:t>
              </a:r>
              <a:endParaRPr lang="en-US" altLang="zh-CN" sz="1400" b="1"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39" name="iṧ1ídè"/>
            <p:cNvSpPr/>
            <p:nvPr/>
          </p:nvSpPr>
          <p:spPr>
            <a:xfrm>
              <a:off x="6847773" y="5214287"/>
              <a:ext cx="1970836" cy="741002"/>
            </a:xfrm>
            <a:prstGeom prst="rect">
              <a:avLst/>
            </a:prstGeom>
          </p:spPr>
          <p:txBody>
            <a:bodyPr wrap="square" lIns="91440" tIns="45720" rIns="91440" bIns="45720" anchor="ctr" anchorCtr="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多维度</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统计信息</a:t>
              </a:r>
              <a:endParaRPr lang="en-US" altLang="zh-CN" sz="1400" b="1"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40" name="iṧ1ídè"/>
            <p:cNvSpPr/>
            <p:nvPr/>
          </p:nvSpPr>
          <p:spPr>
            <a:xfrm>
              <a:off x="10096578" y="5209944"/>
              <a:ext cx="1970836" cy="741002"/>
            </a:xfrm>
            <a:prstGeom prst="rect">
              <a:avLst/>
            </a:prstGeom>
          </p:spPr>
          <p:txBody>
            <a:bodyPr wrap="square" lIns="91440" tIns="45720" rIns="91440" bIns="45720" anchor="ctr" anchorCtr="1">
              <a:noAutofit/>
            </a:bodyPr>
            <a:lstStyle/>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快捷的</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集群管理工具</a:t>
              </a:r>
              <a:endParaRPr lang="en-US" altLang="zh-CN" sz="1400" dirty="0">
                <a:solidFill>
                  <a:srgbClr val="FF000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41" name="îślïde"/>
            <p:cNvSpPr/>
            <p:nvPr/>
          </p:nvSpPr>
          <p:spPr>
            <a:xfrm>
              <a:off x="10726013" y="4258450"/>
              <a:ext cx="774910" cy="774910"/>
            </a:xfrm>
            <a:prstGeom prst="ellipse">
              <a:avLst/>
            </a:prstGeom>
            <a:solidFill>
              <a:srgbClr val="4390C8"/>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cxnSp>
          <p:nvCxnSpPr>
            <p:cNvPr id="42" name="直接连接符 41"/>
            <p:cNvCxnSpPr/>
            <p:nvPr/>
          </p:nvCxnSpPr>
          <p:spPr>
            <a:xfrm>
              <a:off x="10194414" y="4834367"/>
              <a:ext cx="0" cy="1011339"/>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3" name="iṧ1ídè"/>
            <p:cNvSpPr/>
            <p:nvPr/>
          </p:nvSpPr>
          <p:spPr>
            <a:xfrm>
              <a:off x="8466890" y="5211763"/>
              <a:ext cx="1970836" cy="741003"/>
            </a:xfrm>
            <a:prstGeom prst="rect">
              <a:avLst/>
            </a:prstGeom>
          </p:spPr>
          <p:txBody>
            <a:bodyPr wrap="square" lIns="91440" tIns="45720" rIns="91440" bIns="45720" anchor="ctr" anchorCtr="1">
              <a:noAutofit/>
            </a:bodyPr>
            <a:lstStyle/>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集群租户</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a:p>
              <a:pPr marL="0" lvl="1" algn="ctr">
                <a:lnSpc>
                  <a:spcPct val="150000"/>
                </a:lnSpc>
                <a:defRPr/>
              </a:pPr>
              <a:r>
                <a:rPr lang="zh-CN" altLang="en-US"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rPr>
                <a:t>统一管理运维</a:t>
              </a:r>
              <a:endParaRPr lang="en-US" altLang="zh-CN" sz="1400" dirty="0">
                <a:solidFill>
                  <a:srgbClr val="0070C0"/>
                </a:solidFill>
                <a:latin typeface="微軟正黑體 Light" panose="020B0304030504040204" pitchFamily="34" charset="-120"/>
                <a:ea typeface="微软雅黑" pitchFamily="34" charset="-122"/>
                <a:sym typeface="微軟正黑體 Light" panose="020B0304030504040204" pitchFamily="34" charset="-120"/>
              </a:endParaRPr>
            </a:p>
          </p:txBody>
        </p:sp>
        <p:sp>
          <p:nvSpPr>
            <p:cNvPr id="44" name="îş1íḋé"/>
            <p:cNvSpPr/>
            <p:nvPr/>
          </p:nvSpPr>
          <p:spPr bwMode="auto">
            <a:xfrm>
              <a:off x="2384271" y="4406180"/>
              <a:ext cx="571624" cy="494485"/>
            </a:xfrm>
            <a:custGeom>
              <a:avLst/>
              <a:gdLst>
                <a:gd name="connsiteX0" fmla="*/ 45654 w 608748"/>
                <a:gd name="connsiteY0" fmla="*/ 373097 h 435684"/>
                <a:gd name="connsiteX1" fmla="*/ 43981 w 608748"/>
                <a:gd name="connsiteY1" fmla="*/ 394821 h 435684"/>
                <a:gd name="connsiteX2" fmla="*/ 83419 w 608748"/>
                <a:gd name="connsiteY2" fmla="*/ 394821 h 435684"/>
                <a:gd name="connsiteX3" fmla="*/ 82224 w 608748"/>
                <a:gd name="connsiteY3" fmla="*/ 373336 h 435684"/>
                <a:gd name="connsiteX4" fmla="*/ 45654 w 608748"/>
                <a:gd name="connsiteY4" fmla="*/ 373097 h 435684"/>
                <a:gd name="connsiteX5" fmla="*/ 510541 w 608748"/>
                <a:gd name="connsiteY5" fmla="*/ 369755 h 435684"/>
                <a:gd name="connsiteX6" fmla="*/ 514843 w 608748"/>
                <a:gd name="connsiteY6" fmla="*/ 399595 h 435684"/>
                <a:gd name="connsiteX7" fmla="*/ 549501 w 608748"/>
                <a:gd name="connsiteY7" fmla="*/ 400789 h 435684"/>
                <a:gd name="connsiteX8" fmla="*/ 549979 w 608748"/>
                <a:gd name="connsiteY8" fmla="*/ 400789 h 435684"/>
                <a:gd name="connsiteX9" fmla="*/ 560496 w 608748"/>
                <a:gd name="connsiteY9" fmla="*/ 400550 h 435684"/>
                <a:gd name="connsiteX10" fmla="*/ 559062 w 608748"/>
                <a:gd name="connsiteY10" fmla="*/ 377872 h 435684"/>
                <a:gd name="connsiteX11" fmla="*/ 529902 w 608748"/>
                <a:gd name="connsiteY11" fmla="*/ 374768 h 435684"/>
                <a:gd name="connsiteX12" fmla="*/ 510541 w 608748"/>
                <a:gd name="connsiteY12" fmla="*/ 369755 h 435684"/>
                <a:gd name="connsiteX13" fmla="*/ 99911 w 608748"/>
                <a:gd name="connsiteY13" fmla="*/ 361161 h 435684"/>
                <a:gd name="connsiteX14" fmla="*/ 100389 w 608748"/>
                <a:gd name="connsiteY14" fmla="*/ 364265 h 435684"/>
                <a:gd name="connsiteX15" fmla="*/ 102062 w 608748"/>
                <a:gd name="connsiteY15" fmla="*/ 398879 h 435684"/>
                <a:gd name="connsiteX16" fmla="*/ 159665 w 608748"/>
                <a:gd name="connsiteY16" fmla="*/ 393389 h 435684"/>
                <a:gd name="connsiteX17" fmla="*/ 161099 w 608748"/>
                <a:gd name="connsiteY17" fmla="*/ 373336 h 435684"/>
                <a:gd name="connsiteX18" fmla="*/ 106604 w 608748"/>
                <a:gd name="connsiteY18" fmla="*/ 369755 h 435684"/>
                <a:gd name="connsiteX19" fmla="*/ 101584 w 608748"/>
                <a:gd name="connsiteY19" fmla="*/ 361161 h 435684"/>
                <a:gd name="connsiteX20" fmla="*/ 99911 w 608748"/>
                <a:gd name="connsiteY20" fmla="*/ 361161 h 435684"/>
                <a:gd name="connsiteX21" fmla="*/ 313353 w 608748"/>
                <a:gd name="connsiteY21" fmla="*/ 337050 h 435684"/>
                <a:gd name="connsiteX22" fmla="*/ 481381 w 608748"/>
                <a:gd name="connsiteY22" fmla="*/ 339676 h 435684"/>
                <a:gd name="connsiteX23" fmla="*/ 563364 w 608748"/>
                <a:gd name="connsiteY23" fmla="*/ 346361 h 435684"/>
                <a:gd name="connsiteX24" fmla="*/ 607343 w 608748"/>
                <a:gd name="connsiteY24" fmla="*/ 356387 h 435684"/>
                <a:gd name="connsiteX25" fmla="*/ 603040 w 608748"/>
                <a:gd name="connsiteY25" fmla="*/ 368800 h 435684"/>
                <a:gd name="connsiteX26" fmla="*/ 605670 w 608748"/>
                <a:gd name="connsiteY26" fmla="*/ 423706 h 435684"/>
                <a:gd name="connsiteX27" fmla="*/ 603518 w 608748"/>
                <a:gd name="connsiteY27" fmla="*/ 428481 h 435684"/>
                <a:gd name="connsiteX28" fmla="*/ 599694 w 608748"/>
                <a:gd name="connsiteY28" fmla="*/ 433255 h 435684"/>
                <a:gd name="connsiteX29" fmla="*/ 593958 w 608748"/>
                <a:gd name="connsiteY29" fmla="*/ 435404 h 435684"/>
                <a:gd name="connsiteX30" fmla="*/ 587504 w 608748"/>
                <a:gd name="connsiteY30" fmla="*/ 433971 h 435684"/>
                <a:gd name="connsiteX31" fmla="*/ 576510 w 608748"/>
                <a:gd name="connsiteY31" fmla="*/ 433971 h 435684"/>
                <a:gd name="connsiteX32" fmla="*/ 556671 w 608748"/>
                <a:gd name="connsiteY32" fmla="*/ 435165 h 435684"/>
                <a:gd name="connsiteX33" fmla="*/ 469430 w 608748"/>
                <a:gd name="connsiteY33" fmla="*/ 430152 h 435684"/>
                <a:gd name="connsiteX34" fmla="*/ 287300 w 608748"/>
                <a:gd name="connsiteY34" fmla="*/ 429913 h 435684"/>
                <a:gd name="connsiteX35" fmla="*/ 92024 w 608748"/>
                <a:gd name="connsiteY35" fmla="*/ 432539 h 435684"/>
                <a:gd name="connsiteX36" fmla="*/ 9802 w 608748"/>
                <a:gd name="connsiteY36" fmla="*/ 417499 h 435684"/>
                <a:gd name="connsiteX37" fmla="*/ 9324 w 608748"/>
                <a:gd name="connsiteY37" fmla="*/ 416067 h 435684"/>
                <a:gd name="connsiteX38" fmla="*/ 1914 w 608748"/>
                <a:gd name="connsiteY38" fmla="*/ 382646 h 435684"/>
                <a:gd name="connsiteX39" fmla="*/ 5978 w 608748"/>
                <a:gd name="connsiteY39" fmla="*/ 349941 h 435684"/>
                <a:gd name="connsiteX40" fmla="*/ 11475 w 608748"/>
                <a:gd name="connsiteY40" fmla="*/ 348748 h 435684"/>
                <a:gd name="connsiteX41" fmla="*/ 68122 w 608748"/>
                <a:gd name="connsiteY41" fmla="*/ 343496 h 435684"/>
                <a:gd name="connsiteX42" fmla="*/ 147236 w 608748"/>
                <a:gd name="connsiteY42" fmla="*/ 341347 h 435684"/>
                <a:gd name="connsiteX43" fmla="*/ 313353 w 608748"/>
                <a:gd name="connsiteY43" fmla="*/ 337050 h 435684"/>
                <a:gd name="connsiteX44" fmla="*/ 305725 w 608748"/>
                <a:gd name="connsiteY44" fmla="*/ 194800 h 435684"/>
                <a:gd name="connsiteX45" fmla="*/ 313852 w 608748"/>
                <a:gd name="connsiteY45" fmla="*/ 202909 h 435684"/>
                <a:gd name="connsiteX46" fmla="*/ 242384 w 608748"/>
                <a:gd name="connsiteY46" fmla="*/ 215551 h 435684"/>
                <a:gd name="connsiteX47" fmla="*/ 181434 w 608748"/>
                <a:gd name="connsiteY47" fmla="*/ 214835 h 435684"/>
                <a:gd name="connsiteX48" fmla="*/ 158248 w 608748"/>
                <a:gd name="connsiteY48" fmla="*/ 212689 h 435684"/>
                <a:gd name="connsiteX49" fmla="*/ 156814 w 608748"/>
                <a:gd name="connsiteY49" fmla="*/ 207441 h 435684"/>
                <a:gd name="connsiteX50" fmla="*/ 226131 w 608748"/>
                <a:gd name="connsiteY50" fmla="*/ 200763 h 435684"/>
                <a:gd name="connsiteX51" fmla="*/ 305725 w 608748"/>
                <a:gd name="connsiteY51" fmla="*/ 194800 h 435684"/>
                <a:gd name="connsiteX52" fmla="*/ 371445 w 608748"/>
                <a:gd name="connsiteY52" fmla="*/ 167566 h 435684"/>
                <a:gd name="connsiteX53" fmla="*/ 374552 w 608748"/>
                <a:gd name="connsiteY53" fmla="*/ 214345 h 435684"/>
                <a:gd name="connsiteX54" fmla="*/ 374552 w 608748"/>
                <a:gd name="connsiteY54" fmla="*/ 214583 h 435684"/>
                <a:gd name="connsiteX55" fmla="*/ 402752 w 608748"/>
                <a:gd name="connsiteY55" fmla="*/ 211719 h 435684"/>
                <a:gd name="connsiteX56" fmla="*/ 438600 w 608748"/>
                <a:gd name="connsiteY56" fmla="*/ 212197 h 435684"/>
                <a:gd name="connsiteX57" fmla="*/ 436449 w 608748"/>
                <a:gd name="connsiteY57" fmla="*/ 170669 h 435684"/>
                <a:gd name="connsiteX58" fmla="*/ 371445 w 608748"/>
                <a:gd name="connsiteY58" fmla="*/ 167566 h 435684"/>
                <a:gd name="connsiteX59" fmla="*/ 364753 w 608748"/>
                <a:gd name="connsiteY59" fmla="*/ 149189 h 435684"/>
                <a:gd name="connsiteX60" fmla="*/ 444336 w 608748"/>
                <a:gd name="connsiteY60" fmla="*/ 152530 h 435684"/>
                <a:gd name="connsiteX61" fmla="*/ 452939 w 608748"/>
                <a:gd name="connsiteY61" fmla="*/ 159213 h 435684"/>
                <a:gd name="connsiteX62" fmla="*/ 457241 w 608748"/>
                <a:gd name="connsiteY62" fmla="*/ 218641 h 435684"/>
                <a:gd name="connsiteX63" fmla="*/ 448638 w 608748"/>
                <a:gd name="connsiteY63" fmla="*/ 229858 h 435684"/>
                <a:gd name="connsiteX64" fmla="*/ 373596 w 608748"/>
                <a:gd name="connsiteY64" fmla="*/ 231051 h 435684"/>
                <a:gd name="connsiteX65" fmla="*/ 367143 w 608748"/>
                <a:gd name="connsiteY65" fmla="*/ 218879 h 435684"/>
                <a:gd name="connsiteX66" fmla="*/ 364036 w 608748"/>
                <a:gd name="connsiteY66" fmla="*/ 215777 h 435684"/>
                <a:gd name="connsiteX67" fmla="*/ 354716 w 608748"/>
                <a:gd name="connsiteY67" fmla="*/ 159213 h 435684"/>
                <a:gd name="connsiteX68" fmla="*/ 364753 w 608748"/>
                <a:gd name="connsiteY68" fmla="*/ 149189 h 435684"/>
                <a:gd name="connsiteX69" fmla="*/ 307408 w 608748"/>
                <a:gd name="connsiteY69" fmla="*/ 137304 h 435684"/>
                <a:gd name="connsiteX70" fmla="*/ 309320 w 608748"/>
                <a:gd name="connsiteY70" fmla="*/ 150398 h 435684"/>
                <a:gd name="connsiteX71" fmla="*/ 229019 w 608748"/>
                <a:gd name="connsiteY71" fmla="*/ 157064 h 435684"/>
                <a:gd name="connsiteX72" fmla="*/ 147522 w 608748"/>
                <a:gd name="connsiteY72" fmla="*/ 152540 h 435684"/>
                <a:gd name="connsiteX73" fmla="*/ 148717 w 608748"/>
                <a:gd name="connsiteY73" fmla="*/ 144208 h 435684"/>
                <a:gd name="connsiteX74" fmla="*/ 229019 w 608748"/>
                <a:gd name="connsiteY74" fmla="*/ 143494 h 435684"/>
                <a:gd name="connsiteX75" fmla="*/ 307408 w 608748"/>
                <a:gd name="connsiteY75" fmla="*/ 137304 h 435684"/>
                <a:gd name="connsiteX76" fmla="*/ 284408 w 608748"/>
                <a:gd name="connsiteY76" fmla="*/ 89243 h 435684"/>
                <a:gd name="connsiteX77" fmla="*/ 319608 w 608748"/>
                <a:gd name="connsiteY77" fmla="*/ 94320 h 435684"/>
                <a:gd name="connsiteX78" fmla="*/ 319608 w 608748"/>
                <a:gd name="connsiteY78" fmla="*/ 105550 h 435684"/>
                <a:gd name="connsiteX79" fmla="*/ 289727 w 608748"/>
                <a:gd name="connsiteY79" fmla="*/ 109134 h 435684"/>
                <a:gd name="connsiteX80" fmla="*/ 239766 w 608748"/>
                <a:gd name="connsiteY80" fmla="*/ 109372 h 435684"/>
                <a:gd name="connsiteX81" fmla="*/ 155859 w 608748"/>
                <a:gd name="connsiteY81" fmla="*/ 108895 h 435684"/>
                <a:gd name="connsiteX82" fmla="*/ 154664 w 608748"/>
                <a:gd name="connsiteY82" fmla="*/ 109134 h 435684"/>
                <a:gd name="connsiteX83" fmla="*/ 141995 w 608748"/>
                <a:gd name="connsiteY83" fmla="*/ 107700 h 435684"/>
                <a:gd name="connsiteX84" fmla="*/ 141995 w 608748"/>
                <a:gd name="connsiteY84" fmla="*/ 96470 h 435684"/>
                <a:gd name="connsiteX85" fmla="*/ 247415 w 608748"/>
                <a:gd name="connsiteY85" fmla="*/ 92408 h 435684"/>
                <a:gd name="connsiteX86" fmla="*/ 284408 w 608748"/>
                <a:gd name="connsiteY86" fmla="*/ 89243 h 435684"/>
                <a:gd name="connsiteX87" fmla="*/ 430971 w 608748"/>
                <a:gd name="connsiteY87" fmla="*/ 43221 h 435684"/>
                <a:gd name="connsiteX88" fmla="*/ 289939 w 608748"/>
                <a:gd name="connsiteY88" fmla="*/ 47757 h 435684"/>
                <a:gd name="connsiteX89" fmla="*/ 159186 w 608748"/>
                <a:gd name="connsiteY89" fmla="*/ 55395 h 435684"/>
                <a:gd name="connsiteX90" fmla="*/ 117116 w 608748"/>
                <a:gd name="connsiteY90" fmla="*/ 58259 h 435684"/>
                <a:gd name="connsiteX91" fmla="*/ 116877 w 608748"/>
                <a:gd name="connsiteY91" fmla="*/ 58259 h 435684"/>
                <a:gd name="connsiteX92" fmla="*/ 110423 w 608748"/>
                <a:gd name="connsiteY92" fmla="*/ 183574 h 435684"/>
                <a:gd name="connsiteX93" fmla="*/ 110423 w 608748"/>
                <a:gd name="connsiteY93" fmla="*/ 285020 h 435684"/>
                <a:gd name="connsiteX94" fmla="*/ 135761 w 608748"/>
                <a:gd name="connsiteY94" fmla="*/ 283111 h 435684"/>
                <a:gd name="connsiteX95" fmla="*/ 248108 w 608748"/>
                <a:gd name="connsiteY95" fmla="*/ 281440 h 435684"/>
                <a:gd name="connsiteX96" fmla="*/ 387944 w 608748"/>
                <a:gd name="connsiteY96" fmla="*/ 285736 h 435684"/>
                <a:gd name="connsiteX97" fmla="*/ 454157 w 608748"/>
                <a:gd name="connsiteY97" fmla="*/ 282395 h 435684"/>
                <a:gd name="connsiteX98" fmla="*/ 499813 w 608748"/>
                <a:gd name="connsiteY98" fmla="*/ 281201 h 435684"/>
                <a:gd name="connsiteX99" fmla="*/ 498618 w 608748"/>
                <a:gd name="connsiteY99" fmla="*/ 243248 h 435684"/>
                <a:gd name="connsiteX100" fmla="*/ 498140 w 608748"/>
                <a:gd name="connsiteY100" fmla="*/ 175220 h 435684"/>
                <a:gd name="connsiteX101" fmla="*/ 495988 w 608748"/>
                <a:gd name="connsiteY101" fmla="*/ 91438 h 435684"/>
                <a:gd name="connsiteX102" fmla="*/ 496227 w 608748"/>
                <a:gd name="connsiteY102" fmla="*/ 62556 h 435684"/>
                <a:gd name="connsiteX103" fmla="*/ 495988 w 608748"/>
                <a:gd name="connsiteY103" fmla="*/ 52530 h 435684"/>
                <a:gd name="connsiteX104" fmla="*/ 495749 w 608748"/>
                <a:gd name="connsiteY104" fmla="*/ 51337 h 435684"/>
                <a:gd name="connsiteX105" fmla="*/ 494554 w 608748"/>
                <a:gd name="connsiteY105" fmla="*/ 50382 h 435684"/>
                <a:gd name="connsiteX106" fmla="*/ 431927 w 608748"/>
                <a:gd name="connsiteY106" fmla="*/ 43221 h 435684"/>
                <a:gd name="connsiteX107" fmla="*/ 430971 w 608748"/>
                <a:gd name="connsiteY107" fmla="*/ 43221 h 435684"/>
                <a:gd name="connsiteX108" fmla="*/ 531665 w 608748"/>
                <a:gd name="connsiteY108" fmla="*/ 346 h 435684"/>
                <a:gd name="connsiteX109" fmla="*/ 555508 w 608748"/>
                <a:gd name="connsiteY109" fmla="*/ 10043 h 435684"/>
                <a:gd name="connsiteX110" fmla="*/ 569612 w 608748"/>
                <a:gd name="connsiteY110" fmla="*/ 77355 h 435684"/>
                <a:gd name="connsiteX111" fmla="*/ 566743 w 608748"/>
                <a:gd name="connsiteY111" fmla="*/ 163047 h 435684"/>
                <a:gd name="connsiteX112" fmla="*/ 565070 w 608748"/>
                <a:gd name="connsiteY112" fmla="*/ 300058 h 435684"/>
                <a:gd name="connsiteX113" fmla="*/ 476148 w 608748"/>
                <a:gd name="connsiteY113" fmla="*/ 334430 h 435684"/>
                <a:gd name="connsiteX114" fmla="*/ 402286 w 608748"/>
                <a:gd name="connsiteY114" fmla="*/ 329656 h 435684"/>
                <a:gd name="connsiteX115" fmla="*/ 301891 w 608748"/>
                <a:gd name="connsiteY115" fmla="*/ 331089 h 435684"/>
                <a:gd name="connsiteX116" fmla="*/ 136000 w 608748"/>
                <a:gd name="connsiteY116" fmla="*/ 330134 h 435684"/>
                <a:gd name="connsiteX117" fmla="*/ 57596 w 608748"/>
                <a:gd name="connsiteY117" fmla="*/ 319392 h 435684"/>
                <a:gd name="connsiteX118" fmla="*/ 50186 w 608748"/>
                <a:gd name="connsiteY118" fmla="*/ 311993 h 435684"/>
                <a:gd name="connsiteX119" fmla="*/ 47556 w 608748"/>
                <a:gd name="connsiteY119" fmla="*/ 306980 h 435684"/>
                <a:gd name="connsiteX120" fmla="*/ 52098 w 608748"/>
                <a:gd name="connsiteY120" fmla="*/ 297194 h 435684"/>
                <a:gd name="connsiteX121" fmla="*/ 52337 w 608748"/>
                <a:gd name="connsiteY121" fmla="*/ 83561 h 435684"/>
                <a:gd name="connsiteX122" fmla="*/ 64528 w 608748"/>
                <a:gd name="connsiteY122" fmla="*/ 16965 h 435684"/>
                <a:gd name="connsiteX123" fmla="*/ 135522 w 608748"/>
                <a:gd name="connsiteY123" fmla="*/ 2882 h 435684"/>
                <a:gd name="connsiteX124" fmla="*/ 379817 w 608748"/>
                <a:gd name="connsiteY124" fmla="*/ 7656 h 435684"/>
                <a:gd name="connsiteX125" fmla="*/ 505311 w 608748"/>
                <a:gd name="connsiteY125" fmla="*/ 495 h 435684"/>
                <a:gd name="connsiteX126" fmla="*/ 531665 w 608748"/>
                <a:gd name="connsiteY126" fmla="*/ 346 h 43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8748" h="435684">
                  <a:moveTo>
                    <a:pt x="45654" y="373097"/>
                  </a:moveTo>
                  <a:cubicBezTo>
                    <a:pt x="44220" y="380259"/>
                    <a:pt x="43503" y="387421"/>
                    <a:pt x="43981" y="394821"/>
                  </a:cubicBezTo>
                  <a:cubicBezTo>
                    <a:pt x="57127" y="395537"/>
                    <a:pt x="70273" y="395060"/>
                    <a:pt x="83419" y="394821"/>
                  </a:cubicBezTo>
                  <a:cubicBezTo>
                    <a:pt x="82702" y="387659"/>
                    <a:pt x="82463" y="380498"/>
                    <a:pt x="82224" y="373336"/>
                  </a:cubicBezTo>
                  <a:cubicBezTo>
                    <a:pt x="70034" y="373336"/>
                    <a:pt x="57844" y="373097"/>
                    <a:pt x="45654" y="373097"/>
                  </a:cubicBezTo>
                  <a:close/>
                  <a:moveTo>
                    <a:pt x="510541" y="369755"/>
                  </a:moveTo>
                  <a:cubicBezTo>
                    <a:pt x="513887" y="379065"/>
                    <a:pt x="514604" y="389330"/>
                    <a:pt x="514843" y="399595"/>
                  </a:cubicBezTo>
                  <a:cubicBezTo>
                    <a:pt x="526316" y="399834"/>
                    <a:pt x="538028" y="400550"/>
                    <a:pt x="549501" y="400789"/>
                  </a:cubicBezTo>
                  <a:cubicBezTo>
                    <a:pt x="549740" y="400789"/>
                    <a:pt x="549740" y="400789"/>
                    <a:pt x="549979" y="400789"/>
                  </a:cubicBezTo>
                  <a:cubicBezTo>
                    <a:pt x="553564" y="400312"/>
                    <a:pt x="556910" y="400073"/>
                    <a:pt x="560496" y="400550"/>
                  </a:cubicBezTo>
                  <a:cubicBezTo>
                    <a:pt x="559778" y="392911"/>
                    <a:pt x="559300" y="385511"/>
                    <a:pt x="559062" y="377872"/>
                  </a:cubicBezTo>
                  <a:cubicBezTo>
                    <a:pt x="549501" y="378349"/>
                    <a:pt x="538745" y="375723"/>
                    <a:pt x="529902" y="374768"/>
                  </a:cubicBezTo>
                  <a:cubicBezTo>
                    <a:pt x="522970" y="373813"/>
                    <a:pt x="516039" y="372142"/>
                    <a:pt x="510541" y="369755"/>
                  </a:cubicBezTo>
                  <a:close/>
                  <a:moveTo>
                    <a:pt x="99911" y="361161"/>
                  </a:moveTo>
                  <a:cubicBezTo>
                    <a:pt x="100150" y="362116"/>
                    <a:pt x="100389" y="363071"/>
                    <a:pt x="100389" y="364265"/>
                  </a:cubicBezTo>
                  <a:cubicBezTo>
                    <a:pt x="100389" y="375723"/>
                    <a:pt x="100628" y="387421"/>
                    <a:pt x="102062" y="398879"/>
                  </a:cubicBezTo>
                  <a:cubicBezTo>
                    <a:pt x="121184" y="396969"/>
                    <a:pt x="140544" y="395060"/>
                    <a:pt x="159665" y="393389"/>
                  </a:cubicBezTo>
                  <a:cubicBezTo>
                    <a:pt x="160143" y="386704"/>
                    <a:pt x="160621" y="380020"/>
                    <a:pt x="161099" y="373336"/>
                  </a:cubicBezTo>
                  <a:cubicBezTo>
                    <a:pt x="142934" y="372859"/>
                    <a:pt x="124530" y="372381"/>
                    <a:pt x="106604" y="369755"/>
                  </a:cubicBezTo>
                  <a:cubicBezTo>
                    <a:pt x="101823" y="369039"/>
                    <a:pt x="100628" y="364742"/>
                    <a:pt x="101584" y="361161"/>
                  </a:cubicBezTo>
                  <a:cubicBezTo>
                    <a:pt x="100867" y="361161"/>
                    <a:pt x="100389" y="361161"/>
                    <a:pt x="99911" y="361161"/>
                  </a:cubicBezTo>
                  <a:close/>
                  <a:moveTo>
                    <a:pt x="313353" y="337050"/>
                  </a:moveTo>
                  <a:cubicBezTo>
                    <a:pt x="369282" y="336573"/>
                    <a:pt x="425451" y="336573"/>
                    <a:pt x="481381" y="339676"/>
                  </a:cubicBezTo>
                  <a:cubicBezTo>
                    <a:pt x="508868" y="341347"/>
                    <a:pt x="536116" y="343257"/>
                    <a:pt x="563364" y="346361"/>
                  </a:cubicBezTo>
                  <a:cubicBezTo>
                    <a:pt x="574598" y="347554"/>
                    <a:pt x="600172" y="345406"/>
                    <a:pt x="607343" y="356387"/>
                  </a:cubicBezTo>
                  <a:cubicBezTo>
                    <a:pt x="610689" y="361639"/>
                    <a:pt x="607582" y="366652"/>
                    <a:pt x="603040" y="368800"/>
                  </a:cubicBezTo>
                  <a:cubicBezTo>
                    <a:pt x="607343" y="386704"/>
                    <a:pt x="604953" y="405563"/>
                    <a:pt x="605670" y="423706"/>
                  </a:cubicBezTo>
                  <a:cubicBezTo>
                    <a:pt x="605670" y="425855"/>
                    <a:pt x="604714" y="427287"/>
                    <a:pt x="603518" y="428481"/>
                  </a:cubicBezTo>
                  <a:cubicBezTo>
                    <a:pt x="602801" y="430390"/>
                    <a:pt x="601367" y="432061"/>
                    <a:pt x="599694" y="433255"/>
                  </a:cubicBezTo>
                  <a:cubicBezTo>
                    <a:pt x="598021" y="434687"/>
                    <a:pt x="596348" y="434926"/>
                    <a:pt x="593958" y="435404"/>
                  </a:cubicBezTo>
                  <a:cubicBezTo>
                    <a:pt x="591568" y="436120"/>
                    <a:pt x="589417" y="435404"/>
                    <a:pt x="587504" y="433971"/>
                  </a:cubicBezTo>
                  <a:cubicBezTo>
                    <a:pt x="583919" y="433971"/>
                    <a:pt x="578661" y="433971"/>
                    <a:pt x="576510" y="433971"/>
                  </a:cubicBezTo>
                  <a:cubicBezTo>
                    <a:pt x="569817" y="434449"/>
                    <a:pt x="563364" y="435165"/>
                    <a:pt x="556671" y="435165"/>
                  </a:cubicBezTo>
                  <a:cubicBezTo>
                    <a:pt x="527511" y="434926"/>
                    <a:pt x="498590" y="431584"/>
                    <a:pt x="469430" y="430152"/>
                  </a:cubicBezTo>
                  <a:cubicBezTo>
                    <a:pt x="408720" y="427287"/>
                    <a:pt x="348010" y="428242"/>
                    <a:pt x="287300" y="429913"/>
                  </a:cubicBezTo>
                  <a:cubicBezTo>
                    <a:pt x="222526" y="431584"/>
                    <a:pt x="156797" y="437552"/>
                    <a:pt x="92024" y="432539"/>
                  </a:cubicBezTo>
                  <a:cubicBezTo>
                    <a:pt x="74097" y="431107"/>
                    <a:pt x="18646" y="437075"/>
                    <a:pt x="9802" y="417499"/>
                  </a:cubicBezTo>
                  <a:cubicBezTo>
                    <a:pt x="9563" y="417022"/>
                    <a:pt x="9324" y="416545"/>
                    <a:pt x="9324" y="416067"/>
                  </a:cubicBezTo>
                  <a:cubicBezTo>
                    <a:pt x="3587" y="406280"/>
                    <a:pt x="2870" y="393389"/>
                    <a:pt x="1914" y="382646"/>
                  </a:cubicBezTo>
                  <a:cubicBezTo>
                    <a:pt x="958" y="374530"/>
                    <a:pt x="-3583" y="354716"/>
                    <a:pt x="5978" y="349941"/>
                  </a:cubicBezTo>
                  <a:cubicBezTo>
                    <a:pt x="8129" y="348748"/>
                    <a:pt x="10041" y="348509"/>
                    <a:pt x="11475" y="348748"/>
                  </a:cubicBezTo>
                  <a:cubicBezTo>
                    <a:pt x="28445" y="341586"/>
                    <a:pt x="49957" y="343973"/>
                    <a:pt x="68122" y="343496"/>
                  </a:cubicBezTo>
                  <a:cubicBezTo>
                    <a:pt x="94653" y="342780"/>
                    <a:pt x="120945" y="342064"/>
                    <a:pt x="147236" y="341347"/>
                  </a:cubicBezTo>
                  <a:cubicBezTo>
                    <a:pt x="202688" y="339676"/>
                    <a:pt x="257901" y="337767"/>
                    <a:pt x="313353" y="337050"/>
                  </a:cubicBezTo>
                  <a:close/>
                  <a:moveTo>
                    <a:pt x="305725" y="194800"/>
                  </a:moveTo>
                  <a:cubicBezTo>
                    <a:pt x="310984" y="193607"/>
                    <a:pt x="314808" y="198139"/>
                    <a:pt x="313852" y="202909"/>
                  </a:cubicBezTo>
                  <a:cubicBezTo>
                    <a:pt x="310745" y="222468"/>
                    <a:pt x="255052" y="215789"/>
                    <a:pt x="242384" y="215551"/>
                  </a:cubicBezTo>
                  <a:cubicBezTo>
                    <a:pt x="222067" y="215551"/>
                    <a:pt x="201750" y="215074"/>
                    <a:pt x="181434" y="214835"/>
                  </a:cubicBezTo>
                  <a:cubicBezTo>
                    <a:pt x="176175" y="214597"/>
                    <a:pt x="159683" y="212450"/>
                    <a:pt x="158248" y="212689"/>
                  </a:cubicBezTo>
                  <a:cubicBezTo>
                    <a:pt x="154902" y="213166"/>
                    <a:pt x="153707" y="208634"/>
                    <a:pt x="156814" y="207441"/>
                  </a:cubicBezTo>
                  <a:cubicBezTo>
                    <a:pt x="177370" y="199331"/>
                    <a:pt x="203185" y="201478"/>
                    <a:pt x="226131" y="200763"/>
                  </a:cubicBezTo>
                  <a:cubicBezTo>
                    <a:pt x="250511" y="200286"/>
                    <a:pt x="288516" y="198854"/>
                    <a:pt x="305725" y="194800"/>
                  </a:cubicBezTo>
                  <a:close/>
                  <a:moveTo>
                    <a:pt x="371445" y="167566"/>
                  </a:moveTo>
                  <a:cubicBezTo>
                    <a:pt x="372162" y="183079"/>
                    <a:pt x="373118" y="198831"/>
                    <a:pt x="374552" y="214345"/>
                  </a:cubicBezTo>
                  <a:cubicBezTo>
                    <a:pt x="374552" y="214345"/>
                    <a:pt x="374552" y="214345"/>
                    <a:pt x="374552" y="214583"/>
                  </a:cubicBezTo>
                  <a:cubicBezTo>
                    <a:pt x="383394" y="211481"/>
                    <a:pt x="393671" y="211958"/>
                    <a:pt x="402752" y="211719"/>
                  </a:cubicBezTo>
                  <a:cubicBezTo>
                    <a:pt x="414702" y="211719"/>
                    <a:pt x="426651" y="211958"/>
                    <a:pt x="438600" y="212197"/>
                  </a:cubicBezTo>
                  <a:cubicBezTo>
                    <a:pt x="437405" y="198354"/>
                    <a:pt x="438122" y="184511"/>
                    <a:pt x="436449" y="170669"/>
                  </a:cubicBezTo>
                  <a:cubicBezTo>
                    <a:pt x="414702" y="170907"/>
                    <a:pt x="392715" y="171623"/>
                    <a:pt x="371445" y="167566"/>
                  </a:cubicBezTo>
                  <a:close/>
                  <a:moveTo>
                    <a:pt x="364753" y="149189"/>
                  </a:moveTo>
                  <a:cubicBezTo>
                    <a:pt x="391281" y="153962"/>
                    <a:pt x="417569" y="152769"/>
                    <a:pt x="444336" y="152530"/>
                  </a:cubicBezTo>
                  <a:cubicBezTo>
                    <a:pt x="447921" y="152530"/>
                    <a:pt x="452222" y="155394"/>
                    <a:pt x="452939" y="159213"/>
                  </a:cubicBezTo>
                  <a:cubicBezTo>
                    <a:pt x="456524" y="179022"/>
                    <a:pt x="453656" y="198831"/>
                    <a:pt x="457241" y="218641"/>
                  </a:cubicBezTo>
                  <a:cubicBezTo>
                    <a:pt x="458197" y="224130"/>
                    <a:pt x="454851" y="229858"/>
                    <a:pt x="448638" y="229858"/>
                  </a:cubicBezTo>
                  <a:cubicBezTo>
                    <a:pt x="423544" y="229619"/>
                    <a:pt x="398450" y="231290"/>
                    <a:pt x="373596" y="231051"/>
                  </a:cubicBezTo>
                  <a:cubicBezTo>
                    <a:pt x="367382" y="231051"/>
                    <a:pt x="364036" y="223653"/>
                    <a:pt x="367143" y="218879"/>
                  </a:cubicBezTo>
                  <a:cubicBezTo>
                    <a:pt x="365709" y="218402"/>
                    <a:pt x="364514" y="217447"/>
                    <a:pt x="364036" y="215777"/>
                  </a:cubicBezTo>
                  <a:cubicBezTo>
                    <a:pt x="357823" y="197638"/>
                    <a:pt x="357345" y="178067"/>
                    <a:pt x="354716" y="159213"/>
                  </a:cubicBezTo>
                  <a:cubicBezTo>
                    <a:pt x="353760" y="153007"/>
                    <a:pt x="358301" y="148234"/>
                    <a:pt x="364753" y="149189"/>
                  </a:cubicBezTo>
                  <a:close/>
                  <a:moveTo>
                    <a:pt x="307408" y="137304"/>
                  </a:moveTo>
                  <a:cubicBezTo>
                    <a:pt x="314339" y="138018"/>
                    <a:pt x="317207" y="148493"/>
                    <a:pt x="309320" y="150398"/>
                  </a:cubicBezTo>
                  <a:cubicBezTo>
                    <a:pt x="283748" y="156111"/>
                    <a:pt x="255069" y="155873"/>
                    <a:pt x="229019" y="157064"/>
                  </a:cubicBezTo>
                  <a:cubicBezTo>
                    <a:pt x="201534" y="158254"/>
                    <a:pt x="174528" y="158254"/>
                    <a:pt x="147522" y="152540"/>
                  </a:cubicBezTo>
                  <a:cubicBezTo>
                    <a:pt x="142981" y="151350"/>
                    <a:pt x="143937" y="143732"/>
                    <a:pt x="148717" y="144208"/>
                  </a:cubicBezTo>
                  <a:cubicBezTo>
                    <a:pt x="175484" y="146589"/>
                    <a:pt x="202251" y="146112"/>
                    <a:pt x="229019" y="143494"/>
                  </a:cubicBezTo>
                  <a:cubicBezTo>
                    <a:pt x="254352" y="141113"/>
                    <a:pt x="282075" y="134685"/>
                    <a:pt x="307408" y="137304"/>
                  </a:cubicBezTo>
                  <a:close/>
                  <a:moveTo>
                    <a:pt x="284408" y="89243"/>
                  </a:moveTo>
                  <a:cubicBezTo>
                    <a:pt x="297915" y="88466"/>
                    <a:pt x="311122" y="89064"/>
                    <a:pt x="319608" y="94320"/>
                  </a:cubicBezTo>
                  <a:cubicBezTo>
                    <a:pt x="323911" y="96948"/>
                    <a:pt x="323911" y="102921"/>
                    <a:pt x="319608" y="105550"/>
                  </a:cubicBezTo>
                  <a:cubicBezTo>
                    <a:pt x="311002" y="111045"/>
                    <a:pt x="299767" y="109134"/>
                    <a:pt x="289727" y="109134"/>
                  </a:cubicBezTo>
                  <a:cubicBezTo>
                    <a:pt x="272994" y="109134"/>
                    <a:pt x="256499" y="109134"/>
                    <a:pt x="239766" y="109372"/>
                  </a:cubicBezTo>
                  <a:cubicBezTo>
                    <a:pt x="212036" y="109372"/>
                    <a:pt x="183589" y="111045"/>
                    <a:pt x="155859" y="108895"/>
                  </a:cubicBezTo>
                  <a:cubicBezTo>
                    <a:pt x="155381" y="109134"/>
                    <a:pt x="154903" y="109134"/>
                    <a:pt x="154664" y="109134"/>
                  </a:cubicBezTo>
                  <a:cubicBezTo>
                    <a:pt x="150361" y="108656"/>
                    <a:pt x="146297" y="108178"/>
                    <a:pt x="141995" y="107700"/>
                  </a:cubicBezTo>
                  <a:cubicBezTo>
                    <a:pt x="134584" y="107700"/>
                    <a:pt x="135062" y="97426"/>
                    <a:pt x="141995" y="96470"/>
                  </a:cubicBezTo>
                  <a:cubicBezTo>
                    <a:pt x="176657" y="92408"/>
                    <a:pt x="212514" y="93364"/>
                    <a:pt x="247415" y="92408"/>
                  </a:cubicBezTo>
                  <a:cubicBezTo>
                    <a:pt x="257097" y="92170"/>
                    <a:pt x="270902" y="90019"/>
                    <a:pt x="284408" y="89243"/>
                  </a:cubicBezTo>
                  <a:close/>
                  <a:moveTo>
                    <a:pt x="430971" y="43221"/>
                  </a:moveTo>
                  <a:cubicBezTo>
                    <a:pt x="383880" y="41550"/>
                    <a:pt x="334878" y="45847"/>
                    <a:pt x="289939" y="47757"/>
                  </a:cubicBezTo>
                  <a:cubicBezTo>
                    <a:pt x="246195" y="49666"/>
                    <a:pt x="202691" y="52530"/>
                    <a:pt x="159186" y="55395"/>
                  </a:cubicBezTo>
                  <a:cubicBezTo>
                    <a:pt x="145322" y="56350"/>
                    <a:pt x="131219" y="57304"/>
                    <a:pt x="117116" y="58259"/>
                  </a:cubicBezTo>
                  <a:cubicBezTo>
                    <a:pt x="117116" y="58259"/>
                    <a:pt x="117116" y="58259"/>
                    <a:pt x="116877" y="58259"/>
                  </a:cubicBezTo>
                  <a:cubicBezTo>
                    <a:pt x="112813" y="100031"/>
                    <a:pt x="109467" y="141087"/>
                    <a:pt x="110423" y="183574"/>
                  </a:cubicBezTo>
                  <a:cubicBezTo>
                    <a:pt x="111140" y="216753"/>
                    <a:pt x="120223" y="252796"/>
                    <a:pt x="110423" y="285020"/>
                  </a:cubicBezTo>
                  <a:cubicBezTo>
                    <a:pt x="119028" y="284304"/>
                    <a:pt x="127394" y="283827"/>
                    <a:pt x="135761" y="283111"/>
                  </a:cubicBezTo>
                  <a:cubicBezTo>
                    <a:pt x="172811" y="279769"/>
                    <a:pt x="211057" y="279530"/>
                    <a:pt x="248108" y="281440"/>
                  </a:cubicBezTo>
                  <a:cubicBezTo>
                    <a:pt x="295198" y="284065"/>
                    <a:pt x="340854" y="287885"/>
                    <a:pt x="387944" y="285736"/>
                  </a:cubicBezTo>
                  <a:cubicBezTo>
                    <a:pt x="409935" y="284782"/>
                    <a:pt x="431927" y="283349"/>
                    <a:pt x="454157" y="282395"/>
                  </a:cubicBezTo>
                  <a:cubicBezTo>
                    <a:pt x="468260" y="281917"/>
                    <a:pt x="485471" y="278814"/>
                    <a:pt x="499813" y="281201"/>
                  </a:cubicBezTo>
                  <a:cubicBezTo>
                    <a:pt x="497423" y="269028"/>
                    <a:pt x="498857" y="255183"/>
                    <a:pt x="498618" y="243248"/>
                  </a:cubicBezTo>
                  <a:cubicBezTo>
                    <a:pt x="497901" y="220572"/>
                    <a:pt x="498140" y="197896"/>
                    <a:pt x="498140" y="175220"/>
                  </a:cubicBezTo>
                  <a:cubicBezTo>
                    <a:pt x="498140" y="147293"/>
                    <a:pt x="495988" y="119365"/>
                    <a:pt x="495988" y="91438"/>
                  </a:cubicBezTo>
                  <a:cubicBezTo>
                    <a:pt x="495988" y="81651"/>
                    <a:pt x="496466" y="72104"/>
                    <a:pt x="496227" y="62556"/>
                  </a:cubicBezTo>
                  <a:cubicBezTo>
                    <a:pt x="496227" y="59214"/>
                    <a:pt x="496227" y="55872"/>
                    <a:pt x="495988" y="52530"/>
                  </a:cubicBezTo>
                  <a:cubicBezTo>
                    <a:pt x="495749" y="52053"/>
                    <a:pt x="495749" y="51814"/>
                    <a:pt x="495749" y="51337"/>
                  </a:cubicBezTo>
                  <a:cubicBezTo>
                    <a:pt x="495271" y="51098"/>
                    <a:pt x="495032" y="50860"/>
                    <a:pt x="494554" y="50382"/>
                  </a:cubicBezTo>
                  <a:cubicBezTo>
                    <a:pt x="474475" y="46324"/>
                    <a:pt x="453440" y="44176"/>
                    <a:pt x="431927" y="43221"/>
                  </a:cubicBezTo>
                  <a:cubicBezTo>
                    <a:pt x="431688" y="43221"/>
                    <a:pt x="431449" y="43221"/>
                    <a:pt x="430971" y="43221"/>
                  </a:cubicBezTo>
                  <a:close/>
                  <a:moveTo>
                    <a:pt x="531665" y="346"/>
                  </a:moveTo>
                  <a:cubicBezTo>
                    <a:pt x="541107" y="1151"/>
                    <a:pt x="550130" y="3598"/>
                    <a:pt x="555508" y="10043"/>
                  </a:cubicBezTo>
                  <a:cubicBezTo>
                    <a:pt x="569851" y="27229"/>
                    <a:pt x="570568" y="56350"/>
                    <a:pt x="569612" y="77355"/>
                  </a:cubicBezTo>
                  <a:cubicBezTo>
                    <a:pt x="568655" y="105998"/>
                    <a:pt x="565070" y="134403"/>
                    <a:pt x="566743" y="163047"/>
                  </a:cubicBezTo>
                  <a:cubicBezTo>
                    <a:pt x="569612" y="206251"/>
                    <a:pt x="578934" y="258048"/>
                    <a:pt x="565070" y="300058"/>
                  </a:cubicBezTo>
                  <a:cubicBezTo>
                    <a:pt x="552640" y="337772"/>
                    <a:pt x="509613" y="335624"/>
                    <a:pt x="476148" y="334430"/>
                  </a:cubicBezTo>
                  <a:cubicBezTo>
                    <a:pt x="451289" y="333714"/>
                    <a:pt x="426907" y="331089"/>
                    <a:pt x="402286" y="329656"/>
                  </a:cubicBezTo>
                  <a:cubicBezTo>
                    <a:pt x="369060" y="327985"/>
                    <a:pt x="335356" y="331089"/>
                    <a:pt x="301891" y="331089"/>
                  </a:cubicBezTo>
                  <a:cubicBezTo>
                    <a:pt x="246674" y="330850"/>
                    <a:pt x="191217" y="331089"/>
                    <a:pt x="136000" y="330134"/>
                  </a:cubicBezTo>
                  <a:cubicBezTo>
                    <a:pt x="118550" y="329656"/>
                    <a:pt x="77436" y="332759"/>
                    <a:pt x="57596" y="319392"/>
                  </a:cubicBezTo>
                  <a:cubicBezTo>
                    <a:pt x="53771" y="320108"/>
                    <a:pt x="49230" y="317005"/>
                    <a:pt x="50186" y="311993"/>
                  </a:cubicBezTo>
                  <a:cubicBezTo>
                    <a:pt x="48990" y="310561"/>
                    <a:pt x="48273" y="308890"/>
                    <a:pt x="47556" y="306980"/>
                  </a:cubicBezTo>
                  <a:cubicBezTo>
                    <a:pt x="45883" y="302206"/>
                    <a:pt x="48512" y="298626"/>
                    <a:pt x="52098" y="297194"/>
                  </a:cubicBezTo>
                  <a:cubicBezTo>
                    <a:pt x="61181" y="227495"/>
                    <a:pt x="58074" y="153260"/>
                    <a:pt x="52337" y="83561"/>
                  </a:cubicBezTo>
                  <a:cubicBezTo>
                    <a:pt x="50186" y="60169"/>
                    <a:pt x="47078" y="35106"/>
                    <a:pt x="64528" y="16965"/>
                  </a:cubicBezTo>
                  <a:cubicBezTo>
                    <a:pt x="80543" y="17"/>
                    <a:pt x="114725" y="4075"/>
                    <a:pt x="135522" y="2882"/>
                  </a:cubicBezTo>
                  <a:cubicBezTo>
                    <a:pt x="217272" y="-2370"/>
                    <a:pt x="298305" y="11236"/>
                    <a:pt x="379817" y="7656"/>
                  </a:cubicBezTo>
                  <a:cubicBezTo>
                    <a:pt x="421648" y="5746"/>
                    <a:pt x="463479" y="733"/>
                    <a:pt x="505311" y="495"/>
                  </a:cubicBezTo>
                  <a:cubicBezTo>
                    <a:pt x="512362" y="376"/>
                    <a:pt x="522223" y="-460"/>
                    <a:pt x="531665" y="34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45" name="îş1íḋé"/>
            <p:cNvSpPr/>
            <p:nvPr/>
          </p:nvSpPr>
          <p:spPr bwMode="auto">
            <a:xfrm>
              <a:off x="9150033" y="4371162"/>
              <a:ext cx="571624" cy="474301"/>
            </a:xfrm>
            <a:custGeom>
              <a:avLst/>
              <a:gdLst>
                <a:gd name="T0" fmla="*/ 2077 w 4154"/>
                <a:gd name="T1" fmla="*/ 0 h 3452"/>
                <a:gd name="T2" fmla="*/ 0 w 4154"/>
                <a:gd name="T3" fmla="*/ 2077 h 3452"/>
                <a:gd name="T4" fmla="*/ 471 w 4154"/>
                <a:gd name="T5" fmla="*/ 3394 h 3452"/>
                <a:gd name="T6" fmla="*/ 1388 w 4154"/>
                <a:gd name="T7" fmla="*/ 2578 h 3452"/>
                <a:gd name="T8" fmla="*/ 2077 w 4154"/>
                <a:gd name="T9" fmla="*/ 2856 h 3452"/>
                <a:gd name="T10" fmla="*/ 2753 w 4154"/>
                <a:gd name="T11" fmla="*/ 2590 h 3452"/>
                <a:gd name="T12" fmla="*/ 3633 w 4154"/>
                <a:gd name="T13" fmla="*/ 3452 h 3452"/>
                <a:gd name="T14" fmla="*/ 4154 w 4154"/>
                <a:gd name="T15" fmla="*/ 2077 h 3452"/>
                <a:gd name="T16" fmla="*/ 2077 w 4154"/>
                <a:gd name="T17" fmla="*/ 0 h 3452"/>
                <a:gd name="T18" fmla="*/ 2077 w 4154"/>
                <a:gd name="T19" fmla="*/ 2610 h 3452"/>
                <a:gd name="T20" fmla="*/ 1708 w 4154"/>
                <a:gd name="T21" fmla="*/ 2510 h 3452"/>
                <a:gd name="T22" fmla="*/ 1257 w 4154"/>
                <a:gd name="T23" fmla="*/ 1688 h 3452"/>
                <a:gd name="T24" fmla="*/ 2077 w 4154"/>
                <a:gd name="T25" fmla="*/ 765 h 3452"/>
                <a:gd name="T26" fmla="*/ 2897 w 4154"/>
                <a:gd name="T27" fmla="*/ 1688 h 3452"/>
                <a:gd name="T28" fmla="*/ 2433 w 4154"/>
                <a:gd name="T29" fmla="*/ 2517 h 3452"/>
                <a:gd name="T30" fmla="*/ 2077 w 4154"/>
                <a:gd name="T31" fmla="*/ 2610 h 3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54" h="3452">
                  <a:moveTo>
                    <a:pt x="2077" y="0"/>
                  </a:moveTo>
                  <a:cubicBezTo>
                    <a:pt x="930" y="0"/>
                    <a:pt x="0" y="930"/>
                    <a:pt x="0" y="2077"/>
                  </a:cubicBezTo>
                  <a:cubicBezTo>
                    <a:pt x="0" y="2577"/>
                    <a:pt x="177" y="3035"/>
                    <a:pt x="471" y="3394"/>
                  </a:cubicBezTo>
                  <a:cubicBezTo>
                    <a:pt x="516" y="3030"/>
                    <a:pt x="879" y="2723"/>
                    <a:pt x="1388" y="2578"/>
                  </a:cubicBezTo>
                  <a:cubicBezTo>
                    <a:pt x="1574" y="2751"/>
                    <a:pt x="1814" y="2856"/>
                    <a:pt x="2077" y="2856"/>
                  </a:cubicBezTo>
                  <a:cubicBezTo>
                    <a:pt x="2333" y="2856"/>
                    <a:pt x="2569" y="2756"/>
                    <a:pt x="2753" y="2590"/>
                  </a:cubicBezTo>
                  <a:cubicBezTo>
                    <a:pt x="3266" y="2748"/>
                    <a:pt x="3621" y="3074"/>
                    <a:pt x="3633" y="3452"/>
                  </a:cubicBezTo>
                  <a:cubicBezTo>
                    <a:pt x="3957" y="3086"/>
                    <a:pt x="4154" y="2604"/>
                    <a:pt x="4154" y="2077"/>
                  </a:cubicBezTo>
                  <a:cubicBezTo>
                    <a:pt x="4154" y="930"/>
                    <a:pt x="3224" y="0"/>
                    <a:pt x="2077" y="0"/>
                  </a:cubicBezTo>
                  <a:close/>
                  <a:moveTo>
                    <a:pt x="2077" y="2610"/>
                  </a:moveTo>
                  <a:cubicBezTo>
                    <a:pt x="1944" y="2610"/>
                    <a:pt x="1819" y="2573"/>
                    <a:pt x="1708" y="2510"/>
                  </a:cubicBezTo>
                  <a:cubicBezTo>
                    <a:pt x="1441" y="2358"/>
                    <a:pt x="1257" y="2047"/>
                    <a:pt x="1257" y="1688"/>
                  </a:cubicBezTo>
                  <a:cubicBezTo>
                    <a:pt x="1257" y="1179"/>
                    <a:pt x="1625" y="765"/>
                    <a:pt x="2077" y="765"/>
                  </a:cubicBezTo>
                  <a:cubicBezTo>
                    <a:pt x="2529" y="765"/>
                    <a:pt x="2897" y="1179"/>
                    <a:pt x="2897" y="1688"/>
                  </a:cubicBezTo>
                  <a:cubicBezTo>
                    <a:pt x="2897" y="2053"/>
                    <a:pt x="2707" y="2368"/>
                    <a:pt x="2433" y="2517"/>
                  </a:cubicBezTo>
                  <a:cubicBezTo>
                    <a:pt x="2325" y="2576"/>
                    <a:pt x="2205" y="2610"/>
                    <a:pt x="2077" y="261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schemeClr val="bg1"/>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pic>
          <p:nvPicPr>
            <p:cNvPr id="46" name="图片 45"/>
            <p:cNvPicPr>
              <a:picLocks noChangeAspect="1"/>
            </p:cNvPicPr>
            <p:nvPr/>
          </p:nvPicPr>
          <p:blipFill>
            <a:blip r:embed="rId4" cstate="screen">
              <a:lum bright="70000" contrast="-70000"/>
              <a:extLst>
                <a:ext uri="{28A0092B-C50C-407E-A947-70E740481C1C}">
                  <a14:useLocalDpi xmlns:a14="http://schemas.microsoft.com/office/drawing/2010/main"/>
                </a:ext>
              </a:extLst>
            </a:blip>
            <a:stretch>
              <a:fillRect/>
            </a:stretch>
          </p:blipFill>
          <p:spPr>
            <a:xfrm>
              <a:off x="878248" y="4432851"/>
              <a:ext cx="488946" cy="488946"/>
            </a:xfrm>
            <a:prstGeom prst="rect">
              <a:avLst/>
            </a:prstGeom>
          </p:spPr>
        </p:pic>
        <p:sp>
          <p:nvSpPr>
            <p:cNvPr id="47" name="Oval 5"/>
            <p:cNvSpPr/>
            <p:nvPr/>
          </p:nvSpPr>
          <p:spPr>
            <a:xfrm>
              <a:off x="10918432" y="4343462"/>
              <a:ext cx="424965" cy="527846"/>
            </a:xfrm>
            <a:custGeom>
              <a:avLst/>
              <a:gdLst>
                <a:gd name="T0" fmla="*/ 10897 w 12452"/>
                <a:gd name="T1" fmla="*/ 11147 h 11148"/>
                <a:gd name="T2" fmla="*/ 9764 w 12452"/>
                <a:gd name="T3" fmla="*/ 11147 h 11148"/>
                <a:gd name="T4" fmla="*/ 8302 w 12452"/>
                <a:gd name="T5" fmla="*/ 9594 h 11148"/>
                <a:gd name="T6" fmla="*/ 8302 w 12452"/>
                <a:gd name="T7" fmla="*/ 8297 h 11148"/>
                <a:gd name="T8" fmla="*/ 9764 w 12452"/>
                <a:gd name="T9" fmla="*/ 6746 h 11148"/>
                <a:gd name="T10" fmla="*/ 10226 w 12452"/>
                <a:gd name="T11" fmla="*/ 6746 h 11148"/>
                <a:gd name="T12" fmla="*/ 9700 w 12452"/>
                <a:gd name="T13" fmla="*/ 6505 h 11148"/>
                <a:gd name="T14" fmla="*/ 3252 w 12452"/>
                <a:gd name="T15" fmla="*/ 6505 h 11148"/>
                <a:gd name="T16" fmla="*/ 2722 w 12452"/>
                <a:gd name="T17" fmla="*/ 6749 h 11148"/>
                <a:gd name="T18" fmla="*/ 4151 w 12452"/>
                <a:gd name="T19" fmla="*/ 8297 h 11148"/>
                <a:gd name="T20" fmla="*/ 4151 w 12452"/>
                <a:gd name="T21" fmla="*/ 9594 h 11148"/>
                <a:gd name="T22" fmla="*/ 2688 w 12452"/>
                <a:gd name="T23" fmla="*/ 11147 h 11148"/>
                <a:gd name="T24" fmla="*/ 1555 w 12452"/>
                <a:gd name="T25" fmla="*/ 11147 h 11148"/>
                <a:gd name="T26" fmla="*/ 0 w 12452"/>
                <a:gd name="T27" fmla="*/ 9581 h 11148"/>
                <a:gd name="T28" fmla="*/ 0 w 12452"/>
                <a:gd name="T29" fmla="*/ 8312 h 11148"/>
                <a:gd name="T30" fmla="*/ 1555 w 12452"/>
                <a:gd name="T31" fmla="*/ 6745 h 11148"/>
                <a:gd name="T32" fmla="*/ 1775 w 12452"/>
                <a:gd name="T33" fmla="*/ 6745 h 11148"/>
                <a:gd name="T34" fmla="*/ 3252 w 12452"/>
                <a:gd name="T35" fmla="*/ 5650 h 11148"/>
                <a:gd name="T36" fmla="*/ 5708 w 12452"/>
                <a:gd name="T37" fmla="*/ 5650 h 11148"/>
                <a:gd name="T38" fmla="*/ 5708 w 12452"/>
                <a:gd name="T39" fmla="*/ 4971 h 11148"/>
                <a:gd name="T40" fmla="*/ 5144 w 12452"/>
                <a:gd name="T41" fmla="*/ 4971 h 11148"/>
                <a:gd name="T42" fmla="*/ 3632 w 12452"/>
                <a:gd name="T43" fmla="*/ 3628 h 11148"/>
                <a:gd name="T44" fmla="*/ 3632 w 12452"/>
                <a:gd name="T45" fmla="*/ 1553 h 11148"/>
                <a:gd name="T46" fmla="*/ 5144 w 12452"/>
                <a:gd name="T47" fmla="*/ 0 h 11148"/>
                <a:gd name="T48" fmla="*/ 7126 w 12452"/>
                <a:gd name="T49" fmla="*/ 0 h 11148"/>
                <a:gd name="T50" fmla="*/ 8561 w 12452"/>
                <a:gd name="T51" fmla="*/ 1553 h 11148"/>
                <a:gd name="T52" fmla="*/ 8561 w 12452"/>
                <a:gd name="T53" fmla="*/ 3369 h 11148"/>
                <a:gd name="T54" fmla="*/ 7126 w 12452"/>
                <a:gd name="T55" fmla="*/ 4971 h 11148"/>
                <a:gd name="T56" fmla="*/ 6486 w 12452"/>
                <a:gd name="T57" fmla="*/ 4971 h 11148"/>
                <a:gd name="T58" fmla="*/ 6486 w 12452"/>
                <a:gd name="T59" fmla="*/ 5651 h 11148"/>
                <a:gd name="T60" fmla="*/ 9700 w 12452"/>
                <a:gd name="T61" fmla="*/ 5651 h 11148"/>
                <a:gd name="T62" fmla="*/ 11188 w 12452"/>
                <a:gd name="T63" fmla="*/ 6776 h 11148"/>
                <a:gd name="T64" fmla="*/ 12452 w 12452"/>
                <a:gd name="T65" fmla="*/ 8313 h 11148"/>
                <a:gd name="T66" fmla="*/ 12452 w 12452"/>
                <a:gd name="T67" fmla="*/ 9582 h 11148"/>
                <a:gd name="T68" fmla="*/ 10898 w 12452"/>
                <a:gd name="T69" fmla="*/ 11148 h 11148"/>
                <a:gd name="T70" fmla="*/ 10897 w 12452"/>
                <a:gd name="T71" fmla="*/ 11147 h 1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452" h="11148">
                  <a:moveTo>
                    <a:pt x="10897" y="11147"/>
                  </a:moveTo>
                  <a:lnTo>
                    <a:pt x="9764" y="11147"/>
                  </a:lnTo>
                  <a:cubicBezTo>
                    <a:pt x="8907" y="11147"/>
                    <a:pt x="8302" y="10668"/>
                    <a:pt x="8302" y="9594"/>
                  </a:cubicBezTo>
                  <a:lnTo>
                    <a:pt x="8302" y="8297"/>
                  </a:lnTo>
                  <a:cubicBezTo>
                    <a:pt x="8302" y="7434"/>
                    <a:pt x="8907" y="6746"/>
                    <a:pt x="9764" y="6746"/>
                  </a:cubicBezTo>
                  <a:lnTo>
                    <a:pt x="10226" y="6746"/>
                  </a:lnTo>
                  <a:cubicBezTo>
                    <a:pt x="10096" y="6599"/>
                    <a:pt x="9909" y="6505"/>
                    <a:pt x="9700" y="6505"/>
                  </a:cubicBezTo>
                  <a:lnTo>
                    <a:pt x="3252" y="6505"/>
                  </a:lnTo>
                  <a:cubicBezTo>
                    <a:pt x="3040" y="6505"/>
                    <a:pt x="2851" y="6600"/>
                    <a:pt x="2722" y="6749"/>
                  </a:cubicBezTo>
                  <a:cubicBezTo>
                    <a:pt x="3561" y="6768"/>
                    <a:pt x="4151" y="7446"/>
                    <a:pt x="4151" y="8297"/>
                  </a:cubicBezTo>
                  <a:lnTo>
                    <a:pt x="4151" y="9594"/>
                  </a:lnTo>
                  <a:cubicBezTo>
                    <a:pt x="4151" y="10457"/>
                    <a:pt x="3545" y="11147"/>
                    <a:pt x="2688" y="11147"/>
                  </a:cubicBezTo>
                  <a:lnTo>
                    <a:pt x="1555" y="11147"/>
                  </a:lnTo>
                  <a:cubicBezTo>
                    <a:pt x="698" y="11147"/>
                    <a:pt x="0" y="10444"/>
                    <a:pt x="0" y="9581"/>
                  </a:cubicBezTo>
                  <a:lnTo>
                    <a:pt x="0" y="8312"/>
                  </a:lnTo>
                  <a:cubicBezTo>
                    <a:pt x="0" y="7448"/>
                    <a:pt x="698" y="6745"/>
                    <a:pt x="1555" y="6745"/>
                  </a:cubicBezTo>
                  <a:lnTo>
                    <a:pt x="1775" y="6745"/>
                  </a:lnTo>
                  <a:cubicBezTo>
                    <a:pt x="1974" y="6112"/>
                    <a:pt x="2558" y="5650"/>
                    <a:pt x="3252" y="5650"/>
                  </a:cubicBezTo>
                  <a:lnTo>
                    <a:pt x="5708" y="5650"/>
                  </a:lnTo>
                  <a:lnTo>
                    <a:pt x="5708" y="4971"/>
                  </a:lnTo>
                  <a:lnTo>
                    <a:pt x="5144" y="4971"/>
                  </a:lnTo>
                  <a:cubicBezTo>
                    <a:pt x="4288" y="4971"/>
                    <a:pt x="3632" y="4491"/>
                    <a:pt x="3632" y="3628"/>
                  </a:cubicBezTo>
                  <a:lnTo>
                    <a:pt x="3632" y="1553"/>
                  </a:lnTo>
                  <a:cubicBezTo>
                    <a:pt x="3632" y="689"/>
                    <a:pt x="4287" y="0"/>
                    <a:pt x="5144" y="0"/>
                  </a:cubicBezTo>
                  <a:lnTo>
                    <a:pt x="7126" y="0"/>
                  </a:lnTo>
                  <a:cubicBezTo>
                    <a:pt x="7982" y="0"/>
                    <a:pt x="8561" y="689"/>
                    <a:pt x="8561" y="1553"/>
                  </a:cubicBezTo>
                  <a:lnTo>
                    <a:pt x="8561" y="3369"/>
                  </a:lnTo>
                  <a:cubicBezTo>
                    <a:pt x="8561" y="4232"/>
                    <a:pt x="7982" y="4971"/>
                    <a:pt x="7126" y="4971"/>
                  </a:cubicBezTo>
                  <a:lnTo>
                    <a:pt x="6486" y="4971"/>
                  </a:lnTo>
                  <a:lnTo>
                    <a:pt x="6486" y="5651"/>
                  </a:lnTo>
                  <a:lnTo>
                    <a:pt x="9700" y="5651"/>
                  </a:lnTo>
                  <a:cubicBezTo>
                    <a:pt x="10404" y="5651"/>
                    <a:pt x="10998" y="6127"/>
                    <a:pt x="11188" y="6776"/>
                  </a:cubicBezTo>
                  <a:cubicBezTo>
                    <a:pt x="11906" y="6913"/>
                    <a:pt x="12452" y="7549"/>
                    <a:pt x="12452" y="8313"/>
                  </a:cubicBezTo>
                  <a:lnTo>
                    <a:pt x="12452" y="9582"/>
                  </a:lnTo>
                  <a:cubicBezTo>
                    <a:pt x="12452" y="10445"/>
                    <a:pt x="11755" y="11148"/>
                    <a:pt x="10898" y="11148"/>
                  </a:cubicBezTo>
                  <a:lnTo>
                    <a:pt x="10897" y="11147"/>
                  </a:lnTo>
                  <a:close/>
                </a:path>
              </a:pathLst>
            </a:custGeom>
            <a:solidFill>
              <a:schemeClr val="bg1"/>
            </a:solidFill>
            <a:ln>
              <a:noFill/>
              <a:prstDash val="lgDashDot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b="1" dirty="0">
                <a:solidFill>
                  <a:srgbClr val="0070C0"/>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sp>
          <p:nvSpPr>
            <p:cNvPr id="48" name="ísľiḓè"/>
            <p:cNvSpPr/>
            <p:nvPr/>
          </p:nvSpPr>
          <p:spPr>
            <a:xfrm>
              <a:off x="4052009" y="4428982"/>
              <a:ext cx="476612" cy="436206"/>
            </a:xfrm>
            <a:custGeom>
              <a:avLst/>
              <a:gdLst>
                <a:gd name="connsiteX0" fmla="*/ 116152 w 607639"/>
                <a:gd name="connsiteY0" fmla="*/ 303361 h 556126"/>
                <a:gd name="connsiteX1" fmla="*/ 491398 w 607639"/>
                <a:gd name="connsiteY1" fmla="*/ 303361 h 556126"/>
                <a:gd name="connsiteX2" fmla="*/ 556995 w 607639"/>
                <a:gd name="connsiteY2" fmla="*/ 368774 h 556126"/>
                <a:gd name="connsiteX3" fmla="*/ 556995 w 607639"/>
                <a:gd name="connsiteY3" fmla="*/ 404503 h 556126"/>
                <a:gd name="connsiteX4" fmla="*/ 582273 w 607639"/>
                <a:gd name="connsiteY4" fmla="*/ 404503 h 556126"/>
                <a:gd name="connsiteX5" fmla="*/ 607639 w 607639"/>
                <a:gd name="connsiteY5" fmla="*/ 429744 h 556126"/>
                <a:gd name="connsiteX6" fmla="*/ 582273 w 607639"/>
                <a:gd name="connsiteY6" fmla="*/ 454984 h 556126"/>
                <a:gd name="connsiteX7" fmla="*/ 556995 w 607639"/>
                <a:gd name="connsiteY7" fmla="*/ 454984 h 556126"/>
                <a:gd name="connsiteX8" fmla="*/ 556995 w 607639"/>
                <a:gd name="connsiteY8" fmla="*/ 490713 h 556126"/>
                <a:gd name="connsiteX9" fmla="*/ 491398 w 607639"/>
                <a:gd name="connsiteY9" fmla="*/ 556126 h 556126"/>
                <a:gd name="connsiteX10" fmla="*/ 116152 w 607639"/>
                <a:gd name="connsiteY10" fmla="*/ 556126 h 556126"/>
                <a:gd name="connsiteX11" fmla="*/ 50644 w 607639"/>
                <a:gd name="connsiteY11" fmla="*/ 490713 h 556126"/>
                <a:gd name="connsiteX12" fmla="*/ 50644 w 607639"/>
                <a:gd name="connsiteY12" fmla="*/ 454984 h 556126"/>
                <a:gd name="connsiteX13" fmla="*/ 25277 w 607639"/>
                <a:gd name="connsiteY13" fmla="*/ 454984 h 556126"/>
                <a:gd name="connsiteX14" fmla="*/ 0 w 607639"/>
                <a:gd name="connsiteY14" fmla="*/ 429744 h 556126"/>
                <a:gd name="connsiteX15" fmla="*/ 25277 w 607639"/>
                <a:gd name="connsiteY15" fmla="*/ 404503 h 556126"/>
                <a:gd name="connsiteX16" fmla="*/ 50644 w 607639"/>
                <a:gd name="connsiteY16" fmla="*/ 404503 h 556126"/>
                <a:gd name="connsiteX17" fmla="*/ 50644 w 607639"/>
                <a:gd name="connsiteY17" fmla="*/ 368774 h 556126"/>
                <a:gd name="connsiteX18" fmla="*/ 116152 w 607639"/>
                <a:gd name="connsiteY18" fmla="*/ 303361 h 556126"/>
                <a:gd name="connsiteX19" fmla="*/ 379783 w 607639"/>
                <a:gd name="connsiteY19" fmla="*/ 0 h 556126"/>
                <a:gd name="connsiteX20" fmla="*/ 415475 w 607639"/>
                <a:gd name="connsiteY20" fmla="*/ 0 h 556126"/>
                <a:gd name="connsiteX21" fmla="*/ 480983 w 607639"/>
                <a:gd name="connsiteY21" fmla="*/ 65497 h 556126"/>
                <a:gd name="connsiteX22" fmla="*/ 480983 w 607639"/>
                <a:gd name="connsiteY22" fmla="*/ 101134 h 556126"/>
                <a:gd name="connsiteX23" fmla="*/ 582272 w 607639"/>
                <a:gd name="connsiteY23" fmla="*/ 101134 h 556126"/>
                <a:gd name="connsiteX24" fmla="*/ 607639 w 607639"/>
                <a:gd name="connsiteY24" fmla="*/ 126462 h 556126"/>
                <a:gd name="connsiteX25" fmla="*/ 582272 w 607639"/>
                <a:gd name="connsiteY25" fmla="*/ 151702 h 556126"/>
                <a:gd name="connsiteX26" fmla="*/ 480983 w 607639"/>
                <a:gd name="connsiteY26" fmla="*/ 151702 h 556126"/>
                <a:gd name="connsiteX27" fmla="*/ 480983 w 607639"/>
                <a:gd name="connsiteY27" fmla="*/ 187339 h 556126"/>
                <a:gd name="connsiteX28" fmla="*/ 415475 w 607639"/>
                <a:gd name="connsiteY28" fmla="*/ 252836 h 556126"/>
                <a:gd name="connsiteX29" fmla="*/ 379783 w 607639"/>
                <a:gd name="connsiteY29" fmla="*/ 252836 h 556126"/>
                <a:gd name="connsiteX30" fmla="*/ 278522 w 607639"/>
                <a:gd name="connsiteY30" fmla="*/ 0 h 556126"/>
                <a:gd name="connsiteX31" fmla="*/ 329117 w 607639"/>
                <a:gd name="connsiteY31" fmla="*/ 0 h 556126"/>
                <a:gd name="connsiteX32" fmla="*/ 329117 w 607639"/>
                <a:gd name="connsiteY32" fmla="*/ 252836 h 556126"/>
                <a:gd name="connsiteX33" fmla="*/ 278522 w 607639"/>
                <a:gd name="connsiteY33" fmla="*/ 252836 h 556126"/>
                <a:gd name="connsiteX34" fmla="*/ 192164 w 607639"/>
                <a:gd name="connsiteY34" fmla="*/ 0 h 556126"/>
                <a:gd name="connsiteX35" fmla="*/ 227856 w 607639"/>
                <a:gd name="connsiteY35" fmla="*/ 0 h 556126"/>
                <a:gd name="connsiteX36" fmla="*/ 227856 w 607639"/>
                <a:gd name="connsiteY36" fmla="*/ 252836 h 556126"/>
                <a:gd name="connsiteX37" fmla="*/ 192164 w 607639"/>
                <a:gd name="connsiteY37" fmla="*/ 252836 h 556126"/>
                <a:gd name="connsiteX38" fmla="*/ 126567 w 607639"/>
                <a:gd name="connsiteY38" fmla="*/ 187339 h 556126"/>
                <a:gd name="connsiteX39" fmla="*/ 126567 w 607639"/>
                <a:gd name="connsiteY39" fmla="*/ 151702 h 556126"/>
                <a:gd name="connsiteX40" fmla="*/ 25278 w 607639"/>
                <a:gd name="connsiteY40" fmla="*/ 151702 h 556126"/>
                <a:gd name="connsiteX41" fmla="*/ 0 w 607639"/>
                <a:gd name="connsiteY41" fmla="*/ 126462 h 556126"/>
                <a:gd name="connsiteX42" fmla="*/ 25278 w 607639"/>
                <a:gd name="connsiteY42" fmla="*/ 101134 h 556126"/>
                <a:gd name="connsiteX43" fmla="*/ 126567 w 607639"/>
                <a:gd name="connsiteY43" fmla="*/ 101134 h 556126"/>
                <a:gd name="connsiteX44" fmla="*/ 126567 w 607639"/>
                <a:gd name="connsiteY44" fmla="*/ 65497 h 556126"/>
                <a:gd name="connsiteX45" fmla="*/ 192164 w 607639"/>
                <a:gd name="connsiteY45"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7639" h="556126">
                  <a:moveTo>
                    <a:pt x="116152" y="303361"/>
                  </a:moveTo>
                  <a:lnTo>
                    <a:pt x="491398" y="303361"/>
                  </a:lnTo>
                  <a:cubicBezTo>
                    <a:pt x="527623" y="303361"/>
                    <a:pt x="556995" y="332690"/>
                    <a:pt x="556995" y="368774"/>
                  </a:cubicBezTo>
                  <a:lnTo>
                    <a:pt x="556995" y="404503"/>
                  </a:lnTo>
                  <a:lnTo>
                    <a:pt x="582273" y="404503"/>
                  </a:lnTo>
                  <a:cubicBezTo>
                    <a:pt x="596335" y="404503"/>
                    <a:pt x="607639" y="415790"/>
                    <a:pt x="607639" y="429744"/>
                  </a:cubicBezTo>
                  <a:cubicBezTo>
                    <a:pt x="607639" y="443697"/>
                    <a:pt x="596335" y="454984"/>
                    <a:pt x="582273" y="454984"/>
                  </a:cubicBezTo>
                  <a:lnTo>
                    <a:pt x="556995" y="454984"/>
                  </a:lnTo>
                  <a:lnTo>
                    <a:pt x="556995" y="490713"/>
                  </a:lnTo>
                  <a:cubicBezTo>
                    <a:pt x="556995" y="526797"/>
                    <a:pt x="527623" y="556126"/>
                    <a:pt x="491398" y="556126"/>
                  </a:cubicBezTo>
                  <a:lnTo>
                    <a:pt x="116152" y="556126"/>
                  </a:lnTo>
                  <a:cubicBezTo>
                    <a:pt x="80016" y="556126"/>
                    <a:pt x="50644" y="526797"/>
                    <a:pt x="50644" y="490713"/>
                  </a:cubicBezTo>
                  <a:lnTo>
                    <a:pt x="50644" y="454984"/>
                  </a:lnTo>
                  <a:lnTo>
                    <a:pt x="25277" y="454984"/>
                  </a:lnTo>
                  <a:cubicBezTo>
                    <a:pt x="11304" y="454984"/>
                    <a:pt x="0" y="443697"/>
                    <a:pt x="0" y="429744"/>
                  </a:cubicBezTo>
                  <a:cubicBezTo>
                    <a:pt x="0" y="415790"/>
                    <a:pt x="11304" y="404503"/>
                    <a:pt x="25277" y="404503"/>
                  </a:cubicBezTo>
                  <a:lnTo>
                    <a:pt x="50644" y="404503"/>
                  </a:lnTo>
                  <a:lnTo>
                    <a:pt x="50644" y="368774"/>
                  </a:lnTo>
                  <a:cubicBezTo>
                    <a:pt x="50644" y="332690"/>
                    <a:pt x="80016" y="303361"/>
                    <a:pt x="116152" y="303361"/>
                  </a:cubicBezTo>
                  <a:close/>
                  <a:moveTo>
                    <a:pt x="379783" y="0"/>
                  </a:moveTo>
                  <a:lnTo>
                    <a:pt x="415475" y="0"/>
                  </a:lnTo>
                  <a:cubicBezTo>
                    <a:pt x="451611" y="0"/>
                    <a:pt x="480983" y="29416"/>
                    <a:pt x="480983" y="65497"/>
                  </a:cubicBezTo>
                  <a:lnTo>
                    <a:pt x="480983" y="101134"/>
                  </a:lnTo>
                  <a:lnTo>
                    <a:pt x="582272" y="101134"/>
                  </a:lnTo>
                  <a:cubicBezTo>
                    <a:pt x="596335" y="101134"/>
                    <a:pt x="607639" y="112510"/>
                    <a:pt x="607639" y="126462"/>
                  </a:cubicBezTo>
                  <a:cubicBezTo>
                    <a:pt x="607639" y="140415"/>
                    <a:pt x="596335" y="151702"/>
                    <a:pt x="582272" y="151702"/>
                  </a:cubicBezTo>
                  <a:lnTo>
                    <a:pt x="480983" y="151702"/>
                  </a:lnTo>
                  <a:lnTo>
                    <a:pt x="480983" y="187339"/>
                  </a:lnTo>
                  <a:cubicBezTo>
                    <a:pt x="480983" y="223509"/>
                    <a:pt x="451611" y="252836"/>
                    <a:pt x="415475" y="252836"/>
                  </a:cubicBezTo>
                  <a:lnTo>
                    <a:pt x="379783" y="252836"/>
                  </a:lnTo>
                  <a:close/>
                  <a:moveTo>
                    <a:pt x="278522" y="0"/>
                  </a:moveTo>
                  <a:lnTo>
                    <a:pt x="329117" y="0"/>
                  </a:lnTo>
                  <a:lnTo>
                    <a:pt x="329117" y="252836"/>
                  </a:lnTo>
                  <a:lnTo>
                    <a:pt x="278522" y="252836"/>
                  </a:lnTo>
                  <a:close/>
                  <a:moveTo>
                    <a:pt x="192164" y="0"/>
                  </a:moveTo>
                  <a:lnTo>
                    <a:pt x="227856" y="0"/>
                  </a:lnTo>
                  <a:lnTo>
                    <a:pt x="227856" y="252836"/>
                  </a:lnTo>
                  <a:lnTo>
                    <a:pt x="192164" y="252836"/>
                  </a:lnTo>
                  <a:cubicBezTo>
                    <a:pt x="155939" y="252836"/>
                    <a:pt x="126567" y="223509"/>
                    <a:pt x="126567" y="187339"/>
                  </a:cubicBezTo>
                  <a:lnTo>
                    <a:pt x="126567" y="151702"/>
                  </a:lnTo>
                  <a:lnTo>
                    <a:pt x="25278" y="151702"/>
                  </a:lnTo>
                  <a:cubicBezTo>
                    <a:pt x="11304" y="151702"/>
                    <a:pt x="0" y="140415"/>
                    <a:pt x="0" y="126462"/>
                  </a:cubicBezTo>
                  <a:cubicBezTo>
                    <a:pt x="0" y="112510"/>
                    <a:pt x="11304" y="101134"/>
                    <a:pt x="25278" y="101134"/>
                  </a:cubicBezTo>
                  <a:lnTo>
                    <a:pt x="126567" y="101134"/>
                  </a:lnTo>
                  <a:lnTo>
                    <a:pt x="126567" y="65497"/>
                  </a:lnTo>
                  <a:cubicBezTo>
                    <a:pt x="126567" y="29416"/>
                    <a:pt x="155939" y="0"/>
                    <a:pt x="192164"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lumMod val="85000"/>
                    <a:lumOff val="15000"/>
                  </a:schemeClr>
                </a:solidFill>
                <a:latin typeface="微軟正黑體 Light" panose="020B0304030504040204" pitchFamily="34" charset="-120"/>
                <a:ea typeface="微软雅黑" panose="020B0503020204020204" pitchFamily="34" charset="-122"/>
                <a:sym typeface="微軟正黑體 Light" panose="020B0304030504040204" pitchFamily="34" charset="-120"/>
              </a:endParaRPr>
            </a:p>
          </p:txBody>
        </p:sp>
      </p:grpSp>
      <p:pic>
        <p:nvPicPr>
          <p:cNvPr id="5" name="图片 4">
            <a:extLst>
              <a:ext uri="{FF2B5EF4-FFF2-40B4-BE49-F238E27FC236}">
                <a16:creationId xmlns:a16="http://schemas.microsoft.com/office/drawing/2014/main" id="{4C9DA84B-F8BA-B023-D4F1-531757D2B0F2}"/>
              </a:ext>
            </a:extLst>
          </p:cNvPr>
          <p:cNvPicPr>
            <a:picLocks noChangeAspect="1"/>
          </p:cNvPicPr>
          <p:nvPr/>
        </p:nvPicPr>
        <p:blipFill>
          <a:blip r:embed="rId5"/>
          <a:stretch>
            <a:fillRect/>
          </a:stretch>
        </p:blipFill>
        <p:spPr>
          <a:xfrm>
            <a:off x="977353" y="2446541"/>
            <a:ext cx="4696955" cy="2124974"/>
          </a:xfrm>
          <a:prstGeom prst="rect">
            <a:avLst/>
          </a:prstGeom>
        </p:spPr>
      </p:pic>
    </p:spTree>
    <p:extLst>
      <p:ext uri="{BB962C8B-B14F-4D97-AF65-F5344CB8AC3E}">
        <p14:creationId xmlns:p14="http://schemas.microsoft.com/office/powerpoint/2010/main" val="60396331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产品特点</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874297" y="614853"/>
            <a:ext cx="11159271" cy="562170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zh-CN" altLang="en-US" sz="2000"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集中管理调度中心</a:t>
            </a:r>
          </a:p>
          <a:p>
            <a:pPr marL="108000" indent="468000" defTabSz="801665" fontAlgn="base">
              <a:lnSpc>
                <a:spcPct val="150000"/>
              </a:lnSpc>
              <a:spcBef>
                <a:spcPts val="600"/>
              </a:spcBef>
              <a:spcAft>
                <a:spcPts val="600"/>
              </a:spcAft>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  平台采用</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Slurm</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作业调度，可实现高度可扩展的集群管理、具有容错性的作业调度和资源的细粒度管理等功能，适用于各类</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Linux</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集群。</a:t>
            </a:r>
          </a:p>
          <a:p>
            <a:pPr marL="108000" indent="468000" defTabSz="801665" fontAlgn="base">
              <a:lnSpc>
                <a:spcPct val="150000"/>
              </a:lnSpc>
              <a:spcBef>
                <a:spcPts val="600"/>
              </a:spcBef>
              <a:spcAft>
                <a:spcPts val="600"/>
              </a:spcAft>
            </a:pPr>
            <a:r>
              <a:rPr lang="en-US" altLang="zh-CN" sz="2000"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AI-HPC</a:t>
            </a:r>
            <a:r>
              <a:rPr lang="zh-CN" altLang="en-US" sz="2000"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多负载管理</a:t>
            </a:r>
          </a:p>
          <a:p>
            <a:pPr marL="108000" indent="468000" defTabSz="801665" fontAlgn="base">
              <a:lnSpc>
                <a:spcPct val="150000"/>
              </a:lnSpc>
              <a:spcBef>
                <a:spcPts val="600"/>
              </a:spcBef>
              <a:spcAft>
                <a:spcPts val="600"/>
              </a:spcAft>
            </a:pPr>
            <a:r>
              <a:rPr lang="zh-CN" altLang="en-US"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  </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支持</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CPU</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GPU</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等多种计算资源的统一调度，合理分配计算资源。此外，支持</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AI-HPC</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海量应用的统一管理。</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a:p>
            <a:pPr marL="108000" indent="468000" defTabSz="801665" fontAlgn="base">
              <a:lnSpc>
                <a:spcPct val="150000"/>
              </a:lnSpc>
              <a:spcBef>
                <a:spcPts val="600"/>
              </a:spcBef>
              <a:spcAft>
                <a:spcPts val="600"/>
              </a:spcAft>
            </a:pPr>
            <a:r>
              <a:rPr lang="zh-CN" altLang="en-US" sz="2000"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丰富的作业提交方式</a:t>
            </a:r>
          </a:p>
          <a:p>
            <a:pPr marL="108000" indent="468000" defTabSz="801665" fontAlgn="base">
              <a:lnSpc>
                <a:spcPct val="150000"/>
              </a:lnSpc>
              <a:spcBef>
                <a:spcPts val="600"/>
              </a:spcBef>
              <a:spcAft>
                <a:spcPts val="600"/>
              </a:spcAft>
            </a:pPr>
            <a:r>
              <a:rPr lang="zh-CN" altLang="en-US"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 </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支持通过作业脚本、可视化作业模板以及容器方式提交作业，增强用户的易用性。作业模板可自定义入参，提高作业模板的灵活性，方便用户使用。基于容器提交作业，可屏蔽作业运行环境的差异，兼容更多应用。</a:t>
            </a:r>
          </a:p>
        </p:txBody>
      </p:sp>
    </p:spTree>
    <p:extLst>
      <p:ext uri="{BB962C8B-B14F-4D97-AF65-F5344CB8AC3E}">
        <p14:creationId xmlns:p14="http://schemas.microsoft.com/office/powerpoint/2010/main" val="384252631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技术架构</a:t>
            </a:r>
          </a:p>
        </p:txBody>
      </p:sp>
      <p:pic>
        <p:nvPicPr>
          <p:cNvPr id="51" name="图片 50">
            <a:extLst>
              <a:ext uri="{FF2B5EF4-FFF2-40B4-BE49-F238E27FC236}">
                <a16:creationId xmlns:a16="http://schemas.microsoft.com/office/drawing/2014/main" id="{F4B890B0-2328-6C48-9519-A9870A68F15F}"/>
              </a:ext>
            </a:extLst>
          </p:cNvPr>
          <p:cNvPicPr/>
          <p:nvPr/>
        </p:nvPicPr>
        <p:blipFill>
          <a:blip r:embed="rId3"/>
          <a:stretch>
            <a:fillRect/>
          </a:stretch>
        </p:blipFill>
        <p:spPr>
          <a:xfrm>
            <a:off x="1513139" y="810417"/>
            <a:ext cx="8931696" cy="5472063"/>
          </a:xfrm>
          <a:prstGeom prst="rect">
            <a:avLst/>
          </a:prstGeom>
        </p:spPr>
      </p:pic>
    </p:spTree>
    <p:extLst>
      <p:ext uri="{BB962C8B-B14F-4D97-AF65-F5344CB8AC3E}">
        <p14:creationId xmlns:p14="http://schemas.microsoft.com/office/powerpoint/2010/main" val="332513368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产品功能</a:t>
            </a:r>
            <a:r>
              <a:rPr lang="en-US" altLang="zh-CN"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a:t>
            </a: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灵活的作业管理</a:t>
            </a:r>
          </a:p>
        </p:txBody>
      </p:sp>
      <p:grpSp>
        <p:nvGrpSpPr>
          <p:cNvPr id="18" name="组合 17"/>
          <p:cNvGrpSpPr/>
          <p:nvPr/>
        </p:nvGrpSpPr>
        <p:grpSpPr>
          <a:xfrm>
            <a:off x="2600013" y="3522608"/>
            <a:ext cx="2693670" cy="2164715"/>
            <a:chOff x="7605" y="5915"/>
            <a:chExt cx="4242" cy="3409"/>
          </a:xfrm>
        </p:grpSpPr>
        <p:sp>
          <p:nvSpPr>
            <p:cNvPr id="20" name="文本框 19"/>
            <p:cNvSpPr txBox="1"/>
            <p:nvPr/>
          </p:nvSpPr>
          <p:spPr>
            <a:xfrm>
              <a:off x="7983" y="6655"/>
              <a:ext cx="1408" cy="48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rPr>
                <a:t>作业名称</a:t>
              </a:r>
            </a:p>
          </p:txBody>
        </p:sp>
        <p:sp>
          <p:nvSpPr>
            <p:cNvPr id="21" name="文本框 20"/>
            <p:cNvSpPr txBox="1"/>
            <p:nvPr/>
          </p:nvSpPr>
          <p:spPr>
            <a:xfrm>
              <a:off x="7983" y="7115"/>
              <a:ext cx="1408" cy="48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rPr>
                <a:t>分区选择</a:t>
              </a:r>
            </a:p>
          </p:txBody>
        </p:sp>
        <p:sp>
          <p:nvSpPr>
            <p:cNvPr id="22" name="文本框 21"/>
            <p:cNvSpPr txBox="1"/>
            <p:nvPr/>
          </p:nvSpPr>
          <p:spPr>
            <a:xfrm>
              <a:off x="7983" y="7575"/>
              <a:ext cx="1128" cy="48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rPr>
                <a:t>任务数</a:t>
              </a:r>
            </a:p>
          </p:txBody>
        </p:sp>
        <p:sp>
          <p:nvSpPr>
            <p:cNvPr id="23" name="文本框 22"/>
            <p:cNvSpPr txBox="1"/>
            <p:nvPr/>
          </p:nvSpPr>
          <p:spPr>
            <a:xfrm>
              <a:off x="7983" y="8035"/>
              <a:ext cx="1621" cy="4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rPr>
                <a:t>模板参数</a:t>
              </a:r>
              <a:r>
                <a:rPr lang="en-US" altLang="zh-CN" sz="1400" dirty="0">
                  <a:latin typeface="微软雅黑" panose="020B0503020204020204" pitchFamily="34" charset="-122"/>
                  <a:ea typeface="微软雅黑" panose="020B0503020204020204" pitchFamily="34" charset="-122"/>
                </a:rPr>
                <a:t>A</a:t>
              </a:r>
            </a:p>
          </p:txBody>
        </p:sp>
        <p:sp>
          <p:nvSpPr>
            <p:cNvPr id="24" name="文本框 23"/>
            <p:cNvSpPr txBox="1"/>
            <p:nvPr/>
          </p:nvSpPr>
          <p:spPr>
            <a:xfrm>
              <a:off x="7983" y="8495"/>
              <a:ext cx="1583" cy="4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pitchFamily="34" charset="-122"/>
                  <a:ea typeface="微软雅黑" panose="020B0503020204020204" pitchFamily="34" charset="-122"/>
                </a:rPr>
                <a:t>模板参数</a:t>
              </a:r>
              <a:r>
                <a:rPr lang="en-US" altLang="zh-CN" sz="1400" dirty="0">
                  <a:latin typeface="微软雅黑" panose="020B0503020204020204" pitchFamily="34" charset="-122"/>
                  <a:ea typeface="微软雅黑" panose="020B0503020204020204" pitchFamily="34" charset="-122"/>
                </a:rPr>
                <a:t>B</a:t>
              </a:r>
            </a:p>
          </p:txBody>
        </p:sp>
        <p:sp>
          <p:nvSpPr>
            <p:cNvPr id="25" name="矩形 24"/>
            <p:cNvSpPr/>
            <p:nvPr/>
          </p:nvSpPr>
          <p:spPr>
            <a:xfrm>
              <a:off x="9925" y="8551"/>
              <a:ext cx="1237" cy="371"/>
            </a:xfrm>
            <a:prstGeom prst="rect">
              <a:avLst/>
            </a:prstGeom>
            <a:scene3d>
              <a:camera prst="orthographicFront"/>
              <a:lightRig rig="threePt" dir="t"/>
            </a:scene3d>
            <a:sp3d extrusionH="25400" prstMaterial="plastic"/>
            <a:extLst>
              <a:ext uri="{909E8E84-426E-40DD-AFC4-6F175D3DCCD1}">
                <a14:hiddenFill xmlns:a14="http://schemas.microsoft.com/office/drawing/2010/main">
                  <a:solidFill>
                    <a:schemeClr val="lt1"/>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9925" y="8091"/>
              <a:ext cx="1237" cy="371"/>
            </a:xfrm>
            <a:prstGeom prst="rect">
              <a:avLst/>
            </a:prstGeom>
            <a:scene3d>
              <a:camera prst="orthographicFront"/>
              <a:lightRig rig="threePt" dir="t"/>
            </a:scene3d>
            <a:sp3d extrusionH="25400" prstMaterial="plastic"/>
            <a:extLst>
              <a:ext uri="{909E8E84-426E-40DD-AFC4-6F175D3DCCD1}">
                <a14:hiddenFill xmlns:a14="http://schemas.microsoft.com/office/drawing/2010/main">
                  <a:solidFill>
                    <a:schemeClr val="lt1"/>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9925" y="7631"/>
              <a:ext cx="1237" cy="371"/>
            </a:xfrm>
            <a:prstGeom prst="rect">
              <a:avLst/>
            </a:prstGeom>
            <a:scene3d>
              <a:camera prst="orthographicFront"/>
              <a:lightRig rig="threePt" dir="t"/>
            </a:scene3d>
            <a:sp3d extrusionH="25400" prstMaterial="plastic"/>
            <a:extLst>
              <a:ext uri="{909E8E84-426E-40DD-AFC4-6F175D3DCCD1}">
                <a14:hiddenFill xmlns:a14="http://schemas.microsoft.com/office/drawing/2010/main">
                  <a:solidFill>
                    <a:schemeClr val="lt1"/>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8" name="矩形 27"/>
            <p:cNvSpPr/>
            <p:nvPr/>
          </p:nvSpPr>
          <p:spPr>
            <a:xfrm>
              <a:off x="9925" y="7171"/>
              <a:ext cx="1237" cy="371"/>
            </a:xfrm>
            <a:prstGeom prst="rect">
              <a:avLst/>
            </a:prstGeom>
            <a:scene3d>
              <a:camera prst="orthographicFront"/>
              <a:lightRig rig="threePt" dir="t"/>
            </a:scene3d>
            <a:sp3d extrusionH="25400" prstMaterial="plastic"/>
            <a:extLst>
              <a:ext uri="{909E8E84-426E-40DD-AFC4-6F175D3DCCD1}">
                <a14:hiddenFill xmlns:a14="http://schemas.microsoft.com/office/drawing/2010/main">
                  <a:solidFill>
                    <a:schemeClr val="lt1"/>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9925" y="6711"/>
              <a:ext cx="1237" cy="371"/>
            </a:xfrm>
            <a:prstGeom prst="rect">
              <a:avLst/>
            </a:prstGeom>
            <a:scene3d>
              <a:camera prst="orthographicFront"/>
              <a:lightRig rig="threePt" dir="t"/>
            </a:scene3d>
            <a:sp3d extrusionH="25400" prstMaterial="plastic"/>
            <a:extLst>
              <a:ext uri="{909E8E84-426E-40DD-AFC4-6F175D3DCCD1}">
                <a14:hiddenFill xmlns:a14="http://schemas.microsoft.com/office/drawing/2010/main">
                  <a:solidFill>
                    <a:schemeClr val="lt1"/>
                  </a:solidFill>
                </a14:hiddenFill>
              </a:ext>
            </a:extLst>
          </p:spPr>
          <p:style>
            <a:lnRef idx="1">
              <a:schemeClr val="accent1"/>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8910" y="6123"/>
              <a:ext cx="1408" cy="48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latin typeface="微软雅黑" panose="020B0503020204020204" pitchFamily="34" charset="-122"/>
                  <a:ea typeface="微软雅黑" panose="020B0503020204020204" pitchFamily="34" charset="-122"/>
                </a:rPr>
                <a:t>作业模板</a:t>
              </a:r>
            </a:p>
          </p:txBody>
        </p:sp>
        <p:sp>
          <p:nvSpPr>
            <p:cNvPr id="31" name="圆角矩形 30"/>
            <p:cNvSpPr/>
            <p:nvPr/>
          </p:nvSpPr>
          <p:spPr>
            <a:xfrm>
              <a:off x="7605" y="5915"/>
              <a:ext cx="4242" cy="340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2641288" y="5736535"/>
            <a:ext cx="2722880" cy="39878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cs typeface="等线" panose="02010600030101010101" charset="-122"/>
              </a:rPr>
              <a:t>支持不同作业提交方式</a:t>
            </a:r>
          </a:p>
        </p:txBody>
      </p:sp>
      <p:sp>
        <p:nvSpPr>
          <p:cNvPr id="33" name="右箭头 32"/>
          <p:cNvSpPr/>
          <p:nvPr/>
        </p:nvSpPr>
        <p:spPr>
          <a:xfrm>
            <a:off x="5491168" y="2973968"/>
            <a:ext cx="587375" cy="548640"/>
          </a:xfrm>
          <a:prstGeom prst="rightArrow">
            <a:avLst/>
          </a:prstGeom>
          <a:gradFill>
            <a:gsLst>
              <a:gs pos="0">
                <a:srgbClr val="007BD3"/>
              </a:gs>
              <a:gs pos="100000">
                <a:srgbClr val="034373">
                  <a:alpha val="90000"/>
                </a:srgbClr>
              </a:gs>
            </a:gsLst>
            <a:lin ang="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6418903" y="1388373"/>
            <a:ext cx="1789430" cy="934720"/>
          </a:xfrm>
          <a:prstGeom prst="roundRect">
            <a:avLst/>
          </a:prstGeom>
          <a:solidFill>
            <a:schemeClr val="accent6">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latin typeface="微软雅黑" panose="020B0503020204020204" pitchFamily="34" charset="-122"/>
                <a:ea typeface="微软雅黑" panose="020B0503020204020204" pitchFamily="34" charset="-122"/>
              </a:rPr>
              <a:t>支持Singulaity、</a:t>
            </a:r>
            <a:r>
              <a:rPr lang="en-US" altLang="zh-CN" dirty="0">
                <a:solidFill>
                  <a:schemeClr val="tx1"/>
                </a:solidFill>
                <a:latin typeface="微软雅黑" panose="020B0503020204020204" pitchFamily="34" charset="-122"/>
                <a:ea typeface="微软雅黑" panose="020B0503020204020204" pitchFamily="34" charset="-122"/>
              </a:rPr>
              <a:t>docker</a:t>
            </a:r>
            <a:r>
              <a:rPr lang="zh-CN" altLang="en-US" dirty="0">
                <a:solidFill>
                  <a:schemeClr val="tx1"/>
                </a:solidFill>
                <a:latin typeface="微软雅黑" panose="020B0503020204020204" pitchFamily="34" charset="-122"/>
                <a:ea typeface="微软雅黑" panose="020B0503020204020204" pitchFamily="34" charset="-122"/>
              </a:rPr>
              <a:t>内运行</a:t>
            </a:r>
          </a:p>
        </p:txBody>
      </p:sp>
      <p:sp>
        <p:nvSpPr>
          <p:cNvPr id="35" name="右箭头 34"/>
          <p:cNvSpPr/>
          <p:nvPr/>
        </p:nvSpPr>
        <p:spPr>
          <a:xfrm>
            <a:off x="8433758" y="2973968"/>
            <a:ext cx="587375" cy="548640"/>
          </a:xfrm>
          <a:prstGeom prst="rightArrow">
            <a:avLst/>
          </a:prstGeom>
          <a:gradFill>
            <a:gsLst>
              <a:gs pos="0">
                <a:srgbClr val="007BD3"/>
              </a:gs>
              <a:gs pos="100000">
                <a:srgbClr val="034373">
                  <a:alpha val="90000"/>
                </a:srgbClr>
              </a:gs>
            </a:gsLst>
            <a:lin ang="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9241478" y="2780928"/>
            <a:ext cx="1789430" cy="934720"/>
          </a:xfrm>
          <a:prstGeom prst="roundRect">
            <a:avLst/>
          </a:prstGeom>
          <a:solidFill>
            <a:schemeClr val="accent4">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latin typeface="微软雅黑" panose="020B0503020204020204" pitchFamily="34" charset="-122"/>
                <a:ea typeface="微软雅黑" panose="020B0503020204020204" pitchFamily="34" charset="-122"/>
              </a:rPr>
              <a:t>保存到镜像库</a:t>
            </a:r>
          </a:p>
        </p:txBody>
      </p:sp>
      <p:sp>
        <p:nvSpPr>
          <p:cNvPr id="37" name="右箭头 36"/>
          <p:cNvSpPr/>
          <p:nvPr/>
        </p:nvSpPr>
        <p:spPr>
          <a:xfrm>
            <a:off x="1851983" y="1479813"/>
            <a:ext cx="587375" cy="548640"/>
          </a:xfrm>
          <a:prstGeom prst="rightArrow">
            <a:avLst/>
          </a:prstGeom>
          <a:gradFill>
            <a:gsLst>
              <a:gs pos="0">
                <a:srgbClr val="007BD3"/>
              </a:gs>
              <a:gs pos="100000">
                <a:srgbClr val="034373">
                  <a:alpha val="90000"/>
                </a:srgbClr>
              </a:gs>
            </a:gsLst>
            <a:lin ang="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8" name="右箭头 37"/>
          <p:cNvSpPr/>
          <p:nvPr/>
        </p:nvSpPr>
        <p:spPr>
          <a:xfrm>
            <a:off x="1851983" y="4045213"/>
            <a:ext cx="587375" cy="548640"/>
          </a:xfrm>
          <a:prstGeom prst="rightArrow">
            <a:avLst/>
          </a:prstGeom>
          <a:gradFill>
            <a:gsLst>
              <a:gs pos="0">
                <a:srgbClr val="007BD3"/>
              </a:gs>
              <a:gs pos="100000">
                <a:srgbClr val="034373">
                  <a:alpha val="90000"/>
                </a:srgbClr>
              </a:gs>
            </a:gsLst>
            <a:lin ang="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9" name="圆角矩形 38"/>
          <p:cNvSpPr/>
          <p:nvPr/>
        </p:nvSpPr>
        <p:spPr>
          <a:xfrm>
            <a:off x="6418903" y="3971553"/>
            <a:ext cx="1789430" cy="934720"/>
          </a:xfrm>
          <a:prstGeom prst="roundRect">
            <a:avLst/>
          </a:prstGeom>
          <a:solidFill>
            <a:schemeClr val="accent5">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a:solidFill>
                  <a:schemeClr val="tx1"/>
                </a:solidFill>
                <a:latin typeface="微软雅黑" panose="020B0503020204020204" pitchFamily="34" charset="-122"/>
                <a:ea typeface="微软雅黑" panose="020B0503020204020204" pitchFamily="34" charset="-122"/>
              </a:rPr>
              <a:t>支持节点</a:t>
            </a:r>
          </a:p>
          <a:p>
            <a:pPr algn="ctr"/>
            <a:r>
              <a:rPr lang="zh-CN" altLang="en-US" dirty="0">
                <a:solidFill>
                  <a:schemeClr val="tx1"/>
                </a:solidFill>
                <a:latin typeface="微软雅黑" panose="020B0503020204020204" pitchFamily="34" charset="-122"/>
                <a:ea typeface="微软雅黑" panose="020B0503020204020204" pitchFamily="34" charset="-122"/>
              </a:rPr>
              <a:t>内运行</a:t>
            </a:r>
          </a:p>
        </p:txBody>
      </p:sp>
      <p:sp>
        <p:nvSpPr>
          <p:cNvPr id="40" name="文本框 39"/>
          <p:cNvSpPr txBox="1"/>
          <p:nvPr/>
        </p:nvSpPr>
        <p:spPr>
          <a:xfrm>
            <a:off x="6258565" y="5736535"/>
            <a:ext cx="2468880" cy="39878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cs typeface="等线" panose="02010600030101010101" charset="-122"/>
              </a:rPr>
              <a:t>可选择不同运行环境</a:t>
            </a:r>
          </a:p>
        </p:txBody>
      </p:sp>
      <p:sp>
        <p:nvSpPr>
          <p:cNvPr id="41" name="文本框 40"/>
          <p:cNvSpPr txBox="1"/>
          <p:nvPr/>
        </p:nvSpPr>
        <p:spPr>
          <a:xfrm>
            <a:off x="9139243" y="5736535"/>
            <a:ext cx="2722880" cy="39878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cs typeface="等线" panose="02010600030101010101" charset="-122"/>
              </a:rPr>
              <a:t>可编辑应用环境为镜像</a:t>
            </a:r>
          </a:p>
        </p:txBody>
      </p:sp>
      <p:pic>
        <p:nvPicPr>
          <p:cNvPr id="42" name="图片 41" descr="32313536333035323b32313536333034383bc4d0c8cb"/>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7721" y="1114053"/>
            <a:ext cx="914400" cy="914400"/>
          </a:xfrm>
          <a:prstGeom prst="rect">
            <a:avLst/>
          </a:prstGeom>
        </p:spPr>
      </p:pic>
      <p:sp>
        <p:nvSpPr>
          <p:cNvPr id="43" name="文本框 42"/>
          <p:cNvSpPr txBox="1"/>
          <p:nvPr/>
        </p:nvSpPr>
        <p:spPr>
          <a:xfrm>
            <a:off x="611193" y="2116718"/>
            <a:ext cx="153920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cs typeface="等线" panose="02010600030101010101" charset="-122"/>
              </a:rPr>
              <a:t>熟悉</a:t>
            </a:r>
            <a:r>
              <a:rPr lang="en-US" altLang="zh-CN" dirty="0">
                <a:latin typeface="微软雅黑" panose="020B0503020204020204" pitchFamily="34" charset="-122"/>
                <a:ea typeface="微软雅黑" panose="020B0503020204020204" pitchFamily="34" charset="-122"/>
                <a:cs typeface="等线" panose="02010600030101010101" charset="-122"/>
              </a:rPr>
              <a:t>IT</a:t>
            </a:r>
            <a:r>
              <a:rPr lang="zh-CN" altLang="en-US" dirty="0">
                <a:latin typeface="微软雅黑" panose="020B0503020204020204" pitchFamily="34" charset="-122"/>
                <a:ea typeface="微软雅黑" panose="020B0503020204020204" pitchFamily="34" charset="-122"/>
                <a:cs typeface="等线" panose="02010600030101010101" charset="-122"/>
              </a:rPr>
              <a:t>的用户</a:t>
            </a:r>
          </a:p>
        </p:txBody>
      </p:sp>
      <p:pic>
        <p:nvPicPr>
          <p:cNvPr id="44" name="图片 43"/>
          <p:cNvPicPr>
            <a:picLocks noChangeAspect="1"/>
          </p:cNvPicPr>
          <p:nvPr/>
        </p:nvPicPr>
        <p:blipFill>
          <a:blip r:embed="rId5"/>
          <a:stretch>
            <a:fillRect/>
          </a:stretch>
        </p:blipFill>
        <p:spPr>
          <a:xfrm>
            <a:off x="2670498" y="928315"/>
            <a:ext cx="2693670" cy="1736725"/>
          </a:xfrm>
          <a:prstGeom prst="rect">
            <a:avLst/>
          </a:prstGeom>
        </p:spPr>
      </p:pic>
      <p:pic>
        <p:nvPicPr>
          <p:cNvPr id="45" name="图片 44" descr="32313536333035323b32313536333034353bc4d0c8c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7086" y="3575313"/>
            <a:ext cx="914400" cy="914400"/>
          </a:xfrm>
          <a:prstGeom prst="rect">
            <a:avLst/>
          </a:prstGeom>
        </p:spPr>
      </p:pic>
      <p:sp>
        <p:nvSpPr>
          <p:cNvPr id="46" name="文本框 45"/>
          <p:cNvSpPr txBox="1"/>
          <p:nvPr/>
        </p:nvSpPr>
        <p:spPr>
          <a:xfrm>
            <a:off x="489908" y="4610998"/>
            <a:ext cx="177003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cs typeface="等线" panose="02010600030101010101" charset="-122"/>
              </a:rPr>
              <a:t>不熟悉</a:t>
            </a:r>
            <a:r>
              <a:rPr lang="en-US" altLang="zh-CN" dirty="0">
                <a:latin typeface="微软雅黑" panose="020B0503020204020204" pitchFamily="34" charset="-122"/>
                <a:ea typeface="微软雅黑" panose="020B0503020204020204" pitchFamily="34" charset="-122"/>
                <a:cs typeface="等线" panose="02010600030101010101" charset="-122"/>
              </a:rPr>
              <a:t>IT</a:t>
            </a:r>
            <a:r>
              <a:rPr lang="zh-CN" altLang="en-US" dirty="0">
                <a:latin typeface="微软雅黑" panose="020B0503020204020204" pitchFamily="34" charset="-122"/>
                <a:ea typeface="微软雅黑" panose="020B0503020204020204" pitchFamily="34" charset="-122"/>
                <a:cs typeface="等线" panose="02010600030101010101" charset="-122"/>
              </a:rPr>
              <a:t>的用户</a:t>
            </a:r>
          </a:p>
        </p:txBody>
      </p:sp>
    </p:spTree>
    <p:extLst>
      <p:ext uri="{BB962C8B-B14F-4D97-AF65-F5344CB8AC3E}">
        <p14:creationId xmlns:p14="http://schemas.microsoft.com/office/powerpoint/2010/main" val="216465893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产品功能</a:t>
            </a:r>
            <a:r>
              <a:rPr lang="en-US" altLang="zh-CN"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a:t>
            </a: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产品监控</a:t>
            </a:r>
          </a:p>
        </p:txBody>
      </p:sp>
      <p:pic>
        <p:nvPicPr>
          <p:cNvPr id="47" name="图片 8">
            <a:extLst>
              <a:ext uri="{FF2B5EF4-FFF2-40B4-BE49-F238E27FC236}">
                <a16:creationId xmlns:a16="http://schemas.microsoft.com/office/drawing/2014/main" id="{72EF77BF-75D5-8647-A52E-FE325EC8C1E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4272"/>
          <a:stretch/>
        </p:blipFill>
        <p:spPr bwMode="auto">
          <a:xfrm>
            <a:off x="1298824" y="943566"/>
            <a:ext cx="9712408" cy="4951365"/>
          </a:xfrm>
          <a:prstGeom prst="rect">
            <a:avLst/>
          </a:prstGeom>
          <a:noFill/>
          <a:ln>
            <a:noFill/>
          </a:ln>
        </p:spPr>
      </p:pic>
    </p:spTree>
    <p:extLst>
      <p:ext uri="{BB962C8B-B14F-4D97-AF65-F5344CB8AC3E}">
        <p14:creationId xmlns:p14="http://schemas.microsoft.com/office/powerpoint/2010/main" val="149881165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2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产品介绍</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产品功能</a:t>
            </a:r>
            <a:r>
              <a:rPr lang="en-US" altLang="zh-CN"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a:t>
            </a:r>
            <a:r>
              <a:rPr lang="zh-CN" altLang="en-US" sz="1896" dirty="0">
                <a:solidFill>
                  <a:srgbClr val="0070C0"/>
                </a:solidFill>
                <a:latin typeface="微软雅黑" panose="020B0503020204020204" pitchFamily="34" charset="-122"/>
                <a:ea typeface="微软雅黑" panose="020B0503020204020204" pitchFamily="34" charset="-122"/>
                <a:sym typeface="微軟正黑體 Light" panose="020B0304030504040204" pitchFamily="34" charset="-120"/>
              </a:rPr>
              <a:t>作业管理</a:t>
            </a:r>
          </a:p>
        </p:txBody>
      </p:sp>
      <p:pic>
        <p:nvPicPr>
          <p:cNvPr id="16" name="图片 2">
            <a:extLst>
              <a:ext uri="{FF2B5EF4-FFF2-40B4-BE49-F238E27FC236}">
                <a16:creationId xmlns:a16="http://schemas.microsoft.com/office/drawing/2014/main" id="{31F52E32-3124-F24F-B2BF-DC31E901337D}"/>
              </a:ext>
            </a:extLst>
          </p:cNvPr>
          <p:cNvPicPr>
            <a:picLocks noChangeAspect="1"/>
          </p:cNvPicPr>
          <p:nvPr/>
        </p:nvPicPr>
        <p:blipFill>
          <a:blip r:embed="rId3"/>
          <a:stretch>
            <a:fillRect/>
          </a:stretch>
        </p:blipFill>
        <p:spPr>
          <a:xfrm>
            <a:off x="1533298" y="1776107"/>
            <a:ext cx="9214419" cy="4323742"/>
          </a:xfrm>
          <a:prstGeom prst="rect">
            <a:avLst/>
          </a:prstGeom>
        </p:spPr>
      </p:pic>
      <p:sp>
        <p:nvSpPr>
          <p:cNvPr id="17" name="对角圆角矩形 16"/>
          <p:cNvSpPr/>
          <p:nvPr/>
        </p:nvSpPr>
        <p:spPr bwMode="auto">
          <a:xfrm>
            <a:off x="1450195" y="918255"/>
            <a:ext cx="9297522" cy="63892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提供实时和历史的作业监控，支持作业模块集成</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p:txBody>
      </p:sp>
    </p:spTree>
    <p:extLst>
      <p:ext uri="{BB962C8B-B14F-4D97-AF65-F5344CB8AC3E}">
        <p14:creationId xmlns:p14="http://schemas.microsoft.com/office/powerpoint/2010/main" val="259035596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4373518" y="3489690"/>
            <a:ext cx="7381374" cy="889966"/>
          </a:xfrm>
        </p:spPr>
        <p:txBody>
          <a:bodyPr/>
          <a:lstStyle/>
          <a:p>
            <a:pPr algn="l" defTabSz="867034" fontAlgn="auto">
              <a:spcBef>
                <a:spcPts val="0"/>
              </a:spcBef>
              <a:spcAft>
                <a:spcPts val="0"/>
              </a:spcAft>
              <a:defRPr/>
            </a:pPr>
            <a:r>
              <a:rPr lang="en-US" altLang="zh-CN" sz="4000" b="1" dirty="0" err="1">
                <a:solidFill>
                  <a:prstClr val="black">
                    <a:lumMod val="75000"/>
                    <a:lumOff val="25000"/>
                  </a:prstClr>
                </a:solidFill>
                <a:sym typeface="SF Orson Casual Heavy" panose="00000400000000000000" pitchFamily="2" charset="0"/>
              </a:rPr>
              <a:t>ClusterEngine</a:t>
            </a:r>
            <a:r>
              <a:rPr lang="zh-CN" altLang="en-US" sz="4000" b="1" dirty="0">
                <a:solidFill>
                  <a:prstClr val="black">
                    <a:lumMod val="75000"/>
                    <a:lumOff val="25000"/>
                  </a:prstClr>
                </a:solidFill>
                <a:sym typeface="SF Orson Casual Heavy" panose="00000400000000000000" pitchFamily="2" charset="0"/>
              </a:rPr>
              <a:t>平台使用介绍</a:t>
            </a:r>
            <a:endParaRPr lang="en-US" altLang="zh-CN" sz="4000" b="1" dirty="0">
              <a:solidFill>
                <a:prstClr val="black">
                  <a:lumMod val="75000"/>
                  <a:lumOff val="25000"/>
                </a:prst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3</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106557759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6101"/>
              <a:chOff x="-23476" y="-1"/>
              <a:chExt cx="12880639" cy="51610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8" name="对角圆角矩形 17"/>
          <p:cNvSpPr/>
          <p:nvPr/>
        </p:nvSpPr>
        <p:spPr bwMode="auto">
          <a:xfrm>
            <a:off x="1083212" y="621435"/>
            <a:ext cx="9832394" cy="275774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集群两种登录使用方式：</a:t>
            </a: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1</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、通过</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shell</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方式</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ssh</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登录使用（常用）：</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ssh  </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用户名</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@10.186.253.147</a:t>
            </a: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2</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、通过网页登录</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ClusterEngine</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使用：</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https://10.186.253.146</a:t>
            </a:r>
          </a:p>
        </p:txBody>
      </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5"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集群登录介绍</a:t>
            </a:r>
            <a:endParaRPr lang="en-US" altLang="zh-CN" sz="1895"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17" name="Rectangle 4">
            <a:extLst>
              <a:ext uri="{FF2B5EF4-FFF2-40B4-BE49-F238E27FC236}">
                <a16:creationId xmlns:a16="http://schemas.microsoft.com/office/drawing/2014/main" id="{3FB0A84D-96F1-42DD-BA40-42D4B206B235}"/>
              </a:ext>
            </a:extLst>
          </p:cNvPr>
          <p:cNvSpPr txBox="1">
            <a:spLocks noChangeArrowheads="1"/>
          </p:cNvSpPr>
          <p:nvPr/>
        </p:nvSpPr>
        <p:spPr bwMode="auto">
          <a:xfrm>
            <a:off x="621413" y="-1"/>
            <a:ext cx="431386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pic>
        <p:nvPicPr>
          <p:cNvPr id="7" name="图片 6">
            <a:extLst>
              <a:ext uri="{FF2B5EF4-FFF2-40B4-BE49-F238E27FC236}">
                <a16:creationId xmlns:a16="http://schemas.microsoft.com/office/drawing/2014/main" id="{B5EA5854-3B38-AABB-2FC9-538F7806605C}"/>
              </a:ext>
            </a:extLst>
          </p:cNvPr>
          <p:cNvPicPr>
            <a:picLocks noChangeAspect="1"/>
          </p:cNvPicPr>
          <p:nvPr/>
        </p:nvPicPr>
        <p:blipFill>
          <a:blip r:embed="rId3"/>
          <a:stretch>
            <a:fillRect/>
          </a:stretch>
        </p:blipFill>
        <p:spPr>
          <a:xfrm>
            <a:off x="6480400" y="3641382"/>
            <a:ext cx="5711599" cy="2656868"/>
          </a:xfrm>
          <a:prstGeom prst="rect">
            <a:avLst/>
          </a:prstGeom>
        </p:spPr>
      </p:pic>
      <p:pic>
        <p:nvPicPr>
          <p:cNvPr id="4" name="图片 3">
            <a:extLst>
              <a:ext uri="{FF2B5EF4-FFF2-40B4-BE49-F238E27FC236}">
                <a16:creationId xmlns:a16="http://schemas.microsoft.com/office/drawing/2014/main" id="{12E2CB8A-F085-3423-0D6E-C80A6B4360E3}"/>
              </a:ext>
            </a:extLst>
          </p:cNvPr>
          <p:cNvPicPr>
            <a:picLocks noChangeAspect="1"/>
          </p:cNvPicPr>
          <p:nvPr/>
        </p:nvPicPr>
        <p:blipFill>
          <a:blip r:embed="rId4"/>
          <a:srcRect b="45239"/>
          <a:stretch/>
        </p:blipFill>
        <p:spPr>
          <a:xfrm>
            <a:off x="139077" y="3641382"/>
            <a:ext cx="5870961" cy="2696818"/>
          </a:xfrm>
          <a:prstGeom prst="rect">
            <a:avLst/>
          </a:prstGeom>
        </p:spPr>
      </p:pic>
    </p:spTree>
    <p:extLst>
      <p:ext uri="{BB962C8B-B14F-4D97-AF65-F5344CB8AC3E}">
        <p14:creationId xmlns:p14="http://schemas.microsoft.com/office/powerpoint/2010/main" val="264639625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6101"/>
              <a:chOff x="-23476" y="-1"/>
              <a:chExt cx="12880639" cy="51610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8" name="对角圆角矩形 17"/>
          <p:cNvSpPr/>
          <p:nvPr/>
        </p:nvSpPr>
        <p:spPr bwMode="auto">
          <a:xfrm>
            <a:off x="1298824" y="801434"/>
            <a:ext cx="10191496" cy="271542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ClusterEngine</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集群文件存放目录：</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gpfs</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hpc</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1</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、用户家目录：</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/home/</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目录下</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2</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、安装源码文件目录：</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/home/</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sourcecode</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3</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、软件安装目录：</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/home/software</a:t>
            </a:r>
          </a:p>
          <a:p>
            <a:pPr marL="108000" indent="468000" defTabSz="801665" fontAlgn="base">
              <a:lnSpc>
                <a:spcPct val="150000"/>
              </a:lnSpc>
              <a:spcBef>
                <a:spcPts val="600"/>
              </a:spcBef>
              <a:spcAft>
                <a:spcPts val="600"/>
              </a:spcAft>
            </a:pP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4</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slurm</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作业脚本模板：</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/home/</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sourcecode</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slurm_sample</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p:txBody>
      </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rPr>
              <a:t>集群主要目录介绍</a:t>
            </a:r>
            <a:endParaRPr lang="en-US" altLang="zh-CN" sz="1896" dirty="0">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16" name="Rectangle 4">
            <a:extLst>
              <a:ext uri="{FF2B5EF4-FFF2-40B4-BE49-F238E27FC236}">
                <a16:creationId xmlns:a16="http://schemas.microsoft.com/office/drawing/2014/main" id="{9665C33A-1B69-46F9-AD02-F8152CAB1134}"/>
              </a:ext>
            </a:extLst>
          </p:cNvPr>
          <p:cNvSpPr txBox="1">
            <a:spLocks noChangeArrowheads="1"/>
          </p:cNvSpPr>
          <p:nvPr/>
        </p:nvSpPr>
        <p:spPr bwMode="auto">
          <a:xfrm>
            <a:off x="621413" y="-1"/>
            <a:ext cx="431386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pic>
        <p:nvPicPr>
          <p:cNvPr id="3" name="图片 2">
            <a:extLst>
              <a:ext uri="{FF2B5EF4-FFF2-40B4-BE49-F238E27FC236}">
                <a16:creationId xmlns:a16="http://schemas.microsoft.com/office/drawing/2014/main" id="{28600C99-856D-E9A7-F0E2-D7C388AF076A}"/>
              </a:ext>
            </a:extLst>
          </p:cNvPr>
          <p:cNvPicPr>
            <a:picLocks noChangeAspect="1"/>
          </p:cNvPicPr>
          <p:nvPr/>
        </p:nvPicPr>
        <p:blipFill>
          <a:blip r:embed="rId3"/>
          <a:stretch>
            <a:fillRect/>
          </a:stretch>
        </p:blipFill>
        <p:spPr>
          <a:xfrm>
            <a:off x="655882" y="3710439"/>
            <a:ext cx="5270659" cy="2909909"/>
          </a:xfrm>
          <a:prstGeom prst="rect">
            <a:avLst/>
          </a:prstGeom>
        </p:spPr>
      </p:pic>
      <p:pic>
        <p:nvPicPr>
          <p:cNvPr id="6" name="图片 5">
            <a:extLst>
              <a:ext uri="{FF2B5EF4-FFF2-40B4-BE49-F238E27FC236}">
                <a16:creationId xmlns:a16="http://schemas.microsoft.com/office/drawing/2014/main" id="{C7F525D2-574E-44C1-6F1C-3D3D20B12D51}"/>
              </a:ext>
            </a:extLst>
          </p:cNvPr>
          <p:cNvPicPr>
            <a:picLocks noChangeAspect="1"/>
          </p:cNvPicPr>
          <p:nvPr/>
        </p:nvPicPr>
        <p:blipFill>
          <a:blip r:embed="rId4"/>
          <a:stretch>
            <a:fillRect/>
          </a:stretch>
        </p:blipFill>
        <p:spPr>
          <a:xfrm>
            <a:off x="6140856" y="3754788"/>
            <a:ext cx="5505490" cy="2865560"/>
          </a:xfrm>
          <a:prstGeom prst="rect">
            <a:avLst/>
          </a:prstGeom>
        </p:spPr>
      </p:pic>
    </p:spTree>
    <p:extLst>
      <p:ext uri="{BB962C8B-B14F-4D97-AF65-F5344CB8AC3E}">
        <p14:creationId xmlns:p14="http://schemas.microsoft.com/office/powerpoint/2010/main" val="21520874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1"/>
              <a:chOff x="-23476" y="-1"/>
              <a:chExt cx="12880639" cy="51998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549526" cy="519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en-US" altLang="zh-CN" sz="1896" dirty="0">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rPr>
                  <a:t> web</a:t>
                </a:r>
                <a:r>
                  <a:rPr lang="zh-CN" altLang="en-US" sz="1896" dirty="0">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rPr>
                  <a:t>网页登录</a:t>
                </a: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4" name="对角圆角矩形 13"/>
          <p:cNvSpPr/>
          <p:nvPr/>
        </p:nvSpPr>
        <p:spPr bwMode="auto">
          <a:xfrm>
            <a:off x="1013072" y="942535"/>
            <a:ext cx="10247111" cy="1547447"/>
          </a:xfrm>
          <a:prstGeom prst="round2DiagRect">
            <a:avLst/>
          </a:prstGeom>
          <a:gradFill flip="none" rotWithShape="1">
            <a:gsLst>
              <a:gs pos="5000">
                <a:schemeClr val="bg1">
                  <a:lumMod val="85000"/>
                </a:schemeClr>
              </a:gs>
              <a:gs pos="42000">
                <a:schemeClr val="bg1"/>
              </a:gs>
            </a:gsLst>
            <a:lin ang="8100000" scaled="1"/>
            <a:tileRect/>
          </a:gradFill>
          <a:ln w="9525" cap="flat" cmpd="sng" algn="ctr">
            <a:gradFill flip="none" rotWithShape="1">
              <a:gsLst>
                <a:gs pos="0">
                  <a:schemeClr val="bg1">
                    <a:lumMod val="100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noAutofit/>
          </a:bodyPr>
          <a:lstStyle/>
          <a:p>
            <a:pPr indent="457200"/>
            <a:r>
              <a:rPr lang="en-US" altLang="zh-CN" dirty="0">
                <a:latin typeface="微软雅黑" panose="020B0503020204020204" pitchFamily="34" charset="-122"/>
                <a:ea typeface="微软雅黑" panose="020B0503020204020204" pitchFamily="34" charset="-122"/>
              </a:rPr>
              <a:t>ClusterEngine</a:t>
            </a:r>
            <a:r>
              <a:rPr lang="zh-CN" altLang="en-US" dirty="0">
                <a:latin typeface="微软雅黑" panose="020B0503020204020204" pitchFamily="34" charset="-122"/>
                <a:ea typeface="微软雅黑" panose="020B0503020204020204" pitchFamily="34" charset="-122"/>
              </a:rPr>
              <a:t>安装成功以后，在浏览器中输入如下</a:t>
            </a:r>
            <a:r>
              <a:rPr lang="en-US" altLang="zh-CN" dirty="0">
                <a:latin typeface="微软雅黑" panose="020B0503020204020204" pitchFamily="34" charset="-122"/>
                <a:ea typeface="微软雅黑" panose="020B0503020204020204" pitchFamily="34" charset="-122"/>
              </a:rPr>
              <a:t>URL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https://10.186.253.146</a:t>
            </a:r>
            <a:r>
              <a:rPr lang="zh-CN" altLang="en-US" dirty="0">
                <a:latin typeface="微软雅黑" panose="020B0503020204020204" pitchFamily="34" charset="-122"/>
                <a:ea typeface="微软雅黑" panose="020B0503020204020204" pitchFamily="34" charset="-122"/>
              </a:rPr>
              <a:t>，即可登录</a:t>
            </a:r>
            <a:r>
              <a:rPr lang="en-US" altLang="zh-CN" dirty="0" err="1">
                <a:latin typeface="微软雅黑" panose="020B0503020204020204" pitchFamily="34" charset="-122"/>
                <a:ea typeface="微软雅黑" panose="020B0503020204020204" pitchFamily="34" charset="-122"/>
              </a:rPr>
              <a:t>ClusterEngine</a:t>
            </a:r>
            <a:r>
              <a:rPr lang="zh-CN" altLang="en-US" dirty="0">
                <a:latin typeface="微软雅黑" panose="020B0503020204020204" pitchFamily="34" charset="-122"/>
                <a:ea typeface="微软雅黑" panose="020B0503020204020204" pitchFamily="34" charset="-122"/>
              </a:rPr>
              <a:t>平台。高性能计算管理平台登录页面如下图所示。输入正确的用户名和密码，单击</a:t>
            </a:r>
            <a:r>
              <a:rPr lang="en-US" altLang="zh-CN" dirty="0">
                <a:latin typeface="微软雅黑" panose="020B0503020204020204" pitchFamily="34" charset="-122"/>
                <a:ea typeface="微软雅黑" panose="020B0503020204020204" pitchFamily="34" charset="-122"/>
              </a:rPr>
              <a:t>&lt;</a:t>
            </a:r>
            <a:r>
              <a:rPr lang="zh-CN" altLang="en-US" dirty="0">
                <a:latin typeface="微软雅黑" panose="020B0503020204020204" pitchFamily="34" charset="-122"/>
                <a:ea typeface="微软雅黑" panose="020B0503020204020204" pitchFamily="34" charset="-122"/>
              </a:rPr>
              <a:t>登录</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按钮即可登录平台。如果用户名或密码不正确，系统会弹出相应的错误提示。</a:t>
            </a:r>
            <a:endParaRPr lang="en-US" altLang="zh-CN"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9C424BCB-BD81-8F90-0392-DC7B2278BB82}"/>
              </a:ext>
            </a:extLst>
          </p:cNvPr>
          <p:cNvPicPr>
            <a:picLocks noChangeAspect="1"/>
          </p:cNvPicPr>
          <p:nvPr/>
        </p:nvPicPr>
        <p:blipFill>
          <a:blip r:embed="rId3"/>
          <a:stretch>
            <a:fillRect/>
          </a:stretch>
        </p:blipFill>
        <p:spPr>
          <a:xfrm>
            <a:off x="2399685" y="2559547"/>
            <a:ext cx="7949272" cy="3927941"/>
          </a:xfrm>
          <a:prstGeom prst="rect">
            <a:avLst/>
          </a:prstGeom>
        </p:spPr>
      </p:pic>
    </p:spTree>
    <p:extLst>
      <p:ext uri="{BB962C8B-B14F-4D97-AF65-F5344CB8AC3E}">
        <p14:creationId xmlns:p14="http://schemas.microsoft.com/office/powerpoint/2010/main" val="143941718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CN" sz="1896" dirty="0">
                <a:solidFill>
                  <a:srgbClr val="0070C0"/>
                </a:solidFill>
                <a:latin typeface="微软雅黑" panose="020B0503020204020204" pitchFamily="34" charset="-122"/>
                <a:ea typeface="微软雅黑" panose="020B0503020204020204" pitchFamily="34" charset="-122"/>
              </a:rPr>
              <a:t>分区</a:t>
            </a:r>
            <a:r>
              <a:rPr lang="zh-CN" altLang="en-US" sz="1896" dirty="0">
                <a:solidFill>
                  <a:srgbClr val="0070C0"/>
                </a:solidFill>
                <a:latin typeface="微软雅黑" panose="020B0503020204020204" pitchFamily="34" charset="-122"/>
                <a:ea typeface="微软雅黑" panose="020B0503020204020204" pitchFamily="34" charset="-122"/>
              </a:rPr>
              <a:t>信息</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450610" y="927901"/>
            <a:ext cx="8650334" cy="70681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本集群中共有</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27</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个计算节点，共设置</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3</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个队列分区，信息如下：</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p:txBody>
      </p:sp>
      <p:pic>
        <p:nvPicPr>
          <p:cNvPr id="3" name="图片 2">
            <a:extLst>
              <a:ext uri="{FF2B5EF4-FFF2-40B4-BE49-F238E27FC236}">
                <a16:creationId xmlns:a16="http://schemas.microsoft.com/office/drawing/2014/main" id="{ACF400F1-7AA7-9F17-1D73-403534049998}"/>
              </a:ext>
            </a:extLst>
          </p:cNvPr>
          <p:cNvPicPr>
            <a:picLocks noChangeAspect="1"/>
          </p:cNvPicPr>
          <p:nvPr/>
        </p:nvPicPr>
        <p:blipFill>
          <a:blip r:embed="rId3"/>
          <a:stretch>
            <a:fillRect/>
          </a:stretch>
        </p:blipFill>
        <p:spPr>
          <a:xfrm>
            <a:off x="1874046" y="2413902"/>
            <a:ext cx="7803462" cy="1277882"/>
          </a:xfrm>
          <a:prstGeom prst="rect">
            <a:avLst/>
          </a:prstGeom>
        </p:spPr>
      </p:pic>
    </p:spTree>
    <p:extLst>
      <p:ext uri="{BB962C8B-B14F-4D97-AF65-F5344CB8AC3E}">
        <p14:creationId xmlns:p14="http://schemas.microsoft.com/office/powerpoint/2010/main" val="19394171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5683003"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660880"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添加组织、用户和限制</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1084509" y="651297"/>
            <a:ext cx="9808778" cy="71438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108000" indent="468000" defTabSz="801665" fontAlgn="base">
              <a:lnSpc>
                <a:spcPct val="150000"/>
              </a:lnSpc>
              <a:spcBef>
                <a:spcPts val="600"/>
              </a:spcBef>
              <a:spcAft>
                <a:spcPts val="600"/>
              </a:spcAft>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第一步：使用管理员账号</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admin</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登录平台，添加组织，组织中可以限制组织的资源限制</a:t>
            </a:r>
          </a:p>
        </p:txBody>
      </p:sp>
      <p:pic>
        <p:nvPicPr>
          <p:cNvPr id="4" name="图片 3">
            <a:extLst>
              <a:ext uri="{FF2B5EF4-FFF2-40B4-BE49-F238E27FC236}">
                <a16:creationId xmlns:a16="http://schemas.microsoft.com/office/drawing/2014/main" id="{649CC17D-564A-10AD-4C2B-48EAC0D00347}"/>
              </a:ext>
            </a:extLst>
          </p:cNvPr>
          <p:cNvPicPr>
            <a:picLocks noChangeAspect="1"/>
          </p:cNvPicPr>
          <p:nvPr/>
        </p:nvPicPr>
        <p:blipFill>
          <a:blip r:embed="rId3"/>
          <a:stretch>
            <a:fillRect/>
          </a:stretch>
        </p:blipFill>
        <p:spPr>
          <a:xfrm>
            <a:off x="262275" y="2013362"/>
            <a:ext cx="6106899" cy="2186044"/>
          </a:xfrm>
          <a:prstGeom prst="rect">
            <a:avLst/>
          </a:prstGeom>
        </p:spPr>
      </p:pic>
      <p:pic>
        <p:nvPicPr>
          <p:cNvPr id="3" name="图片 2">
            <a:extLst>
              <a:ext uri="{FF2B5EF4-FFF2-40B4-BE49-F238E27FC236}">
                <a16:creationId xmlns:a16="http://schemas.microsoft.com/office/drawing/2014/main" id="{96448220-F912-6081-8D5A-F99F96D58591}"/>
              </a:ext>
            </a:extLst>
          </p:cNvPr>
          <p:cNvPicPr>
            <a:picLocks noChangeAspect="1"/>
          </p:cNvPicPr>
          <p:nvPr/>
        </p:nvPicPr>
        <p:blipFill>
          <a:blip r:embed="rId4"/>
          <a:stretch>
            <a:fillRect/>
          </a:stretch>
        </p:blipFill>
        <p:spPr>
          <a:xfrm>
            <a:off x="6544395" y="1872931"/>
            <a:ext cx="4652787" cy="3452896"/>
          </a:xfrm>
          <a:prstGeom prst="rect">
            <a:avLst/>
          </a:prstGeom>
        </p:spPr>
      </p:pic>
    </p:spTree>
    <p:extLst>
      <p:ext uri="{BB962C8B-B14F-4D97-AF65-F5344CB8AC3E}">
        <p14:creationId xmlns:p14="http://schemas.microsoft.com/office/powerpoint/2010/main" val="399765504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545715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00364"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添加组织、用户和限制</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1084509" y="641203"/>
            <a:ext cx="8650334" cy="71438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第二步：添加用户</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下图高级属性中有用户的资源限制</a:t>
            </a:r>
          </a:p>
        </p:txBody>
      </p:sp>
      <p:pic>
        <p:nvPicPr>
          <p:cNvPr id="7" name="图片 6">
            <a:extLst>
              <a:ext uri="{FF2B5EF4-FFF2-40B4-BE49-F238E27FC236}">
                <a16:creationId xmlns:a16="http://schemas.microsoft.com/office/drawing/2014/main" id="{79DA714A-BF77-A604-6B29-BF3D1BBAA738}"/>
              </a:ext>
            </a:extLst>
          </p:cNvPr>
          <p:cNvPicPr>
            <a:picLocks noChangeAspect="1"/>
          </p:cNvPicPr>
          <p:nvPr/>
        </p:nvPicPr>
        <p:blipFill>
          <a:blip r:embed="rId3"/>
          <a:stretch>
            <a:fillRect/>
          </a:stretch>
        </p:blipFill>
        <p:spPr>
          <a:xfrm>
            <a:off x="2562742" y="1510322"/>
            <a:ext cx="6036767" cy="1235478"/>
          </a:xfrm>
          <a:prstGeom prst="rect">
            <a:avLst/>
          </a:prstGeom>
        </p:spPr>
      </p:pic>
      <p:pic>
        <p:nvPicPr>
          <p:cNvPr id="3" name="图片 2">
            <a:extLst>
              <a:ext uri="{FF2B5EF4-FFF2-40B4-BE49-F238E27FC236}">
                <a16:creationId xmlns:a16="http://schemas.microsoft.com/office/drawing/2014/main" id="{769F7FE1-57F8-5F36-6F7A-0994C53B3832}"/>
              </a:ext>
            </a:extLst>
          </p:cNvPr>
          <p:cNvPicPr>
            <a:picLocks noChangeAspect="1"/>
          </p:cNvPicPr>
          <p:nvPr/>
        </p:nvPicPr>
        <p:blipFill>
          <a:blip r:embed="rId4"/>
          <a:stretch>
            <a:fillRect/>
          </a:stretch>
        </p:blipFill>
        <p:spPr>
          <a:xfrm>
            <a:off x="2344523" y="2874191"/>
            <a:ext cx="6478047" cy="3509769"/>
          </a:xfrm>
          <a:prstGeom prst="rect">
            <a:avLst/>
          </a:prstGeom>
        </p:spPr>
      </p:pic>
    </p:spTree>
    <p:extLst>
      <p:ext uri="{BB962C8B-B14F-4D97-AF65-F5344CB8AC3E}">
        <p14:creationId xmlns:p14="http://schemas.microsoft.com/office/powerpoint/2010/main" val="18196986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删除用户或者组织</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pic>
        <p:nvPicPr>
          <p:cNvPr id="3" name="图片 2">
            <a:extLst>
              <a:ext uri="{FF2B5EF4-FFF2-40B4-BE49-F238E27FC236}">
                <a16:creationId xmlns:a16="http://schemas.microsoft.com/office/drawing/2014/main" id="{752C5109-C700-882F-42EE-3E4FD301AA96}"/>
              </a:ext>
            </a:extLst>
          </p:cNvPr>
          <p:cNvPicPr>
            <a:picLocks noChangeAspect="1"/>
          </p:cNvPicPr>
          <p:nvPr/>
        </p:nvPicPr>
        <p:blipFill>
          <a:blip r:embed="rId3"/>
          <a:stretch>
            <a:fillRect/>
          </a:stretch>
        </p:blipFill>
        <p:spPr>
          <a:xfrm>
            <a:off x="1294268" y="917522"/>
            <a:ext cx="9231837" cy="1880123"/>
          </a:xfrm>
          <a:prstGeom prst="rect">
            <a:avLst/>
          </a:prstGeom>
        </p:spPr>
      </p:pic>
      <p:pic>
        <p:nvPicPr>
          <p:cNvPr id="5" name="图片 4">
            <a:extLst>
              <a:ext uri="{FF2B5EF4-FFF2-40B4-BE49-F238E27FC236}">
                <a16:creationId xmlns:a16="http://schemas.microsoft.com/office/drawing/2014/main" id="{3250AAEE-602E-BAE0-88B7-4D56A0829B19}"/>
              </a:ext>
            </a:extLst>
          </p:cNvPr>
          <p:cNvPicPr>
            <a:picLocks noChangeAspect="1"/>
          </p:cNvPicPr>
          <p:nvPr/>
        </p:nvPicPr>
        <p:blipFill>
          <a:blip r:embed="rId4"/>
          <a:stretch>
            <a:fillRect/>
          </a:stretch>
        </p:blipFill>
        <p:spPr>
          <a:xfrm>
            <a:off x="1298824" y="3341676"/>
            <a:ext cx="9231837" cy="1547668"/>
          </a:xfrm>
          <a:prstGeom prst="rect">
            <a:avLst/>
          </a:prstGeom>
        </p:spPr>
      </p:pic>
    </p:spTree>
    <p:extLst>
      <p:ext uri="{BB962C8B-B14F-4D97-AF65-F5344CB8AC3E}">
        <p14:creationId xmlns:p14="http://schemas.microsoft.com/office/powerpoint/2010/main" val="78537828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498959" y="7824"/>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文件管理</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126710" y="605379"/>
            <a:ext cx="9194402" cy="87159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第三步，使用第二步创建好的普通用户登录平台，需要先通过集群</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&gt;</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文件功能将相关数据上传至工作目录下，大于</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1G</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的文件需使用</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xftp</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工具连接上传</a:t>
            </a:r>
          </a:p>
        </p:txBody>
      </p:sp>
      <p:pic>
        <p:nvPicPr>
          <p:cNvPr id="3" name="图片 2">
            <a:extLst>
              <a:ext uri="{FF2B5EF4-FFF2-40B4-BE49-F238E27FC236}">
                <a16:creationId xmlns:a16="http://schemas.microsoft.com/office/drawing/2014/main" id="{D1500C10-897D-4319-8CF8-0CEE0B59FB62}"/>
              </a:ext>
            </a:extLst>
          </p:cNvPr>
          <p:cNvPicPr>
            <a:picLocks noChangeAspect="1"/>
          </p:cNvPicPr>
          <p:nvPr/>
        </p:nvPicPr>
        <p:blipFill rotWithShape="1">
          <a:blip r:embed="rId3"/>
          <a:srcRect t="9497" r="1278" b="17838"/>
          <a:stretch/>
        </p:blipFill>
        <p:spPr>
          <a:xfrm>
            <a:off x="701402" y="1581481"/>
            <a:ext cx="10617271" cy="4395925"/>
          </a:xfrm>
          <a:prstGeom prst="rect">
            <a:avLst/>
          </a:prstGeom>
        </p:spPr>
      </p:pic>
    </p:spTree>
    <p:extLst>
      <p:ext uri="{BB962C8B-B14F-4D97-AF65-F5344CB8AC3E}">
        <p14:creationId xmlns:p14="http://schemas.microsoft.com/office/powerpoint/2010/main" val="122645932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提交作业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126710" y="605378"/>
            <a:ext cx="9514786" cy="166074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第四步，点击作业</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&gt;</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添加选项，填写相关参数后提交作业</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webGUI</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提交作业有两种方式：</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①用户编写作业脚本的方式提交作业</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②使用管理员集成的作业模板进行提交</a:t>
            </a:r>
          </a:p>
        </p:txBody>
      </p:sp>
      <p:pic>
        <p:nvPicPr>
          <p:cNvPr id="2" name="图片 1">
            <a:extLst>
              <a:ext uri="{FF2B5EF4-FFF2-40B4-BE49-F238E27FC236}">
                <a16:creationId xmlns:a16="http://schemas.microsoft.com/office/drawing/2014/main" id="{FBC7FBB2-173D-444B-8EAF-DE8546BCBFBE}"/>
              </a:ext>
            </a:extLst>
          </p:cNvPr>
          <p:cNvPicPr>
            <a:picLocks noChangeAspect="1"/>
          </p:cNvPicPr>
          <p:nvPr/>
        </p:nvPicPr>
        <p:blipFill>
          <a:blip r:embed="rId3"/>
          <a:stretch>
            <a:fillRect/>
          </a:stretch>
        </p:blipFill>
        <p:spPr>
          <a:xfrm>
            <a:off x="2412366" y="2374489"/>
            <a:ext cx="6571314" cy="4182280"/>
          </a:xfrm>
          <a:prstGeom prst="rect">
            <a:avLst/>
          </a:prstGeom>
        </p:spPr>
      </p:pic>
    </p:spTree>
    <p:extLst>
      <p:ext uri="{BB962C8B-B14F-4D97-AF65-F5344CB8AC3E}">
        <p14:creationId xmlns:p14="http://schemas.microsoft.com/office/powerpoint/2010/main" val="363286370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提交作业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126709" y="605379"/>
            <a:ext cx="9766577" cy="107824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①用户编写作业脚本的方式提交作业步骤：</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选择需要运行的作业脚本，选择需要申请的资源分区、节点数、</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CPU</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核数点击提交作业即可</a:t>
            </a:r>
          </a:p>
        </p:txBody>
      </p:sp>
      <p:pic>
        <p:nvPicPr>
          <p:cNvPr id="2" name="图片 1">
            <a:extLst>
              <a:ext uri="{FF2B5EF4-FFF2-40B4-BE49-F238E27FC236}">
                <a16:creationId xmlns:a16="http://schemas.microsoft.com/office/drawing/2014/main" id="{2C3AA6D3-DA8E-4CE6-A351-DD5C37CB9AFB}"/>
              </a:ext>
            </a:extLst>
          </p:cNvPr>
          <p:cNvPicPr>
            <a:picLocks noChangeAspect="1"/>
          </p:cNvPicPr>
          <p:nvPr/>
        </p:nvPicPr>
        <p:blipFill>
          <a:blip r:embed="rId3"/>
          <a:stretch>
            <a:fillRect/>
          </a:stretch>
        </p:blipFill>
        <p:spPr>
          <a:xfrm>
            <a:off x="5520411" y="1836563"/>
            <a:ext cx="5647187" cy="3598519"/>
          </a:xfrm>
          <a:prstGeom prst="rect">
            <a:avLst/>
          </a:prstGeom>
        </p:spPr>
      </p:pic>
      <p:pic>
        <p:nvPicPr>
          <p:cNvPr id="3" name="图片 2">
            <a:extLst>
              <a:ext uri="{FF2B5EF4-FFF2-40B4-BE49-F238E27FC236}">
                <a16:creationId xmlns:a16="http://schemas.microsoft.com/office/drawing/2014/main" id="{44A550AE-C658-40CB-903A-9C4CBA4D5F1D}"/>
              </a:ext>
            </a:extLst>
          </p:cNvPr>
          <p:cNvPicPr>
            <a:picLocks noChangeAspect="1"/>
          </p:cNvPicPr>
          <p:nvPr/>
        </p:nvPicPr>
        <p:blipFill>
          <a:blip r:embed="rId4"/>
          <a:stretch>
            <a:fillRect/>
          </a:stretch>
        </p:blipFill>
        <p:spPr>
          <a:xfrm>
            <a:off x="1126709" y="1875340"/>
            <a:ext cx="4251445" cy="3816314"/>
          </a:xfrm>
          <a:prstGeom prst="rect">
            <a:avLst/>
          </a:prstGeom>
        </p:spPr>
      </p:pic>
    </p:spTree>
    <p:extLst>
      <p:ext uri="{BB962C8B-B14F-4D97-AF65-F5344CB8AC3E}">
        <p14:creationId xmlns:p14="http://schemas.microsoft.com/office/powerpoint/2010/main" val="349164225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提交作业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126709" y="605379"/>
            <a:ext cx="9766577" cy="107824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①用户编写作业脚本的方式提交作业：</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作业脚本案例：</a:t>
            </a:r>
          </a:p>
        </p:txBody>
      </p:sp>
      <p:pic>
        <p:nvPicPr>
          <p:cNvPr id="3" name="图片 2">
            <a:extLst>
              <a:ext uri="{FF2B5EF4-FFF2-40B4-BE49-F238E27FC236}">
                <a16:creationId xmlns:a16="http://schemas.microsoft.com/office/drawing/2014/main" id="{F4EB7EDA-50D1-59C1-20B1-F3DD1E9A81DE}"/>
              </a:ext>
            </a:extLst>
          </p:cNvPr>
          <p:cNvPicPr>
            <a:picLocks noChangeAspect="1"/>
          </p:cNvPicPr>
          <p:nvPr/>
        </p:nvPicPr>
        <p:blipFill>
          <a:blip r:embed="rId3"/>
          <a:stretch>
            <a:fillRect/>
          </a:stretch>
        </p:blipFill>
        <p:spPr>
          <a:xfrm>
            <a:off x="3044615" y="2124636"/>
            <a:ext cx="6102769" cy="2608727"/>
          </a:xfrm>
          <a:prstGeom prst="rect">
            <a:avLst/>
          </a:prstGeom>
        </p:spPr>
      </p:pic>
    </p:spTree>
    <p:extLst>
      <p:ext uri="{BB962C8B-B14F-4D97-AF65-F5344CB8AC3E}">
        <p14:creationId xmlns:p14="http://schemas.microsoft.com/office/powerpoint/2010/main" val="30211146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提交作业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1126709" y="605379"/>
            <a:ext cx="9766577" cy="107824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②使用管理员集成的作业模板提交作业步骤：</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选择需要的作业模板，选择需要申请的资源分区、节点数、</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CPU</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核数点击提交作业即可</a:t>
            </a:r>
          </a:p>
        </p:txBody>
      </p:sp>
      <p:pic>
        <p:nvPicPr>
          <p:cNvPr id="4" name="图片 3">
            <a:extLst>
              <a:ext uri="{FF2B5EF4-FFF2-40B4-BE49-F238E27FC236}">
                <a16:creationId xmlns:a16="http://schemas.microsoft.com/office/drawing/2014/main" id="{56BB289C-E125-488B-92D1-582F5A95E88A}"/>
              </a:ext>
            </a:extLst>
          </p:cNvPr>
          <p:cNvPicPr>
            <a:picLocks noChangeAspect="1"/>
          </p:cNvPicPr>
          <p:nvPr/>
        </p:nvPicPr>
        <p:blipFill>
          <a:blip r:embed="rId3"/>
          <a:stretch>
            <a:fillRect/>
          </a:stretch>
        </p:blipFill>
        <p:spPr>
          <a:xfrm>
            <a:off x="441567" y="1838034"/>
            <a:ext cx="4928826" cy="3951075"/>
          </a:xfrm>
          <a:prstGeom prst="rect">
            <a:avLst/>
          </a:prstGeom>
        </p:spPr>
      </p:pic>
      <p:pic>
        <p:nvPicPr>
          <p:cNvPr id="5" name="图片 4">
            <a:extLst>
              <a:ext uri="{FF2B5EF4-FFF2-40B4-BE49-F238E27FC236}">
                <a16:creationId xmlns:a16="http://schemas.microsoft.com/office/drawing/2014/main" id="{6CA469C8-063A-4F97-919F-BFE4B4DF1E83}"/>
              </a:ext>
            </a:extLst>
          </p:cNvPr>
          <p:cNvPicPr>
            <a:picLocks noChangeAspect="1"/>
          </p:cNvPicPr>
          <p:nvPr/>
        </p:nvPicPr>
        <p:blipFill>
          <a:blip r:embed="rId4"/>
          <a:stretch>
            <a:fillRect/>
          </a:stretch>
        </p:blipFill>
        <p:spPr>
          <a:xfrm>
            <a:off x="5775777" y="1838033"/>
            <a:ext cx="5053132" cy="3951076"/>
          </a:xfrm>
          <a:prstGeom prst="rect">
            <a:avLst/>
          </a:prstGeom>
        </p:spPr>
      </p:pic>
    </p:spTree>
    <p:extLst>
      <p:ext uri="{BB962C8B-B14F-4D97-AF65-F5344CB8AC3E}">
        <p14:creationId xmlns:p14="http://schemas.microsoft.com/office/powerpoint/2010/main" val="351739604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提交作业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977353" y="718163"/>
            <a:ext cx="9090670" cy="551368"/>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作业提交之后，点击作业</a:t>
            </a:r>
            <a:r>
              <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&gt;</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实时，可以查看正在运行的作业的相关信息</a:t>
            </a:r>
          </a:p>
        </p:txBody>
      </p:sp>
      <p:pic>
        <p:nvPicPr>
          <p:cNvPr id="2" name="图片 1">
            <a:extLst>
              <a:ext uri="{FF2B5EF4-FFF2-40B4-BE49-F238E27FC236}">
                <a16:creationId xmlns:a16="http://schemas.microsoft.com/office/drawing/2014/main" id="{C1D7FFD9-9B38-4BAE-A82F-193CAA707B50}"/>
              </a:ext>
            </a:extLst>
          </p:cNvPr>
          <p:cNvPicPr>
            <a:picLocks noChangeAspect="1"/>
          </p:cNvPicPr>
          <p:nvPr/>
        </p:nvPicPr>
        <p:blipFill>
          <a:blip r:embed="rId3"/>
          <a:stretch>
            <a:fillRect/>
          </a:stretch>
        </p:blipFill>
        <p:spPr>
          <a:xfrm>
            <a:off x="655882" y="1819093"/>
            <a:ext cx="10570636" cy="2431351"/>
          </a:xfrm>
          <a:prstGeom prst="rect">
            <a:avLst/>
          </a:prstGeom>
        </p:spPr>
      </p:pic>
    </p:spTree>
    <p:extLst>
      <p:ext uri="{BB962C8B-B14F-4D97-AF65-F5344CB8AC3E}">
        <p14:creationId xmlns:p14="http://schemas.microsoft.com/office/powerpoint/2010/main" val="394820638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7"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3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ClusterEngine</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rPr>
              <a:t>ClusterEngine-WebGUI</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查看已历史作业</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1" name="对角圆角矩形 20"/>
          <p:cNvSpPr/>
          <p:nvPr/>
        </p:nvSpPr>
        <p:spPr bwMode="auto">
          <a:xfrm>
            <a:off x="977353" y="718163"/>
            <a:ext cx="9090670" cy="551368"/>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sz="2000"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点击作业</a:t>
            </a:r>
            <a:r>
              <a:rPr lang="en-US" altLang="zh-CN" sz="2000"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&gt;</a:t>
            </a:r>
            <a:r>
              <a:rPr lang="zh-CN" altLang="en-US" sz="2000"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历史，可以查看历史作业记录</a:t>
            </a:r>
          </a:p>
        </p:txBody>
      </p:sp>
      <p:pic>
        <p:nvPicPr>
          <p:cNvPr id="3" name="图片 2">
            <a:extLst>
              <a:ext uri="{FF2B5EF4-FFF2-40B4-BE49-F238E27FC236}">
                <a16:creationId xmlns:a16="http://schemas.microsoft.com/office/drawing/2014/main" id="{7728F200-C845-6331-5BC6-907BE721EDD6}"/>
              </a:ext>
            </a:extLst>
          </p:cNvPr>
          <p:cNvPicPr>
            <a:picLocks noChangeAspect="1"/>
          </p:cNvPicPr>
          <p:nvPr/>
        </p:nvPicPr>
        <p:blipFill>
          <a:blip r:embed="rId3"/>
          <a:stretch>
            <a:fillRect/>
          </a:stretch>
        </p:blipFill>
        <p:spPr>
          <a:xfrm>
            <a:off x="655882" y="1573666"/>
            <a:ext cx="10488149" cy="3907934"/>
          </a:xfrm>
          <a:prstGeom prst="rect">
            <a:avLst/>
          </a:prstGeom>
        </p:spPr>
      </p:pic>
    </p:spTree>
    <p:extLst>
      <p:ext uri="{BB962C8B-B14F-4D97-AF65-F5344CB8AC3E}">
        <p14:creationId xmlns:p14="http://schemas.microsoft.com/office/powerpoint/2010/main" val="326464046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5138215" y="3591855"/>
            <a:ext cx="5039455" cy="648051"/>
          </a:xfrm>
        </p:spPr>
        <p:txBody>
          <a:bodyPr/>
          <a:lstStyle/>
          <a:p>
            <a:pPr algn="l" defTabSz="867034" fontAlgn="auto">
              <a:spcBef>
                <a:spcPts val="0"/>
              </a:spcBef>
              <a:spcAft>
                <a:spcPts val="0"/>
              </a:spcAft>
              <a:defRPr/>
            </a:pPr>
            <a:r>
              <a:rPr lang="en-US" altLang="zh-CN" sz="4000" b="1" dirty="0" err="1">
                <a:solidFill>
                  <a:prstClr val="black">
                    <a:lumMod val="75000"/>
                    <a:lumOff val="25000"/>
                  </a:prstClr>
                </a:solidFill>
                <a:sym typeface="SF Orson Casual Heavy" panose="00000400000000000000" pitchFamily="2" charset="0"/>
              </a:rPr>
              <a:t>Slurm</a:t>
            </a:r>
            <a:r>
              <a:rPr lang="zh-CN" altLang="en-US" sz="4000" b="1" dirty="0">
                <a:solidFill>
                  <a:prstClr val="black">
                    <a:lumMod val="75000"/>
                    <a:lumOff val="25000"/>
                  </a:prstClr>
                </a:solidFill>
                <a:sym typeface="SF Orson Casual Heavy" panose="00000400000000000000" pitchFamily="2" charset="0"/>
              </a:rPr>
              <a:t>作业调度介绍</a:t>
            </a:r>
            <a:endParaRPr lang="en-US" altLang="zh-CN" sz="4000" b="1" dirty="0">
              <a:solidFill>
                <a:prstClr val="black">
                  <a:lumMod val="75000"/>
                  <a:lumOff val="25000"/>
                </a:prst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4</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416498410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简介</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1298824" y="1121501"/>
            <a:ext cx="9992028" cy="411310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lvl="0">
              <a:lnSpc>
                <a:spcPct val="150000"/>
              </a:lnSpc>
            </a:pP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slurm</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是开源的、具有高度可扩展</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性</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的Linux集群超算系作业调度系统。超算</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集群</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可利用Slurm对资源和作业进行管理，以避免</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用户程序</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相互干扰，提高</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计算任务</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运行效率。</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Slurm</a:t>
            </a:r>
            <a:r>
              <a:rPr lang="zh-CN" altLang="en-US">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提供</a:t>
            </a:r>
            <a:r>
              <a:rPr lang="zh-CN" altLang="zh-CN">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交互式</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并行 srun 、批处理式 sbatch 或分配式 salloc 等命令提交</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任务</a:t>
            </a:r>
            <a:r>
              <a:rPr lang="zh-CN"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，提交后可以利用相关命令查询作业状态等 </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a:t>
            </a:r>
            <a:r>
              <a:rPr lang="en-US" altLang="zh-CN" dirty="0" err="1">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slurm</a:t>
            </a: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rPr>
              <a:t>有以下几个主要功能</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a:p>
            <a:pPr marL="393750" indent="-285750" defTabSz="801665" fontAlgn="base">
              <a:lnSpc>
                <a:spcPct val="150000"/>
              </a:lnSpc>
              <a:spcBef>
                <a:spcPts val="600"/>
              </a:spcBef>
              <a:spcAft>
                <a:spcPts val="600"/>
              </a:spcAft>
              <a:buFont typeface="Wingdings" panose="05000000000000000000" pitchFamily="2" charset="2"/>
              <a:buChar char="l"/>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在一段时间内为用户分配资源（计算节点的独占或非独占访问），以便他们可以执行工作。</a:t>
            </a:r>
          </a:p>
          <a:p>
            <a:pPr marL="393750" indent="-285750" defTabSz="801665" fontAlgn="base">
              <a:lnSpc>
                <a:spcPct val="150000"/>
              </a:lnSpc>
              <a:spcBef>
                <a:spcPts val="600"/>
              </a:spcBef>
              <a:spcAft>
                <a:spcPts val="600"/>
              </a:spcAft>
              <a:buFont typeface="Wingdings" panose="05000000000000000000" pitchFamily="2" charset="2"/>
              <a:buChar char="l"/>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提供了一个框架，在分配的节点集上进行启动，执行和监视工作（通常是并行作业）。</a:t>
            </a:r>
          </a:p>
          <a:p>
            <a:pPr marL="393750" indent="-285750" defTabSz="801665" fontAlgn="base">
              <a:lnSpc>
                <a:spcPct val="150000"/>
              </a:lnSpc>
              <a:spcBef>
                <a:spcPts val="600"/>
              </a:spcBef>
              <a:spcAft>
                <a:spcPts val="600"/>
              </a:spcAft>
              <a:buFont typeface="Wingdings" panose="05000000000000000000" pitchFamily="2" charset="2"/>
              <a:buChar char="l"/>
            </a:pPr>
            <a:r>
              <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rPr>
              <a:t>管理队列、进行资源仲裁，充分利用资源</a:t>
            </a:r>
            <a:endParaRPr lang="en-US" altLang="zh-CN"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Times New Roman" pitchFamily="18" charset="0"/>
            </a:endParaRPr>
          </a:p>
        </p:txBody>
      </p:sp>
    </p:spTree>
    <p:extLst>
      <p:ext uri="{BB962C8B-B14F-4D97-AF65-F5344CB8AC3E}">
        <p14:creationId xmlns:p14="http://schemas.microsoft.com/office/powerpoint/2010/main" val="118524683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组件</a:t>
            </a:r>
            <a:endPar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21" name="对角圆角矩形 20"/>
          <p:cNvSpPr/>
          <p:nvPr/>
        </p:nvSpPr>
        <p:spPr bwMode="auto">
          <a:xfrm>
            <a:off x="7030930" y="1462136"/>
            <a:ext cx="4654944" cy="392424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285750" indent="-285750">
              <a:lnSpc>
                <a:spcPct val="150000"/>
              </a:lnSpc>
              <a:buFont typeface="Wingdings" panose="05000000000000000000" pitchFamily="2" charset="2"/>
              <a:buChar char="l"/>
            </a:pPr>
            <a:r>
              <a:rPr lang="en-US" altLang="zh-CN" dirty="0" err="1">
                <a:latin typeface="微软雅黑" panose="020B0503020204020204" pitchFamily="34" charset="-122"/>
                <a:ea typeface="微软雅黑" panose="020B0503020204020204" pitchFamily="34" charset="-122"/>
              </a:rPr>
              <a:t>slurmctld</a:t>
            </a:r>
            <a:r>
              <a:rPr lang="zh-CN" altLang="en-US" dirty="0">
                <a:latin typeface="微软雅黑" panose="020B0503020204020204" pitchFamily="34" charset="-122"/>
                <a:ea typeface="微软雅黑" panose="020B0503020204020204" pitchFamily="34" charset="-122"/>
              </a:rPr>
              <a:t>：管理服务（可主备），安装在管理节点 </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：客户端服务，安装在计算节点，用于节点监控及执行调度操作</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err="1">
                <a:latin typeface="微软雅黑" panose="020B0503020204020204" pitchFamily="34" charset="-122"/>
                <a:ea typeface="微软雅黑" panose="020B0503020204020204" pitchFamily="34" charset="-122"/>
              </a:rPr>
              <a:t>slurmdbd</a:t>
            </a:r>
            <a:r>
              <a:rPr lang="zh-CN" altLang="en-US" dirty="0">
                <a:latin typeface="微软雅黑" panose="020B0503020204020204" pitchFamily="34" charset="-122"/>
                <a:ea typeface="微软雅黑" panose="020B0503020204020204" pitchFamily="34" charset="-122"/>
              </a:rPr>
              <a:t>：记录用户信息（包括历史作业状态、用户计费等）</a:t>
            </a:r>
            <a:endParaRPr lang="en-US" altLang="zh-CN" dirty="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567" y="1084915"/>
            <a:ext cx="6437727" cy="4828295"/>
          </a:xfrm>
          <a:prstGeom prst="rect">
            <a:avLst/>
          </a:prstGeom>
        </p:spPr>
      </p:pic>
    </p:spTree>
    <p:extLst>
      <p:ext uri="{BB962C8B-B14F-4D97-AF65-F5344CB8AC3E}">
        <p14:creationId xmlns:p14="http://schemas.microsoft.com/office/powerpoint/2010/main" val="35885540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常用术语</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923DC3B5-1AD9-4240-8B49-8EDBAC920FE5}"/>
              </a:ext>
            </a:extLst>
          </p:cNvPr>
          <p:cNvSpPr/>
          <p:nvPr/>
        </p:nvSpPr>
        <p:spPr>
          <a:xfrm>
            <a:off x="1513139" y="764970"/>
            <a:ext cx="9024731" cy="535531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节点：</a:t>
            </a:r>
            <a:r>
              <a:rPr lang="en-US" altLang="zh-CN" dirty="0">
                <a:latin typeface="微软雅黑" panose="020B0503020204020204" pitchFamily="34" charset="-122"/>
                <a:ea typeface="微软雅黑" panose="020B0503020204020204" pitchFamily="34" charset="-122"/>
              </a:rPr>
              <a:t>Node</a:t>
            </a:r>
          </a:p>
          <a:p>
            <a:pPr lvl="1"/>
            <a:r>
              <a:rPr lang="zh-CN" altLang="en-US" dirty="0">
                <a:latin typeface="微软雅黑" panose="020B0503020204020204" pitchFamily="34" charset="-122"/>
                <a:ea typeface="微软雅黑" panose="020B0503020204020204" pitchFamily="34" charset="-122"/>
              </a:rPr>
              <a:t>指计算节点</a:t>
            </a:r>
          </a:p>
          <a:p>
            <a:pPr lvl="1"/>
            <a:r>
              <a:rPr lang="zh-CN" altLang="en-US" dirty="0">
                <a:latin typeface="微软雅黑" panose="020B0503020204020204" pitchFamily="34" charset="-122"/>
                <a:ea typeface="微软雅黑" panose="020B0503020204020204" pitchFamily="34" charset="-122"/>
              </a:rPr>
              <a:t>包含</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处理器、内存、</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加速卡等资源</a:t>
            </a:r>
          </a:p>
          <a:p>
            <a:pPr lvl="1"/>
            <a:r>
              <a:rPr lang="zh-CN" altLang="en-US" dirty="0">
                <a:latin typeface="微软雅黑" panose="020B0503020204020204" pitchFamily="34" charset="-122"/>
                <a:ea typeface="微软雅黑" panose="020B0503020204020204" pitchFamily="34" charset="-122"/>
              </a:rPr>
              <a:t>具有空闲、分配、故障等状态</a:t>
            </a:r>
          </a:p>
          <a:p>
            <a:pPr lvl="1"/>
            <a:r>
              <a:rPr lang="zh-CN" altLang="en-US" dirty="0">
                <a:latin typeface="微软雅黑" panose="020B0503020204020204" pitchFamily="34" charset="-122"/>
                <a:ea typeface="微软雅黑" panose="020B0503020204020204" pitchFamily="34" charset="-122"/>
              </a:rPr>
              <a:t>使用节点名称标识</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本集群计算节点有</a:t>
            </a:r>
            <a:r>
              <a:rPr lang="en-US" altLang="zh-CN" dirty="0">
                <a:latin typeface="微软雅黑" panose="020B0503020204020204" pitchFamily="34" charset="-122"/>
                <a:ea typeface="微软雅黑" panose="020B0503020204020204" pitchFamily="34" charset="-122"/>
              </a:rPr>
              <a:t>cu01-cu23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gpu01-gpu03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fat01</a:t>
            </a:r>
            <a:endParaRPr lang="zh-CN" altLang="en-US"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分区：</a:t>
            </a:r>
            <a:r>
              <a:rPr lang="en-US" altLang="zh-CN" dirty="0">
                <a:latin typeface="微软雅黑" panose="020B0503020204020204" pitchFamily="34" charset="-122"/>
                <a:ea typeface="微软雅黑" panose="020B0503020204020204" pitchFamily="34" charset="-122"/>
              </a:rPr>
              <a:t>Partition</a:t>
            </a:r>
          </a:p>
          <a:p>
            <a:pPr lvl="1"/>
            <a:r>
              <a:rPr lang="zh-CN" altLang="en-US" dirty="0">
                <a:latin typeface="微软雅黑" panose="020B0503020204020204" pitchFamily="34" charset="-122"/>
                <a:ea typeface="微软雅黑" panose="020B0503020204020204" pitchFamily="34" charset="-122"/>
              </a:rPr>
              <a:t>节点的逻辑分组</a:t>
            </a:r>
          </a:p>
          <a:p>
            <a:pPr lvl="1"/>
            <a:r>
              <a:rPr lang="zh-CN" altLang="en-US" dirty="0">
                <a:latin typeface="微软雅黑" panose="020B0503020204020204" pitchFamily="34" charset="-122"/>
                <a:ea typeface="微软雅黑" panose="020B0503020204020204" pitchFamily="34" charset="-122"/>
              </a:rPr>
              <a:t>提供一种管理机制，可设置资源限制、访问权限、优先级等</a:t>
            </a:r>
          </a:p>
          <a:p>
            <a:pPr lvl="1"/>
            <a:r>
              <a:rPr lang="zh-CN" altLang="en-US" dirty="0">
                <a:latin typeface="微软雅黑" panose="020B0503020204020204" pitchFamily="34" charset="-122"/>
                <a:ea typeface="微软雅黑" panose="020B0503020204020204" pitchFamily="34" charset="-122"/>
              </a:rPr>
              <a:t>分区可重叠，提供类似于队列的功能</a:t>
            </a:r>
          </a:p>
          <a:p>
            <a:pPr lvl="1"/>
            <a:r>
              <a:rPr lang="zh-CN" altLang="en-US" dirty="0">
                <a:latin typeface="微软雅黑" panose="020B0503020204020204" pitchFamily="34" charset="-122"/>
                <a:ea typeface="微软雅黑" panose="020B0503020204020204" pitchFamily="34" charset="-122"/>
              </a:rPr>
              <a:t>使用分区名称标识</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本集群分区为</a:t>
            </a:r>
            <a:r>
              <a:rPr lang="en-US" altLang="zh-CN" dirty="0">
                <a:latin typeface="微软雅黑" panose="020B0503020204020204" pitchFamily="34" charset="-122"/>
                <a:ea typeface="微软雅黑" panose="020B0503020204020204" pitchFamily="34" charset="-122"/>
              </a:rPr>
              <a:t>CU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FAT</a:t>
            </a:r>
          </a:p>
          <a:p>
            <a:pPr lvl="1"/>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作业：</a:t>
            </a:r>
            <a:r>
              <a:rPr lang="en-US" altLang="zh-CN" dirty="0">
                <a:latin typeface="微软雅黑" panose="020B0503020204020204" pitchFamily="34" charset="-122"/>
                <a:ea typeface="微软雅黑" panose="020B0503020204020204" pitchFamily="34" charset="-122"/>
              </a:rPr>
              <a:t>Job</a:t>
            </a:r>
          </a:p>
          <a:p>
            <a:pPr lvl="1"/>
            <a:r>
              <a:rPr lang="zh-CN" altLang="en-US" dirty="0">
                <a:latin typeface="微软雅黑" panose="020B0503020204020204" pitchFamily="34" charset="-122"/>
                <a:ea typeface="微软雅黑" panose="020B0503020204020204" pitchFamily="34" charset="-122"/>
              </a:rPr>
              <a:t>一次资源分配</a:t>
            </a:r>
          </a:p>
          <a:p>
            <a:pPr lvl="1"/>
            <a:r>
              <a:rPr lang="zh-CN" altLang="en-US" dirty="0">
                <a:latin typeface="微软雅黑" panose="020B0503020204020204" pitchFamily="34" charset="-122"/>
                <a:ea typeface="微软雅黑" panose="020B0503020204020204" pitchFamily="34" charset="-122"/>
              </a:rPr>
              <a:t>位于一个分区中，作业不能跨分区</a:t>
            </a:r>
          </a:p>
          <a:p>
            <a:pPr lvl="1"/>
            <a:r>
              <a:rPr lang="zh-CN" altLang="en-US" dirty="0">
                <a:latin typeface="微软雅黑" panose="020B0503020204020204" pitchFamily="34" charset="-122"/>
                <a:ea typeface="微软雅黑" panose="020B0503020204020204" pitchFamily="34" charset="-122"/>
              </a:rPr>
              <a:t>排队调度后分配资源运行</a:t>
            </a:r>
          </a:p>
          <a:p>
            <a:pPr lvl="1"/>
            <a:r>
              <a:rPr lang="zh-CN" altLang="en-US" dirty="0">
                <a:latin typeface="微软雅黑" panose="020B0503020204020204" pitchFamily="34" charset="-122"/>
                <a:ea typeface="微软雅黑" panose="020B0503020204020204" pitchFamily="34" charset="-122"/>
              </a:rPr>
              <a:t>通过作业 </a:t>
            </a:r>
            <a:r>
              <a:rPr lang="en-US" altLang="zh-CN" dirty="0">
                <a:latin typeface="微软雅黑" panose="020B0503020204020204" pitchFamily="34" charset="-122"/>
                <a:ea typeface="微软雅黑" panose="020B0503020204020204" pitchFamily="34" charset="-122"/>
              </a:rPr>
              <a:t>ID </a:t>
            </a:r>
            <a:r>
              <a:rPr lang="zh-CN" altLang="en-US" dirty="0">
                <a:latin typeface="微软雅黑" panose="020B0503020204020204" pitchFamily="34" charset="-122"/>
                <a:ea typeface="微软雅黑" panose="020B0503020204020204" pitchFamily="34" charset="-122"/>
              </a:rPr>
              <a:t>标识</a:t>
            </a:r>
          </a:p>
        </p:txBody>
      </p:sp>
    </p:spTree>
    <p:extLst>
      <p:ext uri="{BB962C8B-B14F-4D97-AF65-F5344CB8AC3E}">
        <p14:creationId xmlns:p14="http://schemas.microsoft.com/office/powerpoint/2010/main" val="96242477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常用命令介绍</a:t>
            </a:r>
            <a:endParaRPr lang="en-US" altLang="zh-CN" sz="1896" dirty="0">
              <a:solidFill>
                <a:srgbClr val="0070C0"/>
              </a:solidFill>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extLst>
              <p:ext uri="{D42A27DB-BD31-4B8C-83A1-F6EECF244321}">
                <p14:modId xmlns:p14="http://schemas.microsoft.com/office/powerpoint/2010/main" val="4200768807"/>
              </p:ext>
            </p:extLst>
          </p:nvPr>
        </p:nvGraphicFramePr>
        <p:xfrm>
          <a:off x="1298824" y="737220"/>
          <a:ext cx="10338457" cy="5244594"/>
        </p:xfrm>
        <a:graphic>
          <a:graphicData uri="http://schemas.openxmlformats.org/drawingml/2006/table">
            <a:tbl>
              <a:tblPr firstRow="1" bandRow="1">
                <a:tableStyleId>{5C22544A-7EE6-4342-B048-85BDC9FD1C3A}</a:tableStyleId>
              </a:tblPr>
              <a:tblGrid>
                <a:gridCol w="2770851">
                  <a:extLst>
                    <a:ext uri="{9D8B030D-6E8A-4147-A177-3AD203B41FA5}">
                      <a16:colId xmlns:a16="http://schemas.microsoft.com/office/drawing/2014/main" val="20000"/>
                    </a:ext>
                  </a:extLst>
                </a:gridCol>
                <a:gridCol w="7567606">
                  <a:extLst>
                    <a:ext uri="{9D8B030D-6E8A-4147-A177-3AD203B41FA5}">
                      <a16:colId xmlns:a16="http://schemas.microsoft.com/office/drawing/2014/main" val="20001"/>
                    </a:ext>
                  </a:extLst>
                </a:gridCol>
              </a:tblGrid>
              <a:tr h="492068">
                <a:tc>
                  <a:txBody>
                    <a:bodyPr/>
                    <a:lstStyle/>
                    <a:p>
                      <a:pPr algn="l"/>
                      <a:r>
                        <a:rPr lang="zh-CN" altLang="en-US" sz="1800" b="1" dirty="0">
                          <a:effectLst/>
                          <a:latin typeface="Content-font"/>
                          <a:ea typeface="微软雅黑" panose="020B0503020204020204" pitchFamily="34" charset="-122"/>
                        </a:rPr>
                        <a:t>命令</a:t>
                      </a:r>
                      <a:endParaRPr lang="zh-CN" altLang="en-US" sz="1800" b="1" dirty="0">
                        <a:effectLst/>
                        <a:latin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l"/>
                      <a:r>
                        <a:rPr lang="zh-CN" altLang="en-US" sz="1800" b="1" dirty="0">
                          <a:effectLst/>
                          <a:latin typeface="Content-font"/>
                          <a:ea typeface="微软雅黑" panose="020B0503020204020204" pitchFamily="34" charset="-122"/>
                        </a:rPr>
                        <a:t>作用</a:t>
                      </a:r>
                      <a:endParaRPr lang="zh-CN" altLang="en-US" sz="1800" b="1" dirty="0">
                        <a:effectLst/>
                        <a:latin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654025">
                <a:tc>
                  <a:txBody>
                    <a:bodyPr/>
                    <a:lstStyle/>
                    <a:p>
                      <a:pPr marL="0" algn="l" defTabSz="914400" rtl="0" eaLnBrk="1" latinLnBrk="0" hangingPunct="1"/>
                      <a:r>
                        <a:rPr lang="en-US" sz="1600" b="0" u="none"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b="0" u="none" kern="1200" dirty="0">
                          <a:solidFill>
                            <a:schemeClr val="tx1"/>
                          </a:solidFill>
                          <a:effectLst/>
                          <a:latin typeface="微软雅黑" panose="020B0503020204020204" pitchFamily="34" charset="-122"/>
                          <a:ea typeface="微软雅黑" panose="020B0503020204020204" pitchFamily="34" charset="-122"/>
                          <a:cs typeface="+mn-cs"/>
                        </a:rPr>
                        <a:t>sinfo</a:t>
                      </a:r>
                      <a:endParaRPr lang="en-US" sz="1600" b="0" u="none" kern="1200" dirty="0">
                        <a:solidFill>
                          <a:schemeClr val="tx1"/>
                        </a:solidFill>
                        <a:effectLst/>
                        <a:latin typeface="微软雅黑" panose="020B0503020204020204" pitchFamily="34" charset="-122"/>
                        <a:ea typeface="微软雅黑" panose="020B0503020204020204" pitchFamily="34" charset="-122"/>
                        <a:cs typeface="+mn-cs"/>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dirty="0">
                          <a:effectLst/>
                          <a:latin typeface="微软雅黑" panose="020B0503020204020204" pitchFamily="34" charset="-122"/>
                          <a:ea typeface="微软雅黑" panose="020B0503020204020204" pitchFamily="34" charset="-122"/>
                        </a:rPr>
                        <a:t>查看有关</a:t>
                      </a:r>
                      <a:r>
                        <a:rPr lang="en-US" altLang="zh-CN" sz="1600" b="0" dirty="0" err="1">
                          <a:effectLst/>
                          <a:latin typeface="微软雅黑" panose="020B0503020204020204" pitchFamily="34" charset="-122"/>
                          <a:ea typeface="微软雅黑" panose="020B0503020204020204" pitchFamily="34" charset="-122"/>
                        </a:rPr>
                        <a:t>slurm</a:t>
                      </a:r>
                      <a:r>
                        <a:rPr lang="zh-CN" altLang="en-US" sz="1600" b="0" dirty="0">
                          <a:effectLst/>
                          <a:latin typeface="微软雅黑" panose="020B0503020204020204" pitchFamily="34" charset="-122"/>
                          <a:ea typeface="微软雅黑" panose="020B0503020204020204" pitchFamily="34" charset="-122"/>
                        </a:rPr>
                        <a:t>节点和分区的信息</a:t>
                      </a:r>
                      <a:endParaRPr lang="zh-CN" alt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2068">
                <a:tc>
                  <a:txBody>
                    <a:bodyPr/>
                    <a:lstStyle/>
                    <a:p>
                      <a:pPr marL="0" algn="l" defTabSz="914400" rtl="0" eaLnBrk="1" latinLnBrk="0" hangingPunct="1"/>
                      <a:r>
                        <a:rPr lang="en-US" sz="1600" b="0" u="none"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dirty="0">
                          <a:latin typeface="微软雅黑" panose="020B0503020204020204" pitchFamily="34" charset="-122"/>
                          <a:ea typeface="微软雅黑" panose="020B0503020204020204" pitchFamily="34" charset="-122"/>
                        </a:rPr>
                        <a:t>scontrol show</a:t>
                      </a:r>
                      <a:r>
                        <a:rPr lang="en-US" altLang="zh-CN" sz="1600" baseline="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partition</a:t>
                      </a:r>
                      <a:endParaRPr lang="en-US" sz="1600" b="0" u="none" kern="1200" dirty="0">
                        <a:solidFill>
                          <a:schemeClr val="dk1"/>
                        </a:solidFill>
                        <a:effectLst/>
                        <a:latin typeface="微软雅黑" panose="020B0503020204020204" pitchFamily="34" charset="-122"/>
                        <a:ea typeface="微软雅黑" panose="020B0503020204020204" pitchFamily="34" charset="-122"/>
                        <a:cs typeface="+mn-cs"/>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dirty="0">
                          <a:latin typeface="微软雅黑" panose="020B0503020204020204" pitchFamily="34" charset="-122"/>
                          <a:ea typeface="微软雅黑" panose="020B0503020204020204" pitchFamily="34" charset="-122"/>
                        </a:rPr>
                        <a:t>查看详细分区信息</a:t>
                      </a:r>
                      <a:endParaRPr lang="zh-CN" alt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4025">
                <a:tc>
                  <a:txBody>
                    <a:bodyPr/>
                    <a:lstStyle/>
                    <a:p>
                      <a:pPr marL="0" algn="l" defTabSz="914400" rtl="0" eaLnBrk="1" latinLnBrk="0" hangingPunct="1"/>
                      <a:r>
                        <a:rPr lang="en-US" sz="1600" b="0" u="none"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dirty="0">
                          <a:latin typeface="微软雅黑" panose="020B0503020204020204" pitchFamily="34" charset="-122"/>
                          <a:ea typeface="微软雅黑" panose="020B0503020204020204" pitchFamily="34" charset="-122"/>
                        </a:rPr>
                        <a:t>scontrol show node</a:t>
                      </a:r>
                      <a:endParaRPr lang="en-US" sz="1600" b="0" u="none" kern="1200" dirty="0">
                        <a:solidFill>
                          <a:schemeClr val="dk1"/>
                        </a:solidFill>
                        <a:effectLst/>
                        <a:latin typeface="微软雅黑" panose="020B0503020204020204" pitchFamily="34" charset="-122"/>
                        <a:ea typeface="微软雅黑" panose="020B0503020204020204" pitchFamily="34" charset="-122"/>
                        <a:cs typeface="+mn-cs"/>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34" charset="-122"/>
                          <a:ea typeface="微软雅黑" panose="020B0503020204020204" pitchFamily="34" charset="-122"/>
                        </a:rPr>
                        <a:t>查看详细节点信息</a:t>
                      </a:r>
                      <a:endParaRPr lang="zh-CN" alt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92068">
                <a:tc>
                  <a:txBody>
                    <a:bodyPr/>
                    <a:lstStyle/>
                    <a:p>
                      <a:pPr marL="0" algn="l" defTabSz="914400" rtl="0" eaLnBrk="1" latinLnBrk="0" hangingPunct="1"/>
                      <a:r>
                        <a:rPr lang="en-US" sz="1600" b="0" u="none"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dirty="0">
                          <a:latin typeface="微软雅黑" panose="020B0503020204020204" pitchFamily="34" charset="-122"/>
                          <a:ea typeface="微软雅黑" panose="020B0503020204020204" pitchFamily="34" charset="-122"/>
                        </a:rPr>
                        <a:t>scontrol show job </a:t>
                      </a:r>
                      <a:endParaRPr lang="en-US" sz="1600" b="0" u="none" kern="1200" dirty="0">
                        <a:solidFill>
                          <a:schemeClr val="dk1"/>
                        </a:solidFill>
                        <a:effectLst/>
                        <a:latin typeface="微软雅黑" panose="020B0503020204020204" pitchFamily="34" charset="-122"/>
                        <a:ea typeface="微软雅黑" panose="020B0503020204020204" pitchFamily="34" charset="-122"/>
                        <a:cs typeface="+mn-cs"/>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dirty="0">
                          <a:effectLst/>
                          <a:latin typeface="微软雅黑" panose="020B0503020204020204" pitchFamily="34" charset="-122"/>
                          <a:ea typeface="微软雅黑" panose="020B0503020204020204" pitchFamily="34" charset="-122"/>
                        </a:rPr>
                        <a:t>查看作业详细信息</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92068">
                <a:tc>
                  <a:txBody>
                    <a:bodyPr/>
                    <a:lstStyle/>
                    <a:p>
                      <a:pPr algn="l"/>
                      <a:r>
                        <a:rPr lang="en-US" sz="1600" b="0" dirty="0">
                          <a:effectLst/>
                          <a:latin typeface="微软雅黑" panose="020B0503020204020204" pitchFamily="34" charset="-122"/>
                          <a:ea typeface="微软雅黑" panose="020B0503020204020204" pitchFamily="34" charset="-122"/>
                        </a:rPr>
                        <a:t>s</a:t>
                      </a:r>
                      <a:r>
                        <a:rPr lang="en-US" altLang="zh-CN" sz="1600" b="0" dirty="0">
                          <a:effectLst/>
                          <a:latin typeface="微软雅黑" panose="020B0503020204020204" pitchFamily="34" charset="-122"/>
                          <a:ea typeface="微软雅黑" panose="020B0503020204020204" pitchFamily="34" charset="-122"/>
                        </a:rPr>
                        <a:t>batch</a:t>
                      </a:r>
                      <a:endParaRPr 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effectLst/>
                          <a:latin typeface="微软雅黑" panose="020B0503020204020204" pitchFamily="34" charset="-122"/>
                          <a:ea typeface="微软雅黑" panose="020B0503020204020204" pitchFamily="34" charset="-122"/>
                        </a:rPr>
                        <a:t>批处理方式提交作业</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2068">
                <a:tc>
                  <a:txBody>
                    <a:bodyPr/>
                    <a:lstStyle/>
                    <a:p>
                      <a:pPr algn="l"/>
                      <a:r>
                        <a:rPr lang="en-US" sz="1600" b="0" dirty="0" err="1">
                          <a:effectLst/>
                          <a:latin typeface="微软雅黑" panose="020B0503020204020204" pitchFamily="34" charset="-122"/>
                          <a:ea typeface="微软雅黑" panose="020B0503020204020204" pitchFamily="34" charset="-122"/>
                        </a:rPr>
                        <a:t>s</a:t>
                      </a:r>
                      <a:r>
                        <a:rPr lang="en-US" altLang="zh-CN" sz="1600" b="0" dirty="0" err="1">
                          <a:effectLst/>
                          <a:latin typeface="微软雅黑" panose="020B0503020204020204" pitchFamily="34" charset="-122"/>
                          <a:ea typeface="微软雅黑" panose="020B0503020204020204" pitchFamily="34" charset="-122"/>
                        </a:rPr>
                        <a:t>run</a:t>
                      </a:r>
                      <a:endParaRPr 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dirty="0">
                          <a:effectLst/>
                          <a:latin typeface="微软雅黑" panose="020B0503020204020204" pitchFamily="34" charset="-122"/>
                          <a:ea typeface="微软雅黑" panose="020B0503020204020204" pitchFamily="34" charset="-122"/>
                        </a:rPr>
                        <a:t>交互式提交并行作业</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92068">
                <a:tc>
                  <a:txBody>
                    <a:bodyPr/>
                    <a:lstStyle/>
                    <a:p>
                      <a:pPr marL="0" algn="l" defTabSz="914400" rtl="0" eaLnBrk="1" latinLnBrk="0" hangingPunct="1"/>
                      <a:r>
                        <a:rPr lang="en-US" sz="1600" b="0" u="none" kern="1200" dirty="0">
                          <a:solidFill>
                            <a:schemeClr val="dk1"/>
                          </a:solidFill>
                          <a:effectLst/>
                          <a:latin typeface="微软雅黑" panose="020B0503020204020204" pitchFamily="34" charset="-122"/>
                          <a:ea typeface="微软雅黑" panose="020B0503020204020204" pitchFamily="34" charset="-122"/>
                          <a:cs typeface="+mn-cs"/>
                        </a:rPr>
                        <a:t>​squeue</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dirty="0">
                          <a:effectLst/>
                          <a:latin typeface="微软雅黑" panose="020B0503020204020204" pitchFamily="34" charset="-122"/>
                          <a:ea typeface="微软雅黑" panose="020B0503020204020204" pitchFamily="34" charset="-122"/>
                        </a:rPr>
                        <a:t>报告作业或作业步骤的状态</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92068">
                <a:tc>
                  <a:txBody>
                    <a:bodyPr/>
                    <a:lstStyle/>
                    <a:p>
                      <a:pPr marL="0" algn="l" defTabSz="914400" rtl="0" eaLnBrk="1" latinLnBrk="0" hangingPunct="1"/>
                      <a:r>
                        <a:rPr lang="en-US" sz="1600" b="0" u="none" kern="1200" dirty="0" err="1">
                          <a:solidFill>
                            <a:schemeClr val="dk1"/>
                          </a:solidFill>
                          <a:effectLst/>
                          <a:latin typeface="微软雅黑" panose="020B0503020204020204" pitchFamily="34" charset="-122"/>
                          <a:ea typeface="微软雅黑" panose="020B0503020204020204" pitchFamily="34" charset="-122"/>
                          <a:cs typeface="+mn-cs"/>
                        </a:rPr>
                        <a:t>scancel</a:t>
                      </a:r>
                      <a:endParaRPr lang="en-US" sz="1600" b="0" u="none" kern="1200" dirty="0">
                        <a:solidFill>
                          <a:schemeClr val="dk1"/>
                        </a:solidFill>
                        <a:effectLst/>
                        <a:latin typeface="微软雅黑" panose="020B0503020204020204" pitchFamily="34" charset="-122"/>
                        <a:ea typeface="微软雅黑" panose="020B0503020204020204" pitchFamily="34" charset="-122"/>
                        <a:cs typeface="+mn-cs"/>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dirty="0">
                          <a:effectLst/>
                          <a:latin typeface="微软雅黑" panose="020B0503020204020204" pitchFamily="34" charset="-122"/>
                          <a:ea typeface="微软雅黑" panose="020B0503020204020204" pitchFamily="34" charset="-122"/>
                        </a:rPr>
                        <a:t>取消挂起或等待或者运行的作业 </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92068">
                <a:tc>
                  <a:txBody>
                    <a:bodyPr/>
                    <a:lstStyle/>
                    <a:p>
                      <a:pPr algn="l"/>
                      <a:r>
                        <a:rPr lang="en-US" sz="1600" b="0" dirty="0" err="1">
                          <a:effectLst/>
                          <a:latin typeface="微软雅黑" panose="020B0503020204020204" pitchFamily="34" charset="-122"/>
                          <a:ea typeface="微软雅黑" panose="020B0503020204020204" pitchFamily="34" charset="-122"/>
                        </a:rPr>
                        <a:t>s</a:t>
                      </a:r>
                      <a:r>
                        <a:rPr lang="en-US" altLang="zh-CN" sz="1600" b="0" dirty="0" err="1">
                          <a:effectLst/>
                          <a:latin typeface="微软雅黑" panose="020B0503020204020204" pitchFamily="34" charset="-122"/>
                          <a:ea typeface="微软雅黑" panose="020B0503020204020204" pitchFamily="34" charset="-122"/>
                        </a:rPr>
                        <a:t>acct</a:t>
                      </a:r>
                      <a:endParaRPr lang="en-US" sz="1600" dirty="0">
                        <a:effectLst/>
                        <a:latin typeface="微软雅黑" panose="020B0503020204020204" pitchFamily="34" charset="-122"/>
                        <a:ea typeface="微软雅黑" panose="020B0503020204020204" pitchFamily="34" charset="-122"/>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dirty="0">
                          <a:effectLst/>
                          <a:latin typeface="微软雅黑" panose="020B0503020204020204" pitchFamily="34" charset="-122"/>
                          <a:ea typeface="微软雅黑" panose="020B0503020204020204" pitchFamily="34" charset="-122"/>
                        </a:rPr>
                        <a:t>查看已完成的作业</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06585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与</a:t>
            </a:r>
            <a:r>
              <a:rPr lang="en-US" altLang="zh-CN" sz="1896" dirty="0">
                <a:solidFill>
                  <a:srgbClr val="0070C0"/>
                </a:solidFill>
                <a:latin typeface="微软雅黑" panose="020B0503020204020204" pitchFamily="34" charset="-122"/>
                <a:ea typeface="微软雅黑" panose="020B0503020204020204" pitchFamily="34" charset="-122"/>
              </a:rPr>
              <a:t>PBS</a:t>
            </a:r>
            <a:r>
              <a:rPr lang="zh-CN" altLang="en-US" sz="1896" dirty="0">
                <a:solidFill>
                  <a:srgbClr val="0070C0"/>
                </a:solidFill>
                <a:latin typeface="微软雅黑" panose="020B0503020204020204" pitchFamily="34" charset="-122"/>
                <a:ea typeface="微软雅黑" panose="020B0503020204020204" pitchFamily="34" charset="-122"/>
              </a:rPr>
              <a:t>调度命令对比</a:t>
            </a:r>
            <a:endParaRPr lang="en-US" altLang="zh-CN" sz="1896" dirty="0">
              <a:solidFill>
                <a:srgbClr val="0070C0"/>
              </a:solidFill>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extLst>
              <p:ext uri="{D42A27DB-BD31-4B8C-83A1-F6EECF244321}">
                <p14:modId xmlns:p14="http://schemas.microsoft.com/office/powerpoint/2010/main" val="4061758539"/>
              </p:ext>
            </p:extLst>
          </p:nvPr>
        </p:nvGraphicFramePr>
        <p:xfrm>
          <a:off x="1298824" y="580729"/>
          <a:ext cx="8714141" cy="5085360"/>
        </p:xfrm>
        <a:graphic>
          <a:graphicData uri="http://schemas.openxmlformats.org/drawingml/2006/table">
            <a:tbl>
              <a:tblPr firstRow="1" bandRow="1">
                <a:tableStyleId>{5C22544A-7EE6-4342-B048-85BDC9FD1C3A}</a:tableStyleId>
              </a:tblPr>
              <a:tblGrid>
                <a:gridCol w="2499681">
                  <a:extLst>
                    <a:ext uri="{9D8B030D-6E8A-4147-A177-3AD203B41FA5}">
                      <a16:colId xmlns:a16="http://schemas.microsoft.com/office/drawing/2014/main" val="20000"/>
                    </a:ext>
                  </a:extLst>
                </a:gridCol>
                <a:gridCol w="3107230">
                  <a:extLst>
                    <a:ext uri="{9D8B030D-6E8A-4147-A177-3AD203B41FA5}">
                      <a16:colId xmlns:a16="http://schemas.microsoft.com/office/drawing/2014/main" val="20001"/>
                    </a:ext>
                  </a:extLst>
                </a:gridCol>
                <a:gridCol w="3107230">
                  <a:extLst>
                    <a:ext uri="{9D8B030D-6E8A-4147-A177-3AD203B41FA5}">
                      <a16:colId xmlns:a16="http://schemas.microsoft.com/office/drawing/2014/main" val="1172107382"/>
                    </a:ext>
                  </a:extLst>
                </a:gridCol>
              </a:tblGrid>
              <a:tr h="477128">
                <a:tc>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命令</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SLURM</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PBS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477128">
                <a:tc>
                  <a:txBody>
                    <a:bodyPr/>
                    <a:lstStyle/>
                    <a:p>
                      <a:pPr marL="0" algn="l" defTabSz="1218730" rtl="0" eaLnBrk="1" fontAlgn="ctr" latinLnBrk="0" hangingPunct="1"/>
                      <a:r>
                        <a:rPr lang="zh-CN" altLang="en-US" sz="1100" b="1" i="0" u="none" strike="noStrike" kern="1200">
                          <a:solidFill>
                            <a:srgbClr val="000000"/>
                          </a:solidFill>
                          <a:effectLst/>
                          <a:latin typeface="微软雅黑" panose="020B0503020204020204" pitchFamily="34" charset="-122"/>
                          <a:ea typeface="微软雅黑" panose="020B0503020204020204" pitchFamily="34" charset="-122"/>
                          <a:cs typeface="+mn-cs"/>
                        </a:rPr>
                        <a:t>提交作业</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1218730" rtl="0" eaLnBrk="1" fontAlgn="ctr" latinLnBrk="0" hangingPunct="1"/>
                      <a:r>
                        <a:rPr lang="en-US" sz="1100" b="1" i="0" u="none" strike="noStrike" kern="1200">
                          <a:solidFill>
                            <a:srgbClr val="000000"/>
                          </a:solidFill>
                          <a:effectLst/>
                          <a:latin typeface="微软雅黑" panose="020B0503020204020204" pitchFamily="34" charset="-122"/>
                          <a:ea typeface="微软雅黑" panose="020B0503020204020204" pitchFamily="34" charset="-122"/>
                          <a:cs typeface="+mn-cs"/>
                        </a:rPr>
                        <a:t>sbatch job_script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1218730" rtl="0" eaLnBrk="1" fontAlgn="ctr" latinLnBrk="0" hangingPunct="1"/>
                      <a:r>
                        <a:rPr lang="en-US" sz="11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qsub</a:t>
                      </a:r>
                      <a:r>
                        <a:rPr lang="en-US" sz="1100" b="1" i="0" u="none" strike="noStrike" kern="1200" dirty="0">
                          <a:solidFill>
                            <a:srgbClr val="000000"/>
                          </a:solidFill>
                          <a:effectLst/>
                          <a:latin typeface="微软雅黑" panose="020B0503020204020204" pitchFamily="34" charset="-122"/>
                          <a:ea typeface="微软雅黑" panose="020B0503020204020204" pitchFamily="34" charset="-122"/>
                          <a:cs typeface="+mn-cs"/>
                        </a:rPr>
                        <a:t> </a:t>
                      </a:r>
                      <a:r>
                        <a:rPr lang="en-US" sz="11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job_script</a:t>
                      </a:r>
                      <a:endParaRPr lang="en-US" sz="11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2525897"/>
                  </a:ext>
                </a:extLst>
              </a:tr>
              <a:tr h="477128">
                <a:tc>
                  <a:txBody>
                    <a:bodyPr/>
                    <a:lstStyle/>
                    <a:p>
                      <a:pPr marL="0" algn="l" defTabSz="1218730" rtl="0" eaLnBrk="1" fontAlgn="ctr" latinLnBrk="0" hangingPunct="1"/>
                      <a:r>
                        <a:rPr lang="zh-CN" altLang="en-US" sz="11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查看作业</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1218730" rtl="0" eaLnBrk="1" fontAlgn="ctr" latinLnBrk="0" hangingPunct="1"/>
                      <a:r>
                        <a:rPr lang="en-US" sz="1100" b="1" i="0" u="none" strike="noStrike" kern="1200">
                          <a:solidFill>
                            <a:srgbClr val="000000"/>
                          </a:solidFill>
                          <a:effectLst/>
                          <a:latin typeface="微软雅黑" panose="020B0503020204020204" pitchFamily="34" charset="-122"/>
                          <a:ea typeface="微软雅黑" panose="020B0503020204020204" pitchFamily="34" charset="-122"/>
                          <a:cs typeface="+mn-cs"/>
                        </a:rPr>
                        <a:t>squeue -u &lt;user&gt;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1218730" rtl="0" eaLnBrk="1" fontAlgn="ctr" latinLnBrk="0" hangingPunct="1"/>
                      <a:r>
                        <a:rPr lang="en-US" sz="1100" b="1" i="0" u="none" strike="noStrike" kern="1200" dirty="0" err="1">
                          <a:solidFill>
                            <a:srgbClr val="000000"/>
                          </a:solidFill>
                          <a:effectLst/>
                          <a:latin typeface="微软雅黑" panose="020B0503020204020204" pitchFamily="34" charset="-122"/>
                          <a:ea typeface="微软雅黑" panose="020B0503020204020204" pitchFamily="34" charset="-122"/>
                          <a:cs typeface="+mn-cs"/>
                        </a:rPr>
                        <a:t>qstat</a:t>
                      </a:r>
                      <a:r>
                        <a:rPr lang="en-US" sz="1100" b="1" i="0" u="none" strike="noStrike" kern="1200" dirty="0">
                          <a:solidFill>
                            <a:srgbClr val="000000"/>
                          </a:solidFill>
                          <a:effectLst/>
                          <a:latin typeface="微软雅黑" panose="020B0503020204020204" pitchFamily="34" charset="-122"/>
                          <a:ea typeface="微软雅黑" panose="020B0503020204020204" pitchFamily="34" charset="-122"/>
                          <a:cs typeface="+mn-cs"/>
                        </a:rPr>
                        <a:t> -u &lt;user&gt;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704041"/>
                  </a:ext>
                </a:extLst>
              </a:tr>
              <a:tr h="634168">
                <a:tc>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终止作业</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scancel &lt;jobid&gt;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qdel &lt;jobid&gt;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712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查看作业输出</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sacct -j &lt;jobid&gt; --output stdout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qstat -f &lt;jobid&gt;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3416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查看队列状态</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sinfo</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qstat -Q</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712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查看节点状态</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sinfo -N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pbsnodes -a</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712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设置节点状态</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scontrol update NodeName state=down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pbsnodes</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 -c </a:t>
                      </a: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NodeName</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 state=offline</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7712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查看队列配置</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scontrol show partition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qmgr</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 -c 'p 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7128">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查看服务器配置</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scontrol</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 show server</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qmgr</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 -c 's </a:t>
                      </a:r>
                      <a:r>
                        <a:rPr lang="en-US" sz="1100" b="1" i="0" u="none" strike="noStrike" dirty="0" err="1">
                          <a:solidFill>
                            <a:srgbClr val="000000"/>
                          </a:solidFill>
                          <a:effectLst/>
                          <a:latin typeface="微软雅黑" panose="020B0503020204020204" pitchFamily="34" charset="-122"/>
                          <a:ea typeface="微软雅黑" panose="020B0503020204020204" pitchFamily="34" charset="-122"/>
                        </a:rPr>
                        <a:t>s</a:t>
                      </a:r>
                      <a:r>
                        <a:rPr lang="en-US" sz="11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3735879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sinfo</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1190729" y="682729"/>
            <a:ext cx="9469250" cy="347232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b="1" dirty="0" err="1">
                <a:latin typeface="微软雅黑" panose="020B0503020204020204" pitchFamily="34" charset="-122"/>
                <a:ea typeface="微软雅黑" panose="020B0503020204020204" pitchFamily="34" charset="-122"/>
                <a:sym typeface="宋体" panose="02010600030101010101" pitchFamily="2" charset="-122"/>
              </a:rPr>
              <a:t>Sinfo</a:t>
            </a:r>
            <a:r>
              <a:rPr lang="en-US" altLang="zh-CN" b="1" dirty="0">
                <a:latin typeface="微软雅黑" panose="020B0503020204020204" pitchFamily="34" charset="-122"/>
                <a:ea typeface="微软雅黑" panose="020B0503020204020204" pitchFamily="34" charset="-122"/>
                <a:sym typeface="宋体" panose="02010600030101010101" pitchFamily="2" charset="-122"/>
              </a:rPr>
              <a:t> </a:t>
            </a:r>
            <a:r>
              <a:rPr lang="zh-CN" altLang="en-US" b="1" dirty="0">
                <a:latin typeface="微软雅黑" panose="020B0503020204020204" pitchFamily="34" charset="-122"/>
                <a:ea typeface="微软雅黑" panose="020B0503020204020204" pitchFamily="34" charset="-122"/>
                <a:sym typeface="宋体" panose="02010600030101010101" pitchFamily="2" charset="-122"/>
              </a:rPr>
              <a:t>查看计算节点状态</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STATE</a:t>
            </a:r>
            <a:r>
              <a:rPr lang="zh-CN" altLang="en-US" dirty="0">
                <a:latin typeface="微软雅黑" panose="020B0503020204020204" pitchFamily="34" charset="-122"/>
                <a:ea typeface="微软雅黑" panose="020B0503020204020204" pitchFamily="34" charset="-122"/>
              </a:rPr>
              <a:t>：节点状态，可能的状态包括： </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idle</a:t>
            </a:r>
            <a:r>
              <a:rPr lang="zh-CN" altLang="en-US" dirty="0">
                <a:latin typeface="微软雅黑" panose="020B0503020204020204" pitchFamily="34" charset="-122"/>
                <a:ea typeface="微软雅黑" panose="020B0503020204020204" pitchFamily="34" charset="-122"/>
              </a:rPr>
              <a:t>：空闲，可以接收新作业</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en-US" altLang="zh-CN" dirty="0" err="1">
                <a:latin typeface="微软雅黑" panose="020B0503020204020204" pitchFamily="34" charset="-122"/>
                <a:ea typeface="微软雅黑" panose="020B0503020204020204" pitchFamily="34" charset="-122"/>
              </a:rPr>
              <a:t>alloc</a:t>
            </a:r>
            <a:r>
              <a:rPr lang="zh-CN" altLang="en-US" dirty="0">
                <a:latin typeface="微软雅黑" panose="020B0503020204020204" pitchFamily="34" charset="-122"/>
                <a:ea typeface="微软雅黑" panose="020B0503020204020204" pitchFamily="34" charset="-122"/>
              </a:rPr>
              <a:t>：已分配</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mix</a:t>
            </a:r>
            <a:r>
              <a:rPr lang="zh-CN" altLang="en-US" dirty="0">
                <a:latin typeface="微软雅黑" panose="020B0503020204020204" pitchFamily="34" charset="-122"/>
                <a:ea typeface="微软雅黑" panose="020B0503020204020204" pitchFamily="34" charset="-122"/>
              </a:rPr>
              <a:t>：混合，节点在运行作业，但有些空闲</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核，可接受新作业 </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down</a:t>
            </a:r>
            <a:r>
              <a:rPr lang="zh-CN" altLang="en-US" dirty="0">
                <a:latin typeface="微软雅黑" panose="020B0503020204020204" pitchFamily="34" charset="-122"/>
                <a:ea typeface="微软雅黑" panose="020B0503020204020204" pitchFamily="34" charset="-122"/>
              </a:rPr>
              <a:t>：服务异常或者节点</a:t>
            </a:r>
            <a:r>
              <a:rPr lang="en-US" altLang="zh-CN" dirty="0">
                <a:latin typeface="微软雅黑" panose="020B0503020204020204" pitchFamily="34" charset="-122"/>
                <a:ea typeface="微软雅黑" panose="020B0503020204020204" pitchFamily="34" charset="-122"/>
              </a:rPr>
              <a:t>OS</a:t>
            </a:r>
            <a:r>
              <a:rPr lang="zh-CN" altLang="en-US" dirty="0">
                <a:latin typeface="微软雅黑" panose="020B0503020204020204" pitchFamily="34" charset="-122"/>
                <a:ea typeface="微软雅黑" panose="020B0503020204020204" pitchFamily="34" charset="-122"/>
              </a:rPr>
              <a:t>已宕机</a:t>
            </a:r>
            <a:r>
              <a:rPr lang="en-US" altLang="zh-CN" dirty="0">
                <a:latin typeface="微软雅黑" panose="020B0503020204020204" pitchFamily="34" charset="-122"/>
                <a:ea typeface="微软雅黑" panose="020B0503020204020204" pitchFamily="34" charset="-122"/>
              </a:rPr>
              <a:t>                                                                      </a:t>
            </a:r>
          </a:p>
          <a:p>
            <a:pPr marL="742950" lvl="1"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drain</a:t>
            </a:r>
            <a:r>
              <a:rPr lang="zh-CN" altLang="en-US" dirty="0">
                <a:latin typeface="微软雅黑" panose="020B0503020204020204" pitchFamily="34" charset="-122"/>
                <a:ea typeface="微软雅黑" panose="020B0503020204020204" pitchFamily="34" charset="-122"/>
              </a:rPr>
              <a:t>：已失去活力 </a:t>
            </a:r>
            <a:endParaRPr lang="zh-CN" altLang="en-US" sz="2000" b="1"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p:txBody>
      </p:sp>
      <p:pic>
        <p:nvPicPr>
          <p:cNvPr id="3" name="图片 2">
            <a:extLst>
              <a:ext uri="{FF2B5EF4-FFF2-40B4-BE49-F238E27FC236}">
                <a16:creationId xmlns:a16="http://schemas.microsoft.com/office/drawing/2014/main" id="{CDCDFB0E-AE57-ABF6-BB77-891BF8FAF3F7}"/>
              </a:ext>
            </a:extLst>
          </p:cNvPr>
          <p:cNvPicPr>
            <a:picLocks noChangeAspect="1"/>
          </p:cNvPicPr>
          <p:nvPr/>
        </p:nvPicPr>
        <p:blipFill>
          <a:blip r:embed="rId3"/>
          <a:stretch>
            <a:fillRect/>
          </a:stretch>
        </p:blipFill>
        <p:spPr>
          <a:xfrm>
            <a:off x="2561239" y="4321608"/>
            <a:ext cx="6728230" cy="1682058"/>
          </a:xfrm>
          <a:prstGeom prst="rect">
            <a:avLst/>
          </a:prstGeom>
        </p:spPr>
      </p:pic>
    </p:spTree>
    <p:extLst>
      <p:ext uri="{BB962C8B-B14F-4D97-AF65-F5344CB8AC3E}">
        <p14:creationId xmlns:p14="http://schemas.microsoft.com/office/powerpoint/2010/main" val="381228172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scontrol</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show partition</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1173050" y="748318"/>
            <a:ext cx="9673976" cy="188291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partition</a:t>
            </a:r>
            <a:r>
              <a:rPr lang="zh-CN" altLang="en-US" dirty="0">
                <a:latin typeface="微软雅黑" panose="020B0503020204020204" pitchFamily="34" charset="-122"/>
                <a:ea typeface="微软雅黑" panose="020B0503020204020204" pitchFamily="34" charset="-122"/>
              </a:rPr>
              <a:t>：显示全部队列的详细信息，</a:t>
            </a:r>
          </a:p>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partition FAT1 </a:t>
            </a:r>
            <a:r>
              <a:rPr lang="zh-CN" altLang="en-US" dirty="0">
                <a:latin typeface="微软雅黑" panose="020B0503020204020204" pitchFamily="34" charset="-122"/>
                <a:ea typeface="微软雅黑" panose="020B0503020204020204" pitchFamily="34" charset="-122"/>
              </a:rPr>
              <a:t>：显示队列名</a:t>
            </a:r>
            <a:r>
              <a:rPr lang="en-US" altLang="zh-CN" dirty="0">
                <a:latin typeface="微软雅黑" panose="020B0503020204020204" pitchFamily="34" charset="-122"/>
                <a:ea typeface="微软雅黑" panose="020B0503020204020204" pitchFamily="34" charset="-122"/>
              </a:rPr>
              <a:t>FAT1</a:t>
            </a:r>
            <a:r>
              <a:rPr lang="zh-CN" altLang="en-US" dirty="0">
                <a:latin typeface="微软雅黑" panose="020B0503020204020204" pitchFamily="34" charset="-122"/>
                <a:ea typeface="微软雅黑" panose="020B0503020204020204" pitchFamily="34" charset="-122"/>
              </a:rPr>
              <a:t>的队列信息</a:t>
            </a:r>
            <a:endPar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p:txBody>
      </p:sp>
      <p:pic>
        <p:nvPicPr>
          <p:cNvPr id="3" name="图片 2">
            <a:extLst>
              <a:ext uri="{FF2B5EF4-FFF2-40B4-BE49-F238E27FC236}">
                <a16:creationId xmlns:a16="http://schemas.microsoft.com/office/drawing/2014/main" id="{81B4F727-9B0D-DC18-F3C1-E52ED19FADBD}"/>
              </a:ext>
            </a:extLst>
          </p:cNvPr>
          <p:cNvPicPr>
            <a:picLocks noChangeAspect="1"/>
          </p:cNvPicPr>
          <p:nvPr/>
        </p:nvPicPr>
        <p:blipFill>
          <a:blip r:embed="rId3"/>
          <a:stretch>
            <a:fillRect/>
          </a:stretch>
        </p:blipFill>
        <p:spPr>
          <a:xfrm>
            <a:off x="1348828" y="2759621"/>
            <a:ext cx="9307658" cy="2790083"/>
          </a:xfrm>
          <a:prstGeom prst="rect">
            <a:avLst/>
          </a:prstGeom>
        </p:spPr>
      </p:pic>
    </p:spTree>
    <p:extLst>
      <p:ext uri="{BB962C8B-B14F-4D97-AF65-F5344CB8AC3E}">
        <p14:creationId xmlns:p14="http://schemas.microsoft.com/office/powerpoint/2010/main" val="213165255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16607"/>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scontrol</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show node</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1298824" y="761306"/>
            <a:ext cx="9856856" cy="1851265"/>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node</a:t>
            </a:r>
            <a:r>
              <a:rPr lang="zh-CN" altLang="en-US" dirty="0">
                <a:latin typeface="微软雅黑" panose="020B0503020204020204" pitchFamily="34" charset="-122"/>
                <a:ea typeface="微软雅黑" panose="020B0503020204020204" pitchFamily="34" charset="-122"/>
              </a:rPr>
              <a:t>：显示全部节点的详细信息，</a:t>
            </a:r>
          </a:p>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node cu01</a:t>
            </a:r>
            <a:r>
              <a:rPr lang="zh-CN" altLang="en-US" dirty="0">
                <a:latin typeface="微软雅黑" panose="020B0503020204020204" pitchFamily="34" charset="-122"/>
                <a:ea typeface="微软雅黑" panose="020B0503020204020204" pitchFamily="34" charset="-122"/>
              </a:rPr>
              <a:t>或 </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node= cu01 </a:t>
            </a:r>
            <a:r>
              <a:rPr lang="zh-CN" altLang="en-US" dirty="0">
                <a:latin typeface="微软雅黑" panose="020B0503020204020204" pitchFamily="34" charset="-122"/>
                <a:ea typeface="微软雅黑" panose="020B0503020204020204" pitchFamily="34" charset="-122"/>
              </a:rPr>
              <a:t>：显示节点名</a:t>
            </a:r>
            <a:r>
              <a:rPr lang="en-US" altLang="zh-CN" dirty="0">
                <a:latin typeface="微软雅黑" panose="020B0503020204020204" pitchFamily="34" charset="-122"/>
                <a:ea typeface="微软雅黑" panose="020B0503020204020204" pitchFamily="34" charset="-122"/>
              </a:rPr>
              <a:t>cu01</a:t>
            </a:r>
            <a:r>
              <a:rPr lang="zh-CN" altLang="en-US" dirty="0">
                <a:latin typeface="微软雅黑" panose="020B0503020204020204" pitchFamily="34" charset="-122"/>
                <a:ea typeface="微软雅黑" panose="020B0503020204020204" pitchFamily="34" charset="-122"/>
              </a:rPr>
              <a:t>的节点详细信息</a:t>
            </a:r>
          </a:p>
        </p:txBody>
      </p:sp>
      <p:pic>
        <p:nvPicPr>
          <p:cNvPr id="3" name="图片 2">
            <a:extLst>
              <a:ext uri="{FF2B5EF4-FFF2-40B4-BE49-F238E27FC236}">
                <a16:creationId xmlns:a16="http://schemas.microsoft.com/office/drawing/2014/main" id="{3C1FAA15-1E3B-9B7A-4F4F-55534C3B6D53}"/>
              </a:ext>
            </a:extLst>
          </p:cNvPr>
          <p:cNvPicPr>
            <a:picLocks noChangeAspect="1"/>
          </p:cNvPicPr>
          <p:nvPr/>
        </p:nvPicPr>
        <p:blipFill>
          <a:blip r:embed="rId3"/>
          <a:stretch>
            <a:fillRect/>
          </a:stretch>
        </p:blipFill>
        <p:spPr>
          <a:xfrm>
            <a:off x="2143910" y="2702803"/>
            <a:ext cx="8378723" cy="3738741"/>
          </a:xfrm>
          <a:prstGeom prst="rect">
            <a:avLst/>
          </a:prstGeom>
        </p:spPr>
      </p:pic>
    </p:spTree>
    <p:extLst>
      <p:ext uri="{BB962C8B-B14F-4D97-AF65-F5344CB8AC3E}">
        <p14:creationId xmlns:p14="http://schemas.microsoft.com/office/powerpoint/2010/main" val="60716678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scontrol</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show job</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1298824" y="914400"/>
            <a:ext cx="10484497" cy="1174075"/>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job</a:t>
            </a:r>
            <a:r>
              <a:rPr lang="zh-CN" altLang="en-US" dirty="0">
                <a:latin typeface="微软雅黑" panose="020B0503020204020204" pitchFamily="34" charset="-122"/>
                <a:ea typeface="微软雅黑" panose="020B0503020204020204" pitchFamily="34" charset="-122"/>
              </a:rPr>
              <a:t>：显示该用户的全部作业的详细信息，</a:t>
            </a:r>
          </a:p>
          <a:p>
            <a:pPr>
              <a:lnSpc>
                <a:spcPct val="150000"/>
              </a:lnSpc>
            </a:pP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job 1251</a:t>
            </a:r>
            <a:r>
              <a:rPr lang="zh-CN" altLang="en-US" dirty="0">
                <a:latin typeface="微软雅黑" panose="020B0503020204020204" pitchFamily="34" charset="-122"/>
                <a:ea typeface="微软雅黑" panose="020B0503020204020204" pitchFamily="34" charset="-122"/>
              </a:rPr>
              <a:t>或 </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job = 1251 </a:t>
            </a:r>
            <a:r>
              <a:rPr lang="zh-CN" altLang="en-US" dirty="0">
                <a:latin typeface="微软雅黑" panose="020B0503020204020204" pitchFamily="34" charset="-122"/>
                <a:ea typeface="微软雅黑" panose="020B0503020204020204" pitchFamily="34" charset="-122"/>
              </a:rPr>
              <a:t>：显示该作业</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1251</a:t>
            </a:r>
            <a:r>
              <a:rPr lang="zh-CN" altLang="en-US" dirty="0">
                <a:latin typeface="微软雅黑" panose="020B0503020204020204" pitchFamily="34" charset="-122"/>
                <a:ea typeface="微软雅黑" panose="020B0503020204020204" pitchFamily="34" charset="-122"/>
              </a:rPr>
              <a:t>的作业详细信息</a:t>
            </a:r>
          </a:p>
        </p:txBody>
      </p:sp>
      <p:pic>
        <p:nvPicPr>
          <p:cNvPr id="3" name="图片 2">
            <a:extLst>
              <a:ext uri="{FF2B5EF4-FFF2-40B4-BE49-F238E27FC236}">
                <a16:creationId xmlns:a16="http://schemas.microsoft.com/office/drawing/2014/main" id="{2A2293F3-1D35-4506-9F9C-CC2ABD76C6E0}"/>
              </a:ext>
            </a:extLst>
          </p:cNvPr>
          <p:cNvPicPr>
            <a:picLocks noChangeAspect="1"/>
          </p:cNvPicPr>
          <p:nvPr/>
        </p:nvPicPr>
        <p:blipFill>
          <a:blip r:embed="rId3"/>
          <a:stretch>
            <a:fillRect/>
          </a:stretch>
        </p:blipFill>
        <p:spPr>
          <a:xfrm>
            <a:off x="2558611" y="2088475"/>
            <a:ext cx="7408349" cy="4581333"/>
          </a:xfrm>
          <a:prstGeom prst="rect">
            <a:avLst/>
          </a:prstGeom>
        </p:spPr>
      </p:pic>
    </p:spTree>
    <p:extLst>
      <p:ext uri="{BB962C8B-B14F-4D97-AF65-F5344CB8AC3E}">
        <p14:creationId xmlns:p14="http://schemas.microsoft.com/office/powerpoint/2010/main" val="392743357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96000" y="0"/>
            <a:ext cx="5474587"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提交作业的模式①</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批处理模式</a:t>
            </a:r>
            <a:r>
              <a:rPr lang="en-US" altLang="zh-CN" sz="1896" dirty="0" err="1">
                <a:solidFill>
                  <a:srgbClr val="0070C0"/>
                </a:solidFill>
                <a:latin typeface="微软雅黑" panose="020B0503020204020204" pitchFamily="34" charset="-122"/>
                <a:ea typeface="微软雅黑" panose="020B0503020204020204" pitchFamily="34" charset="-122"/>
              </a:rPr>
              <a:t>sbatch</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798757" y="597750"/>
            <a:ext cx="10892758" cy="4308695"/>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sbatch</a:t>
            </a:r>
            <a:r>
              <a:rPr lang="zh-CN" altLang="en-US" dirty="0">
                <a:latin typeface="微软雅黑" panose="020B0503020204020204" pitchFamily="34" charset="-122"/>
                <a:ea typeface="微软雅黑" panose="020B0503020204020204" pitchFamily="34" charset="-122"/>
              </a:rPr>
              <a:t>命令采用批处理方式运行作业，</a:t>
            </a:r>
            <a:r>
              <a:rPr lang="en-US" altLang="zh-CN" dirty="0" err="1">
                <a:latin typeface="微软雅黑" panose="020B0503020204020204" pitchFamily="34" charset="-122"/>
                <a:ea typeface="微软雅黑" panose="020B0503020204020204" pitchFamily="34" charset="-122"/>
              </a:rPr>
              <a:t>sbatch</a:t>
            </a:r>
            <a:r>
              <a:rPr lang="zh-CN" altLang="en-US" dirty="0">
                <a:latin typeface="微软雅黑" panose="020B0503020204020204" pitchFamily="34" charset="-122"/>
                <a:ea typeface="微软雅黑" panose="020B0503020204020204" pitchFamily="34" charset="-122"/>
              </a:rPr>
              <a:t>提交完脚本后，立即退出，同时获取到一个作业号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作业等所需资源满足后开始运行（详细操作，请参考：</a:t>
            </a:r>
            <a:r>
              <a:rPr lang="en-US" altLang="zh-CN" dirty="0">
                <a:solidFill>
                  <a:schemeClr val="accent1"/>
                </a:solidFill>
                <a:latin typeface="微软雅黑" panose="020B0503020204020204" pitchFamily="34" charset="-122"/>
                <a:ea typeface="微软雅黑" panose="020B0503020204020204" pitchFamily="34" charset="-122"/>
              </a:rPr>
              <a:t>man </a:t>
            </a:r>
            <a:r>
              <a:rPr lang="en-US" altLang="zh-CN" dirty="0" err="1">
                <a:solidFill>
                  <a:schemeClr val="accent1"/>
                </a:solidFill>
                <a:latin typeface="微软雅黑" panose="020B0503020204020204" pitchFamily="34" charset="-122"/>
                <a:ea typeface="微软雅黑" panose="020B0503020204020204" pitchFamily="34" charset="-122"/>
              </a:rPr>
              <a:t>sbatch</a:t>
            </a:r>
            <a:r>
              <a:rPr lang="zh-CN" altLang="en-US" dirty="0">
                <a:latin typeface="微软雅黑" panose="020B0503020204020204" pitchFamily="34" charset="-122"/>
                <a:ea typeface="微软雅黑" panose="020B0503020204020204" pitchFamily="34" charset="-122"/>
              </a:rPr>
              <a:t>） 。具体过程如下：</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用户编写</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作业脚本（该脚本为</a:t>
            </a:r>
            <a:r>
              <a:rPr lang="en-US" altLang="zh-CN" dirty="0" err="1">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普通</a:t>
            </a:r>
            <a:r>
              <a:rPr lang="en-US" altLang="zh-CN" dirty="0">
                <a:latin typeface="微软雅黑" panose="020B0503020204020204" pitchFamily="34" charset="-122"/>
                <a:ea typeface="微软雅黑" panose="020B0503020204020204" pitchFamily="34" charset="-122"/>
              </a:rPr>
              <a:t>shell</a:t>
            </a:r>
            <a:r>
              <a:rPr lang="zh-CN" altLang="en-US" dirty="0">
                <a:latin typeface="微软雅黑" panose="020B0503020204020204" pitchFamily="34" charset="-122"/>
                <a:ea typeface="微软雅黑" panose="020B0503020204020204" pitchFamily="34" charset="-122"/>
              </a:rPr>
              <a:t>脚本文件）；</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使用</a:t>
            </a:r>
            <a:r>
              <a:rPr lang="en-US" altLang="zh-CN" i="1" dirty="0" err="1">
                <a:solidFill>
                  <a:srgbClr val="FF0000"/>
                </a:solidFill>
                <a:latin typeface="微软雅黑" panose="020B0503020204020204" pitchFamily="34" charset="-122"/>
                <a:ea typeface="微软雅黑" panose="020B0503020204020204" pitchFamily="34" charset="-122"/>
              </a:rPr>
              <a:t>sbatch</a:t>
            </a:r>
            <a:r>
              <a:rPr lang="en-US" altLang="zh-CN" i="1" dirty="0">
                <a:solidFill>
                  <a:srgbClr val="FF0000"/>
                </a:solidFill>
                <a:latin typeface="微软雅黑" panose="020B0503020204020204" pitchFamily="34" charset="-122"/>
                <a:ea typeface="微软雅黑" panose="020B0503020204020204" pitchFamily="34" charset="-122"/>
              </a:rPr>
              <a:t>  </a:t>
            </a:r>
            <a:r>
              <a:rPr lang="zh-CN" altLang="en-US" i="1" dirty="0">
                <a:solidFill>
                  <a:srgbClr val="FF0000"/>
                </a:solidFill>
                <a:latin typeface="微软雅黑" panose="020B0503020204020204" pitchFamily="34" charset="-122"/>
                <a:ea typeface="微软雅黑" panose="020B0503020204020204" pitchFamily="34" charset="-122"/>
              </a:rPr>
              <a:t>脚本文件名称</a:t>
            </a:r>
            <a:r>
              <a:rPr lang="zh-CN" altLang="en-US" dirty="0">
                <a:latin typeface="微软雅黑" panose="020B0503020204020204" pitchFamily="34" charset="-122"/>
                <a:ea typeface="微软雅黑" panose="020B0503020204020204" pitchFamily="34" charset="-122"/>
              </a:rPr>
              <a:t>命令提交作业</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作业排队等待资源分配；</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分配资源后执行作业；</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脚本执行结束，释放资源；</a:t>
            </a:r>
            <a:endParaRPr lang="en-US" altLang="zh-CN" dirty="0">
              <a:latin typeface="微软雅黑" panose="020B0503020204020204" pitchFamily="34" charset="-122"/>
              <a:ea typeface="微软雅黑" panose="020B0503020204020204" pitchFamily="34" charset="-122"/>
            </a:endParaRPr>
          </a:p>
          <a:p>
            <a:pPr marL="8001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运行结果定向到指定的文件中记录（</a:t>
            </a:r>
            <a:r>
              <a:rPr lang="en-US" altLang="zh-CN" dirty="0" err="1">
                <a:latin typeface="微软雅黑" panose="020B0503020204020204" pitchFamily="34" charset="-122"/>
                <a:ea typeface="微软雅黑" panose="020B0503020204020204" pitchFamily="34" charset="-122"/>
              </a:rPr>
              <a:t>JobID.out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JobID.err</a:t>
            </a:r>
            <a:r>
              <a:rPr lang="zh-CN" altLang="en-US" dirty="0">
                <a:latin typeface="微软雅黑" panose="020B0503020204020204" pitchFamily="34" charset="-122"/>
                <a:ea typeface="微软雅黑" panose="020B0503020204020204" pitchFamily="34" charset="-122"/>
              </a:rPr>
              <a:t>两个文件），其中</a:t>
            </a:r>
            <a:r>
              <a:rPr lang="en-US" altLang="zh-CN" dirty="0" err="1">
                <a:latin typeface="微软雅黑" panose="020B0503020204020204" pitchFamily="34" charset="-122"/>
                <a:ea typeface="微软雅黑" panose="020B0503020204020204" pitchFamily="34" charset="-122"/>
              </a:rPr>
              <a:t>JobID.out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文件为标准输出，</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JobID.err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文件为错误输出。</a:t>
            </a:r>
            <a:endParaRPr lang="zh-CN" altLang="en-US" dirty="0">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endParaRPr>
          </a:p>
        </p:txBody>
      </p:sp>
      <p:pic>
        <p:nvPicPr>
          <p:cNvPr id="18" name="图片 17"/>
          <p:cNvPicPr>
            <a:picLocks noChangeAspect="1"/>
          </p:cNvPicPr>
          <p:nvPr/>
        </p:nvPicPr>
        <p:blipFill>
          <a:blip r:embed="rId3"/>
          <a:stretch>
            <a:fillRect/>
          </a:stretch>
        </p:blipFill>
        <p:spPr>
          <a:xfrm>
            <a:off x="1866997" y="4993605"/>
            <a:ext cx="8756277" cy="1440906"/>
          </a:xfrm>
          <a:prstGeom prst="rect">
            <a:avLst/>
          </a:prstGeom>
        </p:spPr>
      </p:pic>
    </p:spTree>
    <p:extLst>
      <p:ext uri="{BB962C8B-B14F-4D97-AF65-F5344CB8AC3E}">
        <p14:creationId xmlns:p14="http://schemas.microsoft.com/office/powerpoint/2010/main" val="367713725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96000" y="0"/>
            <a:ext cx="5474587"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提交作业的模式②</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交互模式</a:t>
            </a:r>
            <a:r>
              <a:rPr lang="en-US" altLang="zh-CN" sz="1896" dirty="0" err="1">
                <a:solidFill>
                  <a:srgbClr val="0070C0"/>
                </a:solidFill>
                <a:latin typeface="微软雅黑" panose="020B0503020204020204" pitchFamily="34" charset="-122"/>
                <a:ea typeface="微软雅黑" panose="020B0503020204020204" pitchFamily="34" charset="-122"/>
              </a:rPr>
              <a:t>srun</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798757" y="597750"/>
            <a:ext cx="10892758" cy="4308695"/>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srun</a:t>
            </a:r>
            <a:r>
              <a:rPr lang="zh-CN" altLang="zh-CN" dirty="0">
                <a:latin typeface="微软雅黑" panose="020B0503020204020204" pitchFamily="34" charset="-122"/>
                <a:ea typeface="微软雅黑" panose="020B0503020204020204" pitchFamily="34" charset="-122"/>
              </a:rPr>
              <a:t>可以交互式提交运行并行作业，提交后，作业等待运行，等运行完毕后，才返回终端</a:t>
            </a:r>
            <a:r>
              <a:rPr lang="zh-CN" altLang="en-US" dirty="0">
                <a:latin typeface="微软雅黑" panose="020B0503020204020204" pitchFamily="34" charset="-122"/>
                <a:ea typeface="微软雅黑" panose="020B0503020204020204" pitchFamily="34" charset="-122"/>
              </a:rPr>
              <a:t>（详细操作，请参考：</a:t>
            </a:r>
            <a:r>
              <a:rPr lang="en-US" altLang="zh-CN" dirty="0">
                <a:latin typeface="微软雅黑" panose="020B0503020204020204" pitchFamily="34" charset="-122"/>
                <a:ea typeface="微软雅黑" panose="020B0503020204020204" pitchFamily="34" charset="-122"/>
              </a:rPr>
              <a:t>man </a:t>
            </a:r>
            <a:r>
              <a:rPr lang="en-US" altLang="zh-CN" dirty="0" err="1">
                <a:latin typeface="微软雅黑" panose="020B0503020204020204" pitchFamily="34" charset="-122"/>
                <a:ea typeface="微软雅黑" panose="020B0503020204020204" pitchFamily="34" charset="-122"/>
              </a:rPr>
              <a:t>srun</a:t>
            </a:r>
            <a:r>
              <a:rPr lang="zh-CN" altLang="en-US"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流程如下：</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在终端提交资源分配请求，指定资源数量与限制，指定使用的用户组名；</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等待资源分配；</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获得资源后，加载计算任务；</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运行中，任务 </a:t>
            </a:r>
            <a:r>
              <a:rPr lang="en-US" altLang="zh-CN" dirty="0">
                <a:latin typeface="微软雅黑" panose="020B0503020204020204" pitchFamily="34" charset="-122"/>
                <a:ea typeface="微软雅黑" panose="020B0503020204020204" pitchFamily="34" charset="-122"/>
              </a:rPr>
              <a:t>I/O </a:t>
            </a:r>
            <a:r>
              <a:rPr lang="zh-CN" altLang="en-US" dirty="0">
                <a:latin typeface="微软雅黑" panose="020B0503020204020204" pitchFamily="34" charset="-122"/>
                <a:ea typeface="微软雅黑" panose="020B0503020204020204" pitchFamily="34" charset="-122"/>
              </a:rPr>
              <a:t>传递到终端；</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可与任务进行交互，包括 </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，信号等；</a:t>
            </a:r>
            <a:endParaRPr lang="en-US" altLang="zh-CN" dirty="0">
              <a:latin typeface="微软雅黑" panose="020B0503020204020204" pitchFamily="34" charset="-122"/>
              <a:ea typeface="微软雅黑" panose="020B0503020204020204" pitchFamily="34" charset="-122"/>
            </a:endParaRPr>
          </a:p>
          <a:p>
            <a:pPr marL="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任务执行结束后，资源被释放。</a:t>
            </a:r>
          </a:p>
        </p:txBody>
      </p:sp>
      <p:pic>
        <p:nvPicPr>
          <p:cNvPr id="6" name="图片 5">
            <a:extLst>
              <a:ext uri="{FF2B5EF4-FFF2-40B4-BE49-F238E27FC236}">
                <a16:creationId xmlns:a16="http://schemas.microsoft.com/office/drawing/2014/main" id="{FF0885E4-0603-C8AA-1C0E-C37B50A522F7}"/>
              </a:ext>
            </a:extLst>
          </p:cNvPr>
          <p:cNvPicPr>
            <a:picLocks noChangeAspect="1"/>
          </p:cNvPicPr>
          <p:nvPr/>
        </p:nvPicPr>
        <p:blipFill>
          <a:blip r:embed="rId3"/>
          <a:stretch>
            <a:fillRect/>
          </a:stretch>
        </p:blipFill>
        <p:spPr>
          <a:xfrm>
            <a:off x="1783210" y="5000598"/>
            <a:ext cx="9231365" cy="976808"/>
          </a:xfrm>
          <a:prstGeom prst="rect">
            <a:avLst/>
          </a:prstGeom>
        </p:spPr>
      </p:pic>
    </p:spTree>
    <p:extLst>
      <p:ext uri="{BB962C8B-B14F-4D97-AF65-F5344CB8AC3E}">
        <p14:creationId xmlns:p14="http://schemas.microsoft.com/office/powerpoint/2010/main" val="192821689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96000" y="0"/>
            <a:ext cx="5474587"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rPr>
              <a:t>slurm</a:t>
            </a:r>
            <a:r>
              <a:rPr lang="zh-CN" altLang="en-US" sz="1896" dirty="0">
                <a:solidFill>
                  <a:srgbClr val="0070C0"/>
                </a:solidFill>
                <a:latin typeface="微软雅黑" panose="020B0503020204020204" pitchFamily="34" charset="-122"/>
                <a:ea typeface="微软雅黑" panose="020B0503020204020204" pitchFamily="34" charset="-122"/>
              </a:rPr>
              <a:t>提交作业的模式③</a:t>
            </a:r>
            <a:r>
              <a:rPr lang="en-US" altLang="zh-CN" sz="1896" dirty="0">
                <a:solidFill>
                  <a:srgbClr val="0070C0"/>
                </a:solidFill>
                <a:latin typeface="微软雅黑" panose="020B0503020204020204" pitchFamily="34" charset="-122"/>
                <a:ea typeface="微软雅黑" panose="020B0503020204020204" pitchFamily="34" charset="-122"/>
              </a:rPr>
              <a:t>---</a:t>
            </a:r>
            <a:r>
              <a:rPr lang="zh-CN" altLang="en-US" sz="1896" dirty="0">
                <a:solidFill>
                  <a:srgbClr val="0070C0"/>
                </a:solidFill>
                <a:latin typeface="微软雅黑" panose="020B0503020204020204" pitchFamily="34" charset="-122"/>
                <a:ea typeface="微软雅黑" panose="020B0503020204020204" pitchFamily="34" charset="-122"/>
              </a:rPr>
              <a:t>分配模式</a:t>
            </a:r>
            <a:r>
              <a:rPr lang="en-US" altLang="zh-CN" sz="1896" dirty="0" err="1">
                <a:solidFill>
                  <a:srgbClr val="0070C0"/>
                </a:solidFill>
                <a:latin typeface="微软雅黑" panose="020B0503020204020204" pitchFamily="34" charset="-122"/>
                <a:ea typeface="微软雅黑" panose="020B0503020204020204" pitchFamily="34" charset="-122"/>
              </a:rPr>
              <a:t>salloc</a:t>
            </a:r>
            <a:endParaRPr lang="en-US" altLang="zh-CN" sz="1896" dirty="0">
              <a:solidFill>
                <a:srgbClr val="0070C0"/>
              </a:solidFill>
              <a:latin typeface="微软雅黑" panose="020B0503020204020204" pitchFamily="34" charset="-122"/>
              <a:ea typeface="微软雅黑" panose="020B0503020204020204" pitchFamily="34" charset="-122"/>
            </a:endParaRPr>
          </a:p>
        </p:txBody>
      </p:sp>
      <p:sp>
        <p:nvSpPr>
          <p:cNvPr id="16" name="对角圆角矩形 15"/>
          <p:cNvSpPr/>
          <p:nvPr/>
        </p:nvSpPr>
        <p:spPr bwMode="auto">
          <a:xfrm>
            <a:off x="441567" y="654297"/>
            <a:ext cx="10892758" cy="2420208"/>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rPr>
              <a:t>salloc</a:t>
            </a:r>
            <a:r>
              <a:rPr lang="zh-CN" altLang="en-US" dirty="0">
                <a:latin typeface="微软雅黑" panose="020B0503020204020204" pitchFamily="34" charset="-122"/>
                <a:ea typeface="微软雅黑" panose="020B0503020204020204" pitchFamily="34" charset="-122"/>
              </a:rPr>
              <a:t>将获取作业的分配后执行命令，当命令结束后释放分配的资源（详细操作，请参考：</a:t>
            </a:r>
            <a:r>
              <a:rPr lang="en-US" altLang="zh-CN" dirty="0">
                <a:latin typeface="微软雅黑" panose="020B0503020204020204" pitchFamily="34" charset="-122"/>
                <a:ea typeface="微软雅黑" panose="020B0503020204020204" pitchFamily="34" charset="-122"/>
              </a:rPr>
              <a:t>man </a:t>
            </a:r>
            <a:r>
              <a:rPr lang="en-US" altLang="zh-CN" dirty="0" err="1">
                <a:latin typeface="微软雅黑" panose="020B0503020204020204" pitchFamily="34" charset="-122"/>
                <a:ea typeface="微软雅黑" panose="020B0503020204020204" pitchFamily="34" charset="-122"/>
              </a:rPr>
              <a:t>salloc</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0" lvl="1">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提交资源分配请求；</a:t>
            </a:r>
            <a:endParaRPr lang="en-US" altLang="zh-CN" dirty="0">
              <a:latin typeface="微软雅黑" panose="020B0503020204020204" pitchFamily="34" charset="-122"/>
              <a:ea typeface="微软雅黑" panose="020B0503020204020204" pitchFamily="34" charset="-122"/>
            </a:endParaRPr>
          </a:p>
          <a:p>
            <a:pPr marL="0" lvl="1">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作业排队等待资源分配；</a:t>
            </a:r>
            <a:endParaRPr lang="en-US" altLang="zh-CN" dirty="0">
              <a:latin typeface="微软雅黑" panose="020B0503020204020204" pitchFamily="34" charset="-122"/>
              <a:ea typeface="微软雅黑" panose="020B0503020204020204" pitchFamily="34" charset="-122"/>
            </a:endParaRPr>
          </a:p>
          <a:p>
            <a:pPr marL="0" lvl="1">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进入</a:t>
            </a:r>
            <a:r>
              <a:rPr lang="en-US" altLang="zh-CN" dirty="0">
                <a:latin typeface="微软雅黑" panose="020B0503020204020204" pitchFamily="34" charset="-122"/>
                <a:ea typeface="微软雅黑" panose="020B0503020204020204" pitchFamily="34" charset="-122"/>
              </a:rPr>
              <a:t>bash</a:t>
            </a:r>
            <a:r>
              <a:rPr lang="zh-CN" altLang="en-US" dirty="0">
                <a:latin typeface="微软雅黑" panose="020B0503020204020204" pitchFamily="34" charset="-122"/>
                <a:ea typeface="微软雅黑" panose="020B0503020204020204" pitchFamily="34" charset="-122"/>
              </a:rPr>
              <a:t>终端执行用户指定的命令；</a:t>
            </a:r>
            <a:endParaRPr lang="en-US" altLang="zh-CN" dirty="0">
              <a:latin typeface="微软雅黑" panose="020B0503020204020204" pitchFamily="34" charset="-122"/>
              <a:ea typeface="微软雅黑" panose="020B0503020204020204" pitchFamily="34" charset="-122"/>
            </a:endParaRPr>
          </a:p>
          <a:p>
            <a:pPr marL="0" lvl="1">
              <a:lnSpc>
                <a:spcPct val="15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命令执行结束，释放资源</a:t>
            </a:r>
          </a:p>
        </p:txBody>
      </p:sp>
      <p:pic>
        <p:nvPicPr>
          <p:cNvPr id="17" name="图片 16">
            <a:extLst>
              <a:ext uri="{FF2B5EF4-FFF2-40B4-BE49-F238E27FC236}">
                <a16:creationId xmlns:a16="http://schemas.microsoft.com/office/drawing/2014/main" id="{777F70C8-2259-4FC2-8330-B590B9F88D88}"/>
              </a:ext>
            </a:extLst>
          </p:cNvPr>
          <p:cNvPicPr>
            <a:picLocks noChangeAspect="1"/>
          </p:cNvPicPr>
          <p:nvPr/>
        </p:nvPicPr>
        <p:blipFill>
          <a:blip r:embed="rId3"/>
          <a:stretch>
            <a:fillRect/>
          </a:stretch>
        </p:blipFill>
        <p:spPr>
          <a:xfrm>
            <a:off x="1146446" y="3212018"/>
            <a:ext cx="8969343" cy="777344"/>
          </a:xfrm>
          <a:prstGeom prst="rect">
            <a:avLst/>
          </a:prstGeom>
        </p:spPr>
      </p:pic>
      <p:pic>
        <p:nvPicPr>
          <p:cNvPr id="18" name="图片 17">
            <a:extLst>
              <a:ext uri="{FF2B5EF4-FFF2-40B4-BE49-F238E27FC236}">
                <a16:creationId xmlns:a16="http://schemas.microsoft.com/office/drawing/2014/main" id="{94192846-F28D-4554-AF07-1674DF2F307D}"/>
              </a:ext>
            </a:extLst>
          </p:cNvPr>
          <p:cNvPicPr>
            <a:picLocks noChangeAspect="1"/>
          </p:cNvPicPr>
          <p:nvPr/>
        </p:nvPicPr>
        <p:blipFill>
          <a:blip r:embed="rId4"/>
          <a:stretch>
            <a:fillRect/>
          </a:stretch>
        </p:blipFill>
        <p:spPr>
          <a:xfrm>
            <a:off x="1256843" y="4056947"/>
            <a:ext cx="8858945" cy="880637"/>
          </a:xfrm>
          <a:prstGeom prst="rect">
            <a:avLst/>
          </a:prstGeom>
        </p:spPr>
      </p:pic>
      <p:sp>
        <p:nvSpPr>
          <p:cNvPr id="3" name="矩形 2">
            <a:extLst>
              <a:ext uri="{FF2B5EF4-FFF2-40B4-BE49-F238E27FC236}">
                <a16:creationId xmlns:a16="http://schemas.microsoft.com/office/drawing/2014/main" id="{698DC36F-2A3E-4D3A-B3DC-CC1AE8DA6296}"/>
              </a:ext>
            </a:extLst>
          </p:cNvPr>
          <p:cNvSpPr/>
          <p:nvPr/>
        </p:nvSpPr>
        <p:spPr>
          <a:xfrm>
            <a:off x="1496854" y="4942428"/>
            <a:ext cx="8969342" cy="875881"/>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资源分配请求成功后可</a:t>
            </a:r>
            <a:r>
              <a:rPr lang="en-US" altLang="zh-CN" dirty="0" err="1">
                <a:latin typeface="微软雅黑" panose="020B0503020204020204" pitchFamily="34" charset="-122"/>
                <a:ea typeface="微软雅黑" panose="020B0503020204020204" pitchFamily="34" charset="-122"/>
              </a:rPr>
              <a:t>ssh</a:t>
            </a:r>
            <a:r>
              <a:rPr lang="zh-CN" altLang="en-US" dirty="0">
                <a:latin typeface="微软雅黑" panose="020B0503020204020204" pitchFamily="34" charset="-122"/>
                <a:ea typeface="微软雅黑" panose="020B0503020204020204" pitchFamily="34" charset="-122"/>
              </a:rPr>
              <a:t>到对应节点 </a:t>
            </a:r>
            <a:r>
              <a:rPr lang="en-US" altLang="zh-CN" dirty="0">
                <a:latin typeface="微软雅黑" panose="020B0503020204020204" pitchFamily="34" charset="-122"/>
                <a:ea typeface="微软雅黑" panose="020B0503020204020204" pitchFamily="34" charset="-122"/>
              </a:rPr>
              <a:t>bash shell </a:t>
            </a:r>
            <a:r>
              <a:rPr lang="zh-CN" altLang="en-US" dirty="0">
                <a:latin typeface="微软雅黑" panose="020B0503020204020204" pitchFamily="34" charset="-122"/>
                <a:ea typeface="微软雅黑" panose="020B0503020204020204" pitchFamily="34" charset="-122"/>
              </a:rPr>
              <a:t>终端。在终端输入需要执行命令即可， 使用完后执行</a:t>
            </a:r>
            <a:r>
              <a:rPr lang="en-US" altLang="zh-CN" dirty="0">
                <a:latin typeface="微软雅黑" panose="020B0503020204020204" pitchFamily="34" charset="-122"/>
                <a:ea typeface="微软雅黑" panose="020B0503020204020204" pitchFamily="34" charset="-122"/>
              </a:rPr>
              <a:t>exit </a:t>
            </a:r>
            <a:r>
              <a:rPr lang="zh-CN" altLang="en-US" dirty="0">
                <a:latin typeface="微软雅黑" panose="020B0503020204020204" pitchFamily="34" charset="-122"/>
                <a:ea typeface="微软雅黑" panose="020B0503020204020204" pitchFamily="34" charset="-122"/>
              </a:rPr>
              <a:t>命令或 </a:t>
            </a:r>
            <a:r>
              <a:rPr lang="en-US" altLang="zh-CN" dirty="0" err="1">
                <a:latin typeface="微软雅黑" panose="020B0503020204020204" pitchFamily="34" charset="-122"/>
                <a:ea typeface="微软雅黑" panose="020B0503020204020204" pitchFamily="34" charset="-122"/>
              </a:rPr>
              <a:t>Ctrl+D</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可退出分配模式</a:t>
            </a:r>
          </a:p>
        </p:txBody>
      </p:sp>
    </p:spTree>
    <p:extLst>
      <p:ext uri="{BB962C8B-B14F-4D97-AF65-F5344CB8AC3E}">
        <p14:creationId xmlns:p14="http://schemas.microsoft.com/office/powerpoint/2010/main" val="374286436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srun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sbatch</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salloc</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主要参数</a:t>
            </a:r>
          </a:p>
        </p:txBody>
      </p:sp>
      <p:sp>
        <p:nvSpPr>
          <p:cNvPr id="16" name="对角圆角矩形 15"/>
          <p:cNvSpPr/>
          <p:nvPr/>
        </p:nvSpPr>
        <p:spPr bwMode="auto">
          <a:xfrm>
            <a:off x="1013071" y="651297"/>
            <a:ext cx="11023113" cy="6133884"/>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285750" indent="-285750">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rPr>
              <a:t>N,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rPr>
              <a:t>nodes=&lt;</a:t>
            </a:r>
            <a:r>
              <a:rPr lang="en-US" altLang="zh-CN" dirty="0" err="1">
                <a:latin typeface="微软雅黑" panose="020B0503020204020204" pitchFamily="34" charset="-122"/>
                <a:ea typeface="微软雅黑" panose="020B0503020204020204" pitchFamily="34" charset="-122"/>
              </a:rPr>
              <a:t>nodenum</a:t>
            </a:r>
            <a:r>
              <a:rPr lang="en-US" altLang="zh-CN" dirty="0">
                <a:latin typeface="微软雅黑" panose="020B0503020204020204" pitchFamily="34" charset="-122"/>
                <a:ea typeface="微软雅黑" panose="020B0503020204020204" pitchFamily="34" charset="-122"/>
              </a:rPr>
              <a:t>&gt;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申请执行作业节点数</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-n ,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作业总的进程数</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per-</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node</a:t>
            </a:r>
            <a:r>
              <a:rPr lang="zh-CN" altLang="zh-CN" dirty="0">
                <a:latin typeface="微软雅黑" panose="020B0503020204020204" pitchFamily="34" charset="-122"/>
                <a:ea typeface="微软雅黑" panose="020B0503020204020204" pitchFamily="34" charset="-122"/>
              </a:rPr>
              <a:t>：每个节点</a:t>
            </a:r>
            <a:r>
              <a:rPr lang="zh-CN" altLang="en-US" dirty="0">
                <a:latin typeface="微软雅黑" panose="020B0503020204020204" pitchFamily="34" charset="-122"/>
                <a:ea typeface="微软雅黑" panose="020B0503020204020204" pitchFamily="34" charset="-122"/>
              </a:rPr>
              <a:t>使用的进程数</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-c, --</a:t>
            </a:r>
            <a:r>
              <a:rPr lang="en-US" altLang="zh-CN" dirty="0" err="1">
                <a:latin typeface="微软雅黑" panose="020B0503020204020204" pitchFamily="34" charset="-122"/>
                <a:ea typeface="微软雅黑" panose="020B0503020204020204" pitchFamily="34" charset="-122"/>
              </a:rPr>
              <a:t>cpus</a:t>
            </a:r>
            <a:r>
              <a:rPr lang="en-US" altLang="zh-CN" dirty="0">
                <a:latin typeface="微软雅黑" panose="020B0503020204020204" pitchFamily="34" charset="-122"/>
                <a:ea typeface="微软雅黑" panose="020B0503020204020204" pitchFamily="34" charset="-122"/>
              </a:rPr>
              <a:t>-per-task</a:t>
            </a:r>
            <a:r>
              <a:rPr lang="zh-CN" altLang="en-US" dirty="0">
                <a:latin typeface="微软雅黑" panose="020B0503020204020204" pitchFamily="34" charset="-122"/>
                <a:ea typeface="微软雅黑" panose="020B0503020204020204" pitchFamily="34" charset="-122"/>
              </a:rPr>
              <a:t>：每个进程使用的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核心数。</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-J, --job-name=&lt;</a:t>
            </a:r>
            <a:r>
              <a:rPr lang="en-US" altLang="zh-CN" dirty="0" err="1">
                <a:latin typeface="微软雅黑" panose="020B0503020204020204" pitchFamily="34" charset="-122"/>
                <a:ea typeface="微软雅黑" panose="020B0503020204020204" pitchFamily="34" charset="-122"/>
              </a:rPr>
              <a:t>jobname</a:t>
            </a:r>
            <a:r>
              <a:rPr lang="en-US" altLang="zh-CN" dirty="0">
                <a:latin typeface="微软雅黑" panose="020B0503020204020204" pitchFamily="34" charset="-122"/>
                <a:ea typeface="微软雅黑" panose="020B0503020204020204" pitchFamily="34" charset="-122"/>
              </a:rPr>
              <a:t>&gt;</a:t>
            </a:r>
            <a:r>
              <a:rPr lang="zh-CN" altLang="zh-CN" dirty="0">
                <a:latin typeface="微软雅黑" panose="020B0503020204020204" pitchFamily="34" charset="-122"/>
                <a:ea typeface="微软雅黑" panose="020B0503020204020204" pitchFamily="34" charset="-122"/>
              </a:rPr>
              <a:t>：设定作业名</a:t>
            </a:r>
            <a:r>
              <a:rPr lang="en-US" altLang="zh-CN" dirty="0">
                <a:latin typeface="微软雅黑" panose="020B0503020204020204" pitchFamily="34" charset="-122"/>
                <a:ea typeface="微软雅黑" panose="020B0503020204020204" pitchFamily="34" charset="-122"/>
              </a:rPr>
              <a:t>&lt;</a:t>
            </a:r>
            <a:r>
              <a:rPr lang="en-US" altLang="zh-CN" dirty="0" err="1">
                <a:latin typeface="微软雅黑" panose="020B0503020204020204" pitchFamily="34" charset="-122"/>
                <a:ea typeface="微软雅黑" panose="020B0503020204020204" pitchFamily="34" charset="-122"/>
              </a:rPr>
              <a:t>jobname</a:t>
            </a:r>
            <a:r>
              <a:rPr lang="en-US" altLang="zh-CN" dirty="0">
                <a:latin typeface="微软雅黑" panose="020B0503020204020204" pitchFamily="34" charset="-122"/>
                <a:ea typeface="微软雅黑" panose="020B0503020204020204" pitchFamily="34" charset="-122"/>
              </a:rPr>
              <a:t>&gt;</a:t>
            </a: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--output=file, </a:t>
            </a:r>
            <a:r>
              <a:rPr lang="zh-CN" altLang="en-US" dirty="0">
                <a:latin typeface="微软雅黑" panose="020B0503020204020204" pitchFamily="34" charset="-122"/>
                <a:ea typeface="微软雅黑" panose="020B0503020204020204" pitchFamily="34" charset="-122"/>
              </a:rPr>
              <a:t>标准输出到指导的</a:t>
            </a:r>
            <a:r>
              <a:rPr lang="en-US" altLang="zh-CN" dirty="0">
                <a:latin typeface="微软雅黑" panose="020B0503020204020204" pitchFamily="34" charset="-122"/>
                <a:ea typeface="微软雅黑" panose="020B0503020204020204" pitchFamily="34" charset="-122"/>
              </a:rPr>
              <a:t>file</a:t>
            </a:r>
            <a:r>
              <a:rPr lang="zh-CN" altLang="en-US" dirty="0">
                <a:latin typeface="微软雅黑" panose="020B0503020204020204" pitchFamily="34" charset="-122"/>
                <a:ea typeface="微软雅黑" panose="020B0503020204020204" pitchFamily="34" charset="-122"/>
              </a:rPr>
              <a:t>文件中</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--error=file</a:t>
            </a:r>
            <a:r>
              <a:rPr lang="zh-CN" altLang="en-US" dirty="0">
                <a:latin typeface="微软雅黑" panose="020B0503020204020204" pitchFamily="34" charset="-122"/>
                <a:ea typeface="微软雅黑" panose="020B0503020204020204" pitchFamily="34" charset="-122"/>
              </a:rPr>
              <a:t>，错误流输出到指定的文件中</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-p, --partition=&lt;</a:t>
            </a:r>
            <a:r>
              <a:rPr lang="en-US" altLang="zh-CN" dirty="0" err="1">
                <a:latin typeface="微软雅黑" panose="020B0503020204020204" pitchFamily="34" charset="-122"/>
                <a:ea typeface="微软雅黑" panose="020B0503020204020204" pitchFamily="34" charset="-122"/>
              </a:rPr>
              <a:t>partition_names</a:t>
            </a:r>
            <a:r>
              <a:rPr lang="en-US" altLang="zh-CN" dirty="0">
                <a:latin typeface="微软雅黑" panose="020B0503020204020204" pitchFamily="34" charset="-122"/>
                <a:ea typeface="微软雅黑" panose="020B0503020204020204" pitchFamily="34" charset="-122"/>
              </a:rPr>
              <a:t>&gt;</a:t>
            </a:r>
            <a:r>
              <a:rPr lang="zh-CN" altLang="zh-CN" dirty="0">
                <a:solidFill>
                  <a:schemeClr val="accent2"/>
                </a:solidFill>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将任务提交到指导的</a:t>
            </a:r>
            <a:r>
              <a:rPr lang="en-US" altLang="zh-CN" dirty="0" err="1">
                <a:latin typeface="微软雅黑" panose="020B0503020204020204" pitchFamily="34" charset="-122"/>
                <a:ea typeface="微软雅黑" panose="020B0503020204020204" pitchFamily="34" charset="-122"/>
              </a:rPr>
              <a:t>partition_names</a:t>
            </a:r>
            <a:r>
              <a:rPr lang="zh-CN" altLang="en-US" dirty="0">
                <a:latin typeface="微软雅黑" panose="020B0503020204020204" pitchFamily="34" charset="-122"/>
                <a:ea typeface="微软雅黑" panose="020B0503020204020204" pitchFamily="34" charset="-122"/>
              </a:rPr>
              <a:t>分区中</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--exclusive</a:t>
            </a:r>
            <a:r>
              <a:rPr lang="zh-CN" altLang="en-US" dirty="0">
                <a:latin typeface="微软雅黑" panose="020B0503020204020204" pitchFamily="34" charset="-122"/>
                <a:ea typeface="微软雅黑" panose="020B0503020204020204" pitchFamily="34" charset="-122"/>
              </a:rPr>
              <a:t>：独占模式</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gres</a:t>
            </a:r>
            <a:r>
              <a:rPr lang="en-US" altLang="zh-CN" dirty="0">
                <a:latin typeface="微软雅黑" panose="020B0503020204020204" pitchFamily="34" charset="-122"/>
                <a:ea typeface="微软雅黑" panose="020B0503020204020204" pitchFamily="34" charset="-122"/>
              </a:rPr>
              <a:t>=gpu:1 </a:t>
            </a:r>
            <a:r>
              <a:rPr lang="zh-CN" altLang="en-US" dirty="0">
                <a:latin typeface="微软雅黑" panose="020B0503020204020204" pitchFamily="34" charset="-122"/>
                <a:ea typeface="微软雅黑" panose="020B0503020204020204" pitchFamily="34" charset="-122"/>
              </a:rPr>
              <a:t>：每个节点的</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数量</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nl-NL" altLang="zh-CN" dirty="0">
                <a:latin typeface="微软雅黑" panose="020B0503020204020204" pitchFamily="34" charset="-122"/>
                <a:ea typeface="微软雅黑" panose="020B0503020204020204" pitchFamily="34" charset="-122"/>
              </a:rPr>
              <a:t>-w, --nodelist=&lt;node name list&gt;</a:t>
            </a:r>
            <a:r>
              <a:rPr lang="zh-CN" altLang="en-US" dirty="0">
                <a:latin typeface="微软雅黑" panose="020B0503020204020204" pitchFamily="34" charset="-122"/>
                <a:ea typeface="微软雅黑" panose="020B0503020204020204" pitchFamily="34" charset="-122"/>
              </a:rPr>
              <a:t>：指定作业运行在某些节点上。</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nl-NL" altLang="zh-CN" dirty="0">
                <a:latin typeface="微软雅黑" panose="020B0503020204020204" pitchFamily="34" charset="-122"/>
                <a:ea typeface="微软雅黑" panose="020B0503020204020204" pitchFamily="34" charset="-122"/>
              </a:rPr>
              <a:t>-q, --qos=&lt;qos&gt;</a:t>
            </a:r>
            <a:r>
              <a:rPr lang="zh-CN" altLang="en-US" dirty="0">
                <a:latin typeface="微软雅黑" panose="020B0503020204020204" pitchFamily="34" charset="-122"/>
                <a:ea typeface="微软雅黑" panose="020B0503020204020204" pitchFamily="34" charset="-122"/>
              </a:rPr>
              <a:t>：指定作业使用的</a:t>
            </a:r>
            <a:r>
              <a:rPr lang="en-US" altLang="zh-CN" dirty="0" err="1">
                <a:latin typeface="微软雅黑" panose="020B0503020204020204" pitchFamily="34" charset="-122"/>
                <a:ea typeface="微软雅黑" panose="020B0503020204020204" pitchFamily="34" charset="-122"/>
              </a:rPr>
              <a:t>qos</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nl-NL"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5710933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squeue</a:t>
            </a:r>
            <a:endPar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6" name="对角圆角矩形 15"/>
          <p:cNvSpPr/>
          <p:nvPr/>
        </p:nvSpPr>
        <p:spPr bwMode="auto">
          <a:xfrm>
            <a:off x="963286" y="707358"/>
            <a:ext cx="9784431" cy="65831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squeue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：显示分区中的作业信息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详细操作，请使用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man </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squeue</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3" name="图片 2">
            <a:extLst>
              <a:ext uri="{FF2B5EF4-FFF2-40B4-BE49-F238E27FC236}">
                <a16:creationId xmlns:a16="http://schemas.microsoft.com/office/drawing/2014/main" id="{2ED84D54-E9F8-D144-2C39-079CC17AAD86}"/>
              </a:ext>
            </a:extLst>
          </p:cNvPr>
          <p:cNvPicPr>
            <a:picLocks noChangeAspect="1"/>
          </p:cNvPicPr>
          <p:nvPr/>
        </p:nvPicPr>
        <p:blipFill>
          <a:blip r:embed="rId3"/>
          <a:stretch>
            <a:fillRect/>
          </a:stretch>
        </p:blipFill>
        <p:spPr>
          <a:xfrm>
            <a:off x="1035903" y="2565247"/>
            <a:ext cx="9639195" cy="1727506"/>
          </a:xfrm>
          <a:prstGeom prst="rect">
            <a:avLst/>
          </a:prstGeom>
        </p:spPr>
      </p:pic>
    </p:spTree>
    <p:extLst>
      <p:ext uri="{BB962C8B-B14F-4D97-AF65-F5344CB8AC3E}">
        <p14:creationId xmlns:p14="http://schemas.microsoft.com/office/powerpoint/2010/main" val="42698335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scancel</a:t>
            </a:r>
            <a:endPar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6" name="对角圆角矩形 15"/>
          <p:cNvSpPr/>
          <p:nvPr/>
        </p:nvSpPr>
        <p:spPr bwMode="auto">
          <a:xfrm>
            <a:off x="963286" y="755203"/>
            <a:ext cx="10361206" cy="834445"/>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scancel</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：删除分区中的作业</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详细操作，请使用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man </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scancel</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scancel</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显示，对正在运行的作业号为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35</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的作业进行删除操作</a:t>
            </a:r>
          </a:p>
        </p:txBody>
      </p:sp>
      <p:pic>
        <p:nvPicPr>
          <p:cNvPr id="18" name="图片 17"/>
          <p:cNvPicPr>
            <a:picLocks noChangeAspect="1"/>
          </p:cNvPicPr>
          <p:nvPr/>
        </p:nvPicPr>
        <p:blipFill>
          <a:blip r:embed="rId3"/>
          <a:stretch>
            <a:fillRect/>
          </a:stretch>
        </p:blipFill>
        <p:spPr>
          <a:xfrm>
            <a:off x="979146" y="1860900"/>
            <a:ext cx="10345346" cy="3231068"/>
          </a:xfrm>
          <a:prstGeom prst="rect">
            <a:avLst/>
          </a:prstGeom>
        </p:spPr>
      </p:pic>
    </p:spTree>
    <p:extLst>
      <p:ext uri="{BB962C8B-B14F-4D97-AF65-F5344CB8AC3E}">
        <p14:creationId xmlns:p14="http://schemas.microsoft.com/office/powerpoint/2010/main" val="304577142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4 </a:t>
                </a:r>
                <a:r>
                  <a:rPr lang="en-US" altLang="zh-CN" sz="1896" dirty="0" err="1">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Slurm</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软件介绍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命令</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 </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sacct</a:t>
            </a:r>
            <a:endPar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6" name="对角圆角矩形 15"/>
          <p:cNvSpPr/>
          <p:nvPr/>
        </p:nvSpPr>
        <p:spPr bwMode="auto">
          <a:xfrm>
            <a:off x="963285" y="755204"/>
            <a:ext cx="10701845" cy="61047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sacct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：查看已完成作业</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详细操作，请使用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man </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sacct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sacct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显示，查询用户当前运行过的所有作业</a:t>
            </a:r>
          </a:p>
        </p:txBody>
      </p:sp>
      <p:pic>
        <p:nvPicPr>
          <p:cNvPr id="17" name="图片 16"/>
          <p:cNvPicPr>
            <a:picLocks noChangeAspect="1"/>
          </p:cNvPicPr>
          <p:nvPr/>
        </p:nvPicPr>
        <p:blipFill>
          <a:blip r:embed="rId3"/>
          <a:stretch>
            <a:fillRect/>
          </a:stretch>
        </p:blipFill>
        <p:spPr>
          <a:xfrm>
            <a:off x="929205" y="1480646"/>
            <a:ext cx="5475113" cy="4314825"/>
          </a:xfrm>
          <a:prstGeom prst="rect">
            <a:avLst/>
          </a:prstGeom>
        </p:spPr>
      </p:pic>
      <p:pic>
        <p:nvPicPr>
          <p:cNvPr id="20" name="图片 19"/>
          <p:cNvPicPr>
            <a:picLocks noChangeAspect="1"/>
          </p:cNvPicPr>
          <p:nvPr/>
        </p:nvPicPr>
        <p:blipFill>
          <a:blip r:embed="rId4"/>
          <a:stretch>
            <a:fillRect/>
          </a:stretch>
        </p:blipFill>
        <p:spPr>
          <a:xfrm>
            <a:off x="6425731" y="1494068"/>
            <a:ext cx="5451043" cy="3690624"/>
          </a:xfrm>
          <a:prstGeom prst="rect">
            <a:avLst/>
          </a:prstGeom>
        </p:spPr>
      </p:pic>
    </p:spTree>
    <p:extLst>
      <p:ext uri="{BB962C8B-B14F-4D97-AF65-F5344CB8AC3E}">
        <p14:creationId xmlns:p14="http://schemas.microsoft.com/office/powerpoint/2010/main" val="166473442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4894430" y="3631611"/>
            <a:ext cx="5925023" cy="648051"/>
          </a:xfrm>
        </p:spPr>
        <p:txBody>
          <a:bodyPr/>
          <a:lstStyle/>
          <a:p>
            <a:pPr algn="l" defTabSz="867034" fontAlgn="auto">
              <a:spcBef>
                <a:spcPts val="0"/>
              </a:spcBef>
              <a:spcAft>
                <a:spcPts val="0"/>
              </a:spcAft>
              <a:defRPr/>
            </a:pPr>
            <a:r>
              <a:rPr lang="zh-CN" altLang="en-US" sz="4000" b="1" dirty="0">
                <a:solidFill>
                  <a:prstClr val="black">
                    <a:lumMod val="75000"/>
                    <a:lumOff val="25000"/>
                  </a:prstClr>
                </a:solidFill>
                <a:sym typeface="SF Orson Casual Heavy" panose="00000400000000000000" pitchFamily="2" charset="0"/>
              </a:rPr>
              <a:t>集群</a:t>
            </a:r>
            <a:r>
              <a:rPr lang="en-US" altLang="zh-CN" sz="4000" b="1" dirty="0">
                <a:solidFill>
                  <a:prstClr val="black">
                    <a:lumMod val="75000"/>
                    <a:lumOff val="25000"/>
                  </a:prstClr>
                </a:solidFill>
                <a:sym typeface="SF Orson Casual Heavy" panose="00000400000000000000" pitchFamily="2" charset="0"/>
              </a:rPr>
              <a:t>shell</a:t>
            </a:r>
            <a:r>
              <a:rPr lang="zh-CN" altLang="en-US" sz="4000" b="1" dirty="0">
                <a:solidFill>
                  <a:prstClr val="black">
                    <a:lumMod val="75000"/>
                    <a:lumOff val="25000"/>
                  </a:prstClr>
                </a:solidFill>
                <a:sym typeface="SF Orson Casual Heavy" panose="00000400000000000000" pitchFamily="2" charset="0"/>
              </a:rPr>
              <a:t>使用介绍</a:t>
            </a:r>
            <a:endParaRPr lang="en-US" altLang="zh-CN" sz="4000" b="1" dirty="0">
              <a:solidFill>
                <a:prstClr val="black">
                  <a:lumMod val="75000"/>
                  <a:lumOff val="25000"/>
                </a:prst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5</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4021835696"/>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Linux</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常用命令相关介绍</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 name="文本框 5">
            <a:extLst>
              <a:ext uri="{FF2B5EF4-FFF2-40B4-BE49-F238E27FC236}">
                <a16:creationId xmlns:a16="http://schemas.microsoft.com/office/drawing/2014/main" id="{A68B4508-0A2D-4322-8F4B-EDCC9647A388}"/>
              </a:ext>
            </a:extLst>
          </p:cNvPr>
          <p:cNvSpPr txBox="1"/>
          <p:nvPr/>
        </p:nvSpPr>
        <p:spPr>
          <a:xfrm>
            <a:off x="767336" y="1310031"/>
            <a:ext cx="4225551" cy="3416320"/>
          </a:xfrm>
          <a:prstGeom prst="rect">
            <a:avLst/>
          </a:prstGeom>
          <a:noFill/>
        </p:spPr>
        <p:txBody>
          <a:bodyPr wrap="square">
            <a:spAutoFit/>
          </a:bodyPr>
          <a:lstStyle/>
          <a:p>
            <a:pPr algn="l"/>
            <a:r>
              <a:rPr lang="en-US" altLang="zh-CN" b="0" i="0" dirty="0">
                <a:solidFill>
                  <a:srgbClr val="333333"/>
                </a:solidFill>
                <a:effectLst/>
                <a:latin typeface="微软雅黑" panose="020B0503020204020204" pitchFamily="34" charset="-122"/>
                <a:ea typeface="微软雅黑" panose="020B0503020204020204" pitchFamily="34" charset="-122"/>
              </a:rPr>
              <a:t>ls</a:t>
            </a:r>
            <a:r>
              <a:rPr lang="zh-CN" altLang="en-US" b="0" i="0" dirty="0">
                <a:solidFill>
                  <a:srgbClr val="333333"/>
                </a:solidFill>
                <a:effectLst/>
                <a:latin typeface="微软雅黑" panose="020B0503020204020204" pitchFamily="34" charset="-122"/>
                <a:ea typeface="微软雅黑" panose="020B0503020204020204" pitchFamily="34" charset="-122"/>
              </a:rPr>
              <a:t>：列出指定目录中的文件和子目录</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algn="l"/>
            <a:r>
              <a:rPr lang="en-US" altLang="zh-CN" b="0" i="0" dirty="0">
                <a:solidFill>
                  <a:srgbClr val="333333"/>
                </a:solidFill>
                <a:effectLst/>
                <a:latin typeface="微软雅黑" panose="020B0503020204020204" pitchFamily="34" charset="-122"/>
                <a:ea typeface="微软雅黑" panose="020B0503020204020204" pitchFamily="34" charset="-122"/>
              </a:rPr>
              <a:t>cd</a:t>
            </a:r>
            <a:r>
              <a:rPr lang="zh-CN" altLang="en-US" b="0" i="0" dirty="0">
                <a:solidFill>
                  <a:srgbClr val="333333"/>
                </a:solidFill>
                <a:effectLst/>
                <a:latin typeface="微软雅黑" panose="020B0503020204020204" pitchFamily="34" charset="-122"/>
                <a:ea typeface="微软雅黑" panose="020B0503020204020204" pitchFamily="34" charset="-122"/>
              </a:rPr>
              <a:t>：改变当前工作目录</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pwd</a:t>
            </a:r>
            <a:r>
              <a:rPr lang="zh-CN" altLang="en-US" b="0" i="0" dirty="0">
                <a:solidFill>
                  <a:srgbClr val="333333"/>
                </a:solidFill>
                <a:effectLst/>
                <a:latin typeface="微软雅黑" panose="020B0503020204020204" pitchFamily="34" charset="-122"/>
                <a:ea typeface="微软雅黑" panose="020B0503020204020204" pitchFamily="34" charset="-122"/>
              </a:rPr>
              <a:t>：显示当前工作目录的路径</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mkdir</a:t>
            </a:r>
            <a:r>
              <a:rPr lang="zh-CN" altLang="en-US" b="0" i="0" dirty="0">
                <a:solidFill>
                  <a:srgbClr val="333333"/>
                </a:solidFill>
                <a:effectLst/>
                <a:latin typeface="微软雅黑" panose="020B0503020204020204" pitchFamily="34" charset="-122"/>
                <a:ea typeface="微软雅黑" panose="020B0503020204020204" pitchFamily="34" charset="-122"/>
              </a:rPr>
              <a:t>：创建新目录</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rm</a:t>
            </a:r>
            <a:r>
              <a:rPr lang="zh-CN" altLang="en-US" b="0" i="0" dirty="0">
                <a:solidFill>
                  <a:srgbClr val="333333"/>
                </a:solidFill>
                <a:effectLst/>
                <a:latin typeface="微软雅黑" panose="020B0503020204020204" pitchFamily="34" charset="-122"/>
                <a:ea typeface="微软雅黑" panose="020B0503020204020204" pitchFamily="34" charset="-122"/>
              </a:rPr>
              <a:t>：删除文件或目录</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cp</a:t>
            </a:r>
            <a:r>
              <a:rPr lang="zh-CN" altLang="en-US" b="0" i="0" dirty="0">
                <a:solidFill>
                  <a:srgbClr val="333333"/>
                </a:solidFill>
                <a:effectLst/>
                <a:latin typeface="微软雅黑" panose="020B0503020204020204" pitchFamily="34" charset="-122"/>
                <a:ea typeface="微软雅黑" panose="020B0503020204020204" pitchFamily="34" charset="-122"/>
              </a:rPr>
              <a:t>：复制文件或目录</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mv</a:t>
            </a:r>
            <a:r>
              <a:rPr lang="zh-CN" altLang="en-US" b="0" i="0" dirty="0">
                <a:solidFill>
                  <a:srgbClr val="333333"/>
                </a:solidFill>
                <a:effectLst/>
                <a:latin typeface="微软雅黑" panose="020B0503020204020204" pitchFamily="34" charset="-122"/>
                <a:ea typeface="微软雅黑" panose="020B0503020204020204" pitchFamily="34" charset="-122"/>
              </a:rPr>
              <a:t>：移动或重命名文件和目录</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cat</a:t>
            </a:r>
            <a:r>
              <a:rPr lang="zh-CN" altLang="en-US" b="0" i="0" dirty="0">
                <a:solidFill>
                  <a:srgbClr val="333333"/>
                </a:solidFill>
                <a:effectLst/>
                <a:latin typeface="微软雅黑" panose="020B0503020204020204" pitchFamily="34" charset="-122"/>
                <a:ea typeface="微软雅黑" panose="020B0503020204020204" pitchFamily="34" charset="-122"/>
              </a:rPr>
              <a:t>：显示文件内容</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grep</a:t>
            </a:r>
            <a:r>
              <a:rPr lang="zh-CN" altLang="en-US" b="0" i="0" dirty="0">
                <a:solidFill>
                  <a:srgbClr val="333333"/>
                </a:solidFill>
                <a:effectLst/>
                <a:latin typeface="微软雅黑" panose="020B0503020204020204" pitchFamily="34" charset="-122"/>
                <a:ea typeface="微软雅黑" panose="020B0503020204020204" pitchFamily="34" charset="-122"/>
              </a:rPr>
              <a:t>：搜索文件中的文本模式</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find</a:t>
            </a:r>
            <a:r>
              <a:rPr lang="zh-CN" altLang="en-US" b="0" i="0" dirty="0">
                <a:solidFill>
                  <a:srgbClr val="333333"/>
                </a:solidFill>
                <a:effectLst/>
                <a:latin typeface="微软雅黑" panose="020B0503020204020204" pitchFamily="34" charset="-122"/>
                <a:ea typeface="微软雅黑" panose="020B0503020204020204" pitchFamily="34" charset="-122"/>
              </a:rPr>
              <a:t>：在文件系统中根据条件搜索文件</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chmod</a:t>
            </a:r>
            <a:r>
              <a:rPr lang="zh-CN" altLang="en-US" b="0" i="0" dirty="0">
                <a:solidFill>
                  <a:srgbClr val="333333"/>
                </a:solidFill>
                <a:effectLst/>
                <a:latin typeface="微软雅黑" panose="020B0503020204020204" pitchFamily="34" charset="-122"/>
                <a:ea typeface="微软雅黑" panose="020B0503020204020204" pitchFamily="34" charset="-122"/>
              </a:rPr>
              <a:t>：修改文件或目录的权限</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chown</a:t>
            </a:r>
            <a:r>
              <a:rPr lang="zh-CN" altLang="en-US" b="0" i="0" dirty="0">
                <a:solidFill>
                  <a:srgbClr val="333333"/>
                </a:solidFill>
                <a:effectLst/>
                <a:latin typeface="微软雅黑" panose="020B0503020204020204" pitchFamily="34" charset="-122"/>
                <a:ea typeface="微软雅黑" panose="020B0503020204020204" pitchFamily="34" charset="-122"/>
              </a:rPr>
              <a:t>：修改文件或目录的所有者</a:t>
            </a:r>
          </a:p>
        </p:txBody>
      </p:sp>
      <p:sp>
        <p:nvSpPr>
          <p:cNvPr id="8" name="文本框 7">
            <a:extLst>
              <a:ext uri="{FF2B5EF4-FFF2-40B4-BE49-F238E27FC236}">
                <a16:creationId xmlns:a16="http://schemas.microsoft.com/office/drawing/2014/main" id="{AE3D213A-ED9F-9817-06DE-59965A2F8A26}"/>
              </a:ext>
            </a:extLst>
          </p:cNvPr>
          <p:cNvSpPr txBox="1"/>
          <p:nvPr/>
        </p:nvSpPr>
        <p:spPr>
          <a:xfrm>
            <a:off x="5937327" y="1310031"/>
            <a:ext cx="6326966" cy="3416320"/>
          </a:xfrm>
          <a:prstGeom prst="rect">
            <a:avLst/>
          </a:prstGeom>
          <a:noFill/>
        </p:spPr>
        <p:txBody>
          <a:bodyPr wrap="square">
            <a:spAutoFit/>
          </a:bodyPr>
          <a:lstStyle/>
          <a:p>
            <a:pPr algn="l"/>
            <a:r>
              <a:rPr lang="en-US" altLang="zh-CN" b="0" i="0" dirty="0" err="1">
                <a:solidFill>
                  <a:srgbClr val="333333"/>
                </a:solidFill>
                <a:effectLst/>
                <a:latin typeface="微软雅黑" panose="020B0503020204020204" pitchFamily="34" charset="-122"/>
                <a:ea typeface="微软雅黑" panose="020B0503020204020204" pitchFamily="34" charset="-122"/>
              </a:rPr>
              <a:t>chgrp</a:t>
            </a:r>
            <a:r>
              <a:rPr lang="zh-CN" altLang="en-US" b="0" i="0" dirty="0">
                <a:solidFill>
                  <a:srgbClr val="333333"/>
                </a:solidFill>
                <a:effectLst/>
                <a:latin typeface="微软雅黑" panose="020B0503020204020204" pitchFamily="34" charset="-122"/>
                <a:ea typeface="微软雅黑" panose="020B0503020204020204" pitchFamily="34" charset="-122"/>
              </a:rPr>
              <a:t>：修改文件或目录的所属组</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tar</a:t>
            </a:r>
            <a:r>
              <a:rPr lang="zh-CN" altLang="en-US" b="0" i="0" dirty="0">
                <a:solidFill>
                  <a:srgbClr val="333333"/>
                </a:solidFill>
                <a:effectLst/>
                <a:latin typeface="微软雅黑" panose="020B0503020204020204" pitchFamily="34" charset="-122"/>
                <a:ea typeface="微软雅黑" panose="020B0503020204020204" pitchFamily="34" charset="-122"/>
              </a:rPr>
              <a:t>：创建或提取归档文件、解压缩</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gzip</a:t>
            </a:r>
            <a:r>
              <a:rPr lang="zh-CN" altLang="en-US" b="0" i="0" dirty="0">
                <a:solidFill>
                  <a:srgbClr val="333333"/>
                </a:solidFill>
                <a:effectLst/>
                <a:latin typeface="微软雅黑" panose="020B0503020204020204" pitchFamily="34" charset="-122"/>
                <a:ea typeface="微软雅黑" panose="020B0503020204020204" pitchFamily="34" charset="-122"/>
              </a:rPr>
              <a:t>：压缩文件</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unzip</a:t>
            </a:r>
            <a:r>
              <a:rPr lang="zh-CN" altLang="en-US" b="0" i="0" dirty="0">
                <a:solidFill>
                  <a:srgbClr val="333333"/>
                </a:solidFill>
                <a:effectLst/>
                <a:latin typeface="微软雅黑" panose="020B0503020204020204" pitchFamily="34" charset="-122"/>
                <a:ea typeface="微软雅黑" panose="020B0503020204020204" pitchFamily="34" charset="-122"/>
              </a:rPr>
              <a:t>：解压缩文件</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ssh</a:t>
            </a:r>
            <a:r>
              <a:rPr lang="zh-CN" altLang="en-US" b="0" i="0" dirty="0">
                <a:solidFill>
                  <a:srgbClr val="333333"/>
                </a:solidFill>
                <a:effectLst/>
                <a:latin typeface="微软雅黑" panose="020B0503020204020204" pitchFamily="34" charset="-122"/>
                <a:ea typeface="微软雅黑" panose="020B0503020204020204" pitchFamily="34" charset="-122"/>
              </a:rPr>
              <a:t>：安全登录远程服务器</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scp</a:t>
            </a:r>
            <a:r>
              <a:rPr lang="zh-CN" altLang="en-US" b="0" i="0" dirty="0">
                <a:solidFill>
                  <a:srgbClr val="333333"/>
                </a:solidFill>
                <a:effectLst/>
                <a:latin typeface="微软雅黑" panose="020B0503020204020204" pitchFamily="34" charset="-122"/>
                <a:ea typeface="微软雅黑" panose="020B0503020204020204" pitchFamily="34" charset="-122"/>
              </a:rPr>
              <a:t>：在本地主机和远程主机之间复制文件</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wget</a:t>
            </a:r>
            <a:r>
              <a:rPr lang="zh-CN" altLang="en-US" b="0" i="0" dirty="0">
                <a:solidFill>
                  <a:srgbClr val="333333"/>
                </a:solidFill>
                <a:effectLst/>
                <a:latin typeface="微软雅黑" panose="020B0503020204020204" pitchFamily="34" charset="-122"/>
                <a:ea typeface="微软雅黑" panose="020B0503020204020204" pitchFamily="34" charset="-122"/>
              </a:rPr>
              <a:t>：从网络下载文件</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top</a:t>
            </a:r>
            <a:r>
              <a:rPr lang="zh-CN" altLang="en-US" b="0" i="0" dirty="0">
                <a:solidFill>
                  <a:srgbClr val="333333"/>
                </a:solidFill>
                <a:effectLst/>
                <a:latin typeface="微软雅黑" panose="020B0503020204020204" pitchFamily="34" charset="-122"/>
                <a:ea typeface="微软雅黑" panose="020B0503020204020204" pitchFamily="34" charset="-122"/>
              </a:rPr>
              <a:t>：实时显示系统资源使用情况</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ps</a:t>
            </a:r>
            <a:r>
              <a:rPr lang="zh-CN" altLang="en-US" b="0" i="0" dirty="0">
                <a:solidFill>
                  <a:srgbClr val="333333"/>
                </a:solidFill>
                <a:effectLst/>
                <a:latin typeface="微软雅黑" panose="020B0503020204020204" pitchFamily="34" charset="-122"/>
                <a:ea typeface="微软雅黑" panose="020B0503020204020204" pitchFamily="34" charset="-122"/>
              </a:rPr>
              <a:t>：显示当前运行的进程</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kill</a:t>
            </a:r>
            <a:r>
              <a:rPr lang="zh-CN" altLang="en-US" b="0" i="0" dirty="0">
                <a:solidFill>
                  <a:srgbClr val="333333"/>
                </a:solidFill>
                <a:effectLst/>
                <a:latin typeface="微软雅黑" panose="020B0503020204020204" pitchFamily="34" charset="-122"/>
                <a:ea typeface="微软雅黑" panose="020B0503020204020204" pitchFamily="34" charset="-122"/>
              </a:rPr>
              <a:t>：终止进程</a:t>
            </a:r>
          </a:p>
          <a:p>
            <a:pPr algn="l"/>
            <a:r>
              <a:rPr lang="en-US" altLang="zh-CN" b="0" i="0" dirty="0" err="1">
                <a:solidFill>
                  <a:srgbClr val="333333"/>
                </a:solidFill>
                <a:effectLst/>
                <a:latin typeface="微软雅黑" panose="020B0503020204020204" pitchFamily="34" charset="-122"/>
                <a:ea typeface="微软雅黑" panose="020B0503020204020204" pitchFamily="34" charset="-122"/>
              </a:rPr>
              <a:t>ifconfig</a:t>
            </a:r>
            <a:r>
              <a:rPr lang="zh-CN" altLang="en-US" b="0" i="0" dirty="0">
                <a:solidFill>
                  <a:srgbClr val="333333"/>
                </a:solidFill>
                <a:effectLst/>
                <a:latin typeface="微软雅黑" panose="020B0503020204020204" pitchFamily="34" charset="-122"/>
                <a:ea typeface="微软雅黑" panose="020B0503020204020204" pitchFamily="34" charset="-122"/>
              </a:rPr>
              <a:t>：显示和配置网络接口信息</a:t>
            </a:r>
          </a:p>
          <a:p>
            <a:pPr algn="l"/>
            <a:r>
              <a:rPr lang="en-US" altLang="zh-CN" b="0" i="0" dirty="0">
                <a:solidFill>
                  <a:srgbClr val="333333"/>
                </a:solidFill>
                <a:effectLst/>
                <a:latin typeface="微软雅黑" panose="020B0503020204020204" pitchFamily="34" charset="-122"/>
                <a:ea typeface="微软雅黑" panose="020B0503020204020204" pitchFamily="34" charset="-122"/>
              </a:rPr>
              <a:t>ping</a:t>
            </a:r>
            <a:r>
              <a:rPr lang="zh-CN" altLang="en-US" b="0" i="0" dirty="0">
                <a:solidFill>
                  <a:srgbClr val="333333"/>
                </a:solidFill>
                <a:effectLst/>
                <a:latin typeface="微软雅黑" panose="020B0503020204020204" pitchFamily="34" charset="-122"/>
                <a:ea typeface="微软雅黑" panose="020B0503020204020204" pitchFamily="34" charset="-122"/>
              </a:rPr>
              <a:t>：向另一台设备发送网络请求以测试连接</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346600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Linux</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常用命令及文件权限相关介绍</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9" name="文本框 8">
            <a:extLst>
              <a:ext uri="{FF2B5EF4-FFF2-40B4-BE49-F238E27FC236}">
                <a16:creationId xmlns:a16="http://schemas.microsoft.com/office/drawing/2014/main" id="{B33AEA5B-F8A2-AE3E-CDFE-B732687D5103}"/>
              </a:ext>
            </a:extLst>
          </p:cNvPr>
          <p:cNvSpPr txBox="1"/>
          <p:nvPr/>
        </p:nvSpPr>
        <p:spPr>
          <a:xfrm>
            <a:off x="404501" y="754139"/>
            <a:ext cx="11715559" cy="4801314"/>
          </a:xfrm>
          <a:prstGeom prst="rect">
            <a:avLst/>
          </a:prstGeom>
          <a:noFill/>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ls</a:t>
            </a:r>
            <a:r>
              <a:rPr lang="zh-CN" altLang="en-US" dirty="0">
                <a:solidFill>
                  <a:srgbClr val="333333"/>
                </a:solidFill>
                <a:latin typeface="微软雅黑" panose="020B0503020204020204" pitchFamily="34" charset="-122"/>
                <a:ea typeface="微软雅黑" panose="020B0503020204020204" pitchFamily="34" charset="-122"/>
              </a:rPr>
              <a:t>：列出当前目录中的文件和子目录。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ls</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cd</a:t>
            </a:r>
            <a:r>
              <a:rPr lang="zh-CN" altLang="en-US" dirty="0">
                <a:solidFill>
                  <a:srgbClr val="333333"/>
                </a:solidFill>
                <a:latin typeface="微软雅黑" panose="020B0503020204020204" pitchFamily="34" charset="-122"/>
                <a:ea typeface="微软雅黑" panose="020B0503020204020204" pitchFamily="34" charset="-122"/>
              </a:rPr>
              <a:t>：切换到指定目录。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cd /home/user/documents</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pwd</a:t>
            </a:r>
            <a:r>
              <a:rPr lang="zh-CN" altLang="en-US" dirty="0">
                <a:solidFill>
                  <a:srgbClr val="333333"/>
                </a:solidFill>
                <a:latin typeface="微软雅黑" panose="020B0503020204020204" pitchFamily="34" charset="-122"/>
                <a:ea typeface="微软雅黑" panose="020B0503020204020204" pitchFamily="34" charset="-122"/>
              </a:rPr>
              <a:t>：显示当前工作目录的路径。</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pwd</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mkdir</a:t>
            </a:r>
            <a:r>
              <a:rPr lang="zh-CN" altLang="en-US" dirty="0">
                <a:solidFill>
                  <a:srgbClr val="333333"/>
                </a:solidFill>
                <a:latin typeface="微软雅黑" panose="020B0503020204020204" pitchFamily="34" charset="-122"/>
                <a:ea typeface="微软雅黑" panose="020B0503020204020204" pitchFamily="34" charset="-122"/>
              </a:rPr>
              <a:t>：创建一个新目录。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mkdir</a:t>
            </a:r>
            <a:r>
              <a:rPr lang="en-US" altLang="zh-CN" dirty="0">
                <a:solidFill>
                  <a:srgbClr val="333333"/>
                </a:solidFill>
                <a:latin typeface="微软雅黑" panose="020B0503020204020204" pitchFamily="34" charset="-122"/>
                <a:ea typeface="微软雅黑" panose="020B0503020204020204" pitchFamily="34" charset="-122"/>
              </a:rPr>
              <a:t> </a:t>
            </a:r>
            <a:r>
              <a:rPr lang="en-US" altLang="zh-CN" dirty="0" err="1">
                <a:solidFill>
                  <a:srgbClr val="333333"/>
                </a:solidFill>
                <a:latin typeface="微软雅黑" panose="020B0503020204020204" pitchFamily="34" charset="-122"/>
                <a:ea typeface="微软雅黑" panose="020B0503020204020204" pitchFamily="34" charset="-122"/>
              </a:rPr>
              <a:t>new_directory</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rm</a:t>
            </a:r>
            <a:r>
              <a:rPr lang="zh-CN" altLang="en-US" dirty="0">
                <a:solidFill>
                  <a:srgbClr val="333333"/>
                </a:solidFill>
                <a:latin typeface="微软雅黑" panose="020B0503020204020204" pitchFamily="34" charset="-122"/>
                <a:ea typeface="微软雅黑" panose="020B0503020204020204" pitchFamily="34" charset="-122"/>
              </a:rPr>
              <a:t>：删除文件或目录。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rm filename</a:t>
            </a:r>
            <a:r>
              <a:rPr lang="zh-CN" altLang="en-US" dirty="0">
                <a:solidFill>
                  <a:srgbClr val="333333"/>
                </a:solidFill>
                <a:latin typeface="微软雅黑" panose="020B0503020204020204" pitchFamily="34" charset="-122"/>
                <a:ea typeface="微软雅黑" panose="020B0503020204020204" pitchFamily="34" charset="-122"/>
              </a:rPr>
              <a:t>（删除文件），</a:t>
            </a:r>
            <a:r>
              <a:rPr lang="en-US" altLang="zh-CN" dirty="0">
                <a:solidFill>
                  <a:srgbClr val="333333"/>
                </a:solidFill>
                <a:latin typeface="微软雅黑" panose="020B0503020204020204" pitchFamily="34" charset="-122"/>
                <a:ea typeface="微软雅黑" panose="020B0503020204020204" pitchFamily="34" charset="-122"/>
              </a:rPr>
              <a:t>rm -r directory</a:t>
            </a:r>
            <a:r>
              <a:rPr lang="zh-CN" altLang="en-US" dirty="0">
                <a:solidFill>
                  <a:srgbClr val="333333"/>
                </a:solidFill>
                <a:latin typeface="微软雅黑" panose="020B0503020204020204" pitchFamily="34" charset="-122"/>
                <a:ea typeface="微软雅黑" panose="020B0503020204020204" pitchFamily="34" charset="-122"/>
              </a:rPr>
              <a:t>（删除目录）</a:t>
            </a:r>
            <a:endParaRPr lang="en-US" altLang="zh-CN" dirty="0">
              <a:solidFill>
                <a:srgbClr val="333333"/>
              </a:solidFill>
              <a:latin typeface="微软雅黑" panose="020B0503020204020204" pitchFamily="34" charset="-122"/>
              <a:ea typeface="微软雅黑" panose="020B0503020204020204" pitchFamily="34" charset="-122"/>
            </a:endParaRP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cp</a:t>
            </a:r>
            <a:r>
              <a:rPr lang="zh-CN" altLang="en-US" dirty="0">
                <a:solidFill>
                  <a:srgbClr val="333333"/>
                </a:solidFill>
                <a:latin typeface="微软雅黑" panose="020B0503020204020204" pitchFamily="34" charset="-122"/>
                <a:ea typeface="微软雅黑" panose="020B0503020204020204" pitchFamily="34" charset="-122"/>
              </a:rPr>
              <a:t>：复制文件或目录。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cp file1 file2</a:t>
            </a:r>
            <a:r>
              <a:rPr lang="zh-CN" altLang="en-US" dirty="0">
                <a:solidFill>
                  <a:srgbClr val="333333"/>
                </a:solidFill>
                <a:latin typeface="微软雅黑" panose="020B0503020204020204" pitchFamily="34" charset="-122"/>
                <a:ea typeface="微软雅黑" panose="020B0503020204020204" pitchFamily="34" charset="-122"/>
              </a:rPr>
              <a:t>（将</a:t>
            </a:r>
            <a:r>
              <a:rPr lang="en-US" altLang="zh-CN" dirty="0">
                <a:solidFill>
                  <a:srgbClr val="333333"/>
                </a:solidFill>
                <a:latin typeface="微软雅黑" panose="020B0503020204020204" pitchFamily="34" charset="-122"/>
                <a:ea typeface="微软雅黑" panose="020B0503020204020204" pitchFamily="34" charset="-122"/>
              </a:rPr>
              <a:t>file1</a:t>
            </a:r>
            <a:r>
              <a:rPr lang="zh-CN" altLang="en-US" dirty="0">
                <a:solidFill>
                  <a:srgbClr val="333333"/>
                </a:solidFill>
                <a:latin typeface="微软雅黑" panose="020B0503020204020204" pitchFamily="34" charset="-122"/>
                <a:ea typeface="微软雅黑" panose="020B0503020204020204" pitchFamily="34" charset="-122"/>
              </a:rPr>
              <a:t>复制到</a:t>
            </a:r>
            <a:r>
              <a:rPr lang="en-US" altLang="zh-CN" dirty="0">
                <a:solidFill>
                  <a:srgbClr val="333333"/>
                </a:solidFill>
                <a:latin typeface="微软雅黑" panose="020B0503020204020204" pitchFamily="34" charset="-122"/>
                <a:ea typeface="微软雅黑" panose="020B0503020204020204" pitchFamily="34" charset="-122"/>
              </a:rPr>
              <a:t>file2),cp -r directory1 directory2</a:t>
            </a:r>
            <a:r>
              <a:rPr lang="zh-CN" altLang="en-US" dirty="0">
                <a:solidFill>
                  <a:srgbClr val="333333"/>
                </a:solidFill>
                <a:latin typeface="微软雅黑" panose="020B0503020204020204" pitchFamily="34" charset="-122"/>
                <a:ea typeface="微软雅黑" panose="020B0503020204020204" pitchFamily="34" charset="-122"/>
              </a:rPr>
              <a:t>（将</a:t>
            </a:r>
            <a:r>
              <a:rPr lang="en-US" altLang="zh-CN" dirty="0">
                <a:solidFill>
                  <a:srgbClr val="333333"/>
                </a:solidFill>
                <a:latin typeface="微软雅黑" panose="020B0503020204020204" pitchFamily="34" charset="-122"/>
                <a:ea typeface="微软雅黑" panose="020B0503020204020204" pitchFamily="34" charset="-122"/>
              </a:rPr>
              <a:t>directory1</a:t>
            </a:r>
            <a:r>
              <a:rPr lang="zh-CN" altLang="en-US" dirty="0">
                <a:solidFill>
                  <a:srgbClr val="333333"/>
                </a:solidFill>
                <a:latin typeface="微软雅黑" panose="020B0503020204020204" pitchFamily="34" charset="-122"/>
                <a:ea typeface="微软雅黑" panose="020B0503020204020204" pitchFamily="34" charset="-122"/>
              </a:rPr>
              <a:t>及其内容复制到</a:t>
            </a:r>
            <a:r>
              <a:rPr lang="en-US" altLang="zh-CN" dirty="0">
                <a:solidFill>
                  <a:srgbClr val="333333"/>
                </a:solidFill>
                <a:latin typeface="微软雅黑" panose="020B0503020204020204" pitchFamily="34" charset="-122"/>
                <a:ea typeface="微软雅黑" panose="020B0503020204020204" pitchFamily="34" charset="-122"/>
              </a:rPr>
              <a:t>directory2</a:t>
            </a:r>
            <a:r>
              <a:rPr lang="zh-CN" altLang="en-US" dirty="0">
                <a:solidFill>
                  <a:srgbClr val="333333"/>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23461958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Linux</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常用命令及文件权限相关介绍</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9" name="文本框 8">
            <a:extLst>
              <a:ext uri="{FF2B5EF4-FFF2-40B4-BE49-F238E27FC236}">
                <a16:creationId xmlns:a16="http://schemas.microsoft.com/office/drawing/2014/main" id="{B33AEA5B-F8A2-AE3E-CDFE-B732687D5103}"/>
              </a:ext>
            </a:extLst>
          </p:cNvPr>
          <p:cNvSpPr txBox="1"/>
          <p:nvPr/>
        </p:nvSpPr>
        <p:spPr>
          <a:xfrm>
            <a:off x="1298824" y="700777"/>
            <a:ext cx="9898119" cy="5909310"/>
          </a:xfrm>
          <a:prstGeom prst="rect">
            <a:avLst/>
          </a:prstGeom>
          <a:noFill/>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mv</a:t>
            </a:r>
            <a:r>
              <a:rPr lang="zh-CN" altLang="en-US" dirty="0">
                <a:solidFill>
                  <a:srgbClr val="333333"/>
                </a:solidFill>
                <a:latin typeface="微软雅黑" panose="020B0503020204020204" pitchFamily="34" charset="-122"/>
                <a:ea typeface="微软雅黑" panose="020B0503020204020204" pitchFamily="34" charset="-122"/>
              </a:rPr>
              <a:t>：移动或重命名文件和目录。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mv file1 file2</a:t>
            </a:r>
            <a:r>
              <a:rPr lang="zh-CN" altLang="en-US" dirty="0">
                <a:solidFill>
                  <a:srgbClr val="333333"/>
                </a:solidFill>
                <a:latin typeface="微软雅黑" panose="020B0503020204020204" pitchFamily="34" charset="-122"/>
                <a:ea typeface="微软雅黑" panose="020B0503020204020204" pitchFamily="34" charset="-122"/>
              </a:rPr>
              <a:t>（将</a:t>
            </a:r>
            <a:r>
              <a:rPr lang="en-US" altLang="zh-CN" dirty="0">
                <a:solidFill>
                  <a:srgbClr val="333333"/>
                </a:solidFill>
                <a:latin typeface="微软雅黑" panose="020B0503020204020204" pitchFamily="34" charset="-122"/>
                <a:ea typeface="微软雅黑" panose="020B0503020204020204" pitchFamily="34" charset="-122"/>
              </a:rPr>
              <a:t>file1</a:t>
            </a:r>
            <a:r>
              <a:rPr lang="zh-CN" altLang="en-US" dirty="0">
                <a:solidFill>
                  <a:srgbClr val="333333"/>
                </a:solidFill>
                <a:latin typeface="微软雅黑" panose="020B0503020204020204" pitchFamily="34" charset="-122"/>
                <a:ea typeface="微软雅黑" panose="020B0503020204020204" pitchFamily="34" charset="-122"/>
              </a:rPr>
              <a:t>移动或重命名为</a:t>
            </a:r>
            <a:r>
              <a:rPr lang="en-US" altLang="zh-CN" dirty="0">
                <a:solidFill>
                  <a:srgbClr val="333333"/>
                </a:solidFill>
                <a:latin typeface="微软雅黑" panose="020B0503020204020204" pitchFamily="34" charset="-122"/>
                <a:ea typeface="微软雅黑" panose="020B0503020204020204" pitchFamily="34" charset="-122"/>
              </a:rPr>
              <a:t>file2</a:t>
            </a:r>
            <a:r>
              <a:rPr lang="zh-CN" altLang="en-US" dirty="0">
                <a:solidFill>
                  <a:srgbClr val="333333"/>
                </a:solidFill>
                <a:latin typeface="微软雅黑" panose="020B0503020204020204" pitchFamily="34" charset="-122"/>
                <a:ea typeface="微软雅黑" panose="020B0503020204020204" pitchFamily="34" charset="-122"/>
              </a:rPr>
              <a:t>）</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cat</a:t>
            </a:r>
            <a:r>
              <a:rPr lang="zh-CN" altLang="en-US" dirty="0">
                <a:solidFill>
                  <a:srgbClr val="333333"/>
                </a:solidFill>
                <a:latin typeface="微软雅黑" panose="020B0503020204020204" pitchFamily="34" charset="-122"/>
                <a:ea typeface="微软雅黑" panose="020B0503020204020204" pitchFamily="34" charset="-122"/>
              </a:rPr>
              <a:t>：显示文件的内容。</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cat filename</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grep</a:t>
            </a:r>
            <a:r>
              <a:rPr lang="zh-CN" altLang="en-US" dirty="0">
                <a:solidFill>
                  <a:srgbClr val="333333"/>
                </a:solidFill>
                <a:latin typeface="微软雅黑" panose="020B0503020204020204" pitchFamily="34" charset="-122"/>
                <a:ea typeface="微软雅黑" panose="020B0503020204020204" pitchFamily="34" charset="-122"/>
              </a:rPr>
              <a:t>：在文件中搜索指定的文本模式。</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grep "keyword" filename</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find</a:t>
            </a:r>
            <a:r>
              <a:rPr lang="zh-CN" altLang="en-US" dirty="0">
                <a:solidFill>
                  <a:srgbClr val="333333"/>
                </a:solidFill>
                <a:latin typeface="微软雅黑" panose="020B0503020204020204" pitchFamily="34" charset="-122"/>
                <a:ea typeface="微软雅黑" panose="020B0503020204020204" pitchFamily="34" charset="-122"/>
              </a:rPr>
              <a:t>：根据条件在文件系统中搜索文件。</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find /path/to/search -name "</a:t>
            </a:r>
            <a:r>
              <a:rPr lang="en-US" altLang="zh-CN" dirty="0" err="1">
                <a:solidFill>
                  <a:srgbClr val="333333"/>
                </a:solidFill>
                <a:latin typeface="微软雅黑" panose="020B0503020204020204" pitchFamily="34" charset="-122"/>
                <a:ea typeface="微软雅黑" panose="020B0503020204020204" pitchFamily="34" charset="-122"/>
              </a:rPr>
              <a:t>file_pattern</a:t>
            </a:r>
            <a:r>
              <a:rPr lang="en-US" altLang="zh-CN" dirty="0">
                <a:solidFill>
                  <a:srgbClr val="333333"/>
                </a:solidFill>
                <a:latin typeface="微软雅黑" panose="020B0503020204020204" pitchFamily="34" charset="-122"/>
                <a:ea typeface="微软雅黑" panose="020B0503020204020204" pitchFamily="34" charset="-122"/>
              </a:rPr>
              <a:t>"</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chmod</a:t>
            </a:r>
            <a:r>
              <a:rPr lang="zh-CN" altLang="en-US" dirty="0">
                <a:solidFill>
                  <a:srgbClr val="333333"/>
                </a:solidFill>
                <a:latin typeface="微软雅黑" panose="020B0503020204020204" pitchFamily="34" charset="-122"/>
                <a:ea typeface="微软雅黑" panose="020B0503020204020204" pitchFamily="34" charset="-122"/>
              </a:rPr>
              <a:t>：修改文件或目录的权限。</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chmod</a:t>
            </a:r>
            <a:r>
              <a:rPr lang="en-US" altLang="zh-CN" dirty="0">
                <a:solidFill>
                  <a:srgbClr val="333333"/>
                </a:solidFill>
                <a:latin typeface="微软雅黑" panose="020B0503020204020204" pitchFamily="34" charset="-122"/>
                <a:ea typeface="微软雅黑" panose="020B0503020204020204" pitchFamily="34" charset="-122"/>
              </a:rPr>
              <a:t> 755 filename</a:t>
            </a:r>
            <a:r>
              <a:rPr lang="zh-CN" altLang="en-US" dirty="0">
                <a:solidFill>
                  <a:srgbClr val="333333"/>
                </a:solidFill>
                <a:latin typeface="微软雅黑" panose="020B0503020204020204" pitchFamily="34" charset="-122"/>
                <a:ea typeface="微软雅黑" panose="020B0503020204020204" pitchFamily="34" charset="-122"/>
              </a:rPr>
              <a:t>（设置文件的所有者可以读、写、执行，其他用户可以读和执行）</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chown</a:t>
            </a:r>
            <a:r>
              <a:rPr lang="zh-CN" altLang="en-US" dirty="0">
                <a:solidFill>
                  <a:srgbClr val="333333"/>
                </a:solidFill>
                <a:latin typeface="微软雅黑" panose="020B0503020204020204" pitchFamily="34" charset="-122"/>
                <a:ea typeface="微软雅黑" panose="020B0503020204020204" pitchFamily="34" charset="-122"/>
              </a:rPr>
              <a:t>：修改文件或目录的所有者。</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chown</a:t>
            </a:r>
            <a:r>
              <a:rPr lang="en-US" altLang="zh-CN" dirty="0">
                <a:solidFill>
                  <a:srgbClr val="333333"/>
                </a:solidFill>
                <a:latin typeface="微软雅黑" panose="020B0503020204020204" pitchFamily="34" charset="-122"/>
                <a:ea typeface="微软雅黑" panose="020B0503020204020204" pitchFamily="34" charset="-122"/>
              </a:rPr>
              <a:t> user filename</a:t>
            </a:r>
            <a:r>
              <a:rPr lang="zh-CN" altLang="en-US" dirty="0">
                <a:solidFill>
                  <a:srgbClr val="333333"/>
                </a:solidFill>
                <a:latin typeface="微软雅黑" panose="020B0503020204020204" pitchFamily="34" charset="-122"/>
                <a:ea typeface="微软雅黑" panose="020B0503020204020204" pitchFamily="34" charset="-122"/>
              </a:rPr>
              <a:t>（将文件的所有者更改为指定用户）</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chgrp</a:t>
            </a:r>
            <a:r>
              <a:rPr lang="zh-CN" altLang="en-US" dirty="0">
                <a:solidFill>
                  <a:srgbClr val="333333"/>
                </a:solidFill>
                <a:latin typeface="微软雅黑" panose="020B0503020204020204" pitchFamily="34" charset="-122"/>
                <a:ea typeface="微软雅黑" panose="020B0503020204020204" pitchFamily="34" charset="-122"/>
              </a:rPr>
              <a:t>：修改文件或目录的所属组。</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chgrp</a:t>
            </a:r>
            <a:r>
              <a:rPr lang="en-US" altLang="zh-CN" dirty="0">
                <a:solidFill>
                  <a:srgbClr val="333333"/>
                </a:solidFill>
                <a:latin typeface="微软雅黑" panose="020B0503020204020204" pitchFamily="34" charset="-122"/>
                <a:ea typeface="微软雅黑" panose="020B0503020204020204" pitchFamily="34" charset="-122"/>
              </a:rPr>
              <a:t> </a:t>
            </a:r>
            <a:r>
              <a:rPr lang="en-US" altLang="zh-CN" dirty="0" err="1">
                <a:solidFill>
                  <a:srgbClr val="333333"/>
                </a:solidFill>
                <a:latin typeface="微软雅黑" panose="020B0503020204020204" pitchFamily="34" charset="-122"/>
                <a:ea typeface="微软雅黑" panose="020B0503020204020204" pitchFamily="34" charset="-122"/>
              </a:rPr>
              <a:t>groupname</a:t>
            </a:r>
            <a:r>
              <a:rPr lang="en-US" altLang="zh-CN" dirty="0">
                <a:solidFill>
                  <a:srgbClr val="333333"/>
                </a:solidFill>
                <a:latin typeface="微软雅黑" panose="020B0503020204020204" pitchFamily="34" charset="-122"/>
                <a:ea typeface="微软雅黑" panose="020B0503020204020204" pitchFamily="34" charset="-122"/>
              </a:rPr>
              <a:t> filename</a:t>
            </a:r>
            <a:r>
              <a:rPr lang="zh-CN" altLang="en-US" dirty="0">
                <a:solidFill>
                  <a:srgbClr val="333333"/>
                </a:solidFill>
                <a:latin typeface="微软雅黑" panose="020B0503020204020204" pitchFamily="34" charset="-122"/>
                <a:ea typeface="微软雅黑" panose="020B0503020204020204" pitchFamily="34" charset="-122"/>
              </a:rPr>
              <a:t>（将文件的所属组更改为指定组）</a:t>
            </a:r>
            <a:endParaRPr lang="en-US" altLang="zh-CN" dirty="0">
              <a:solidFill>
                <a:srgbClr val="333333"/>
              </a:solidFill>
              <a:latin typeface="微软雅黑" panose="020B0503020204020204" pitchFamily="34" charset="-122"/>
              <a:ea typeface="微软雅黑" panose="020B0503020204020204" pitchFamily="34" charset="-122"/>
            </a:endParaRPr>
          </a:p>
          <a:p>
            <a:endParaRPr lang="zh-CN" altLang="en-US" dirty="0">
              <a:solidFill>
                <a:srgbClr val="33333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3119969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Linux</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常用命令及文件权限相关介绍</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9" name="文本框 8">
            <a:extLst>
              <a:ext uri="{FF2B5EF4-FFF2-40B4-BE49-F238E27FC236}">
                <a16:creationId xmlns:a16="http://schemas.microsoft.com/office/drawing/2014/main" id="{B33AEA5B-F8A2-AE3E-CDFE-B732687D5103}"/>
              </a:ext>
            </a:extLst>
          </p:cNvPr>
          <p:cNvSpPr txBox="1"/>
          <p:nvPr/>
        </p:nvSpPr>
        <p:spPr>
          <a:xfrm>
            <a:off x="1298824" y="700777"/>
            <a:ext cx="9898119" cy="5632311"/>
          </a:xfrm>
          <a:prstGeom prst="rect">
            <a:avLst/>
          </a:prstGeom>
          <a:noFill/>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tar</a:t>
            </a:r>
            <a:r>
              <a:rPr lang="zh-CN" altLang="en-US" dirty="0">
                <a:solidFill>
                  <a:srgbClr val="333333"/>
                </a:solidFill>
                <a:latin typeface="微软雅黑" panose="020B0503020204020204" pitchFamily="34" charset="-122"/>
                <a:ea typeface="微软雅黑" panose="020B0503020204020204" pitchFamily="34" charset="-122"/>
              </a:rPr>
              <a:t>：创建或提取归档文件。</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tar -</a:t>
            </a:r>
            <a:r>
              <a:rPr lang="en-US" altLang="zh-CN" dirty="0" err="1">
                <a:solidFill>
                  <a:srgbClr val="333333"/>
                </a:solidFill>
                <a:latin typeface="微软雅黑" panose="020B0503020204020204" pitchFamily="34" charset="-122"/>
                <a:ea typeface="微软雅黑" panose="020B0503020204020204" pitchFamily="34" charset="-122"/>
              </a:rPr>
              <a:t>cvf</a:t>
            </a:r>
            <a:r>
              <a:rPr lang="en-US" altLang="zh-CN" dirty="0">
                <a:solidFill>
                  <a:srgbClr val="333333"/>
                </a:solidFill>
                <a:latin typeface="微软雅黑" panose="020B0503020204020204" pitchFamily="34" charset="-122"/>
                <a:ea typeface="微软雅黑" panose="020B0503020204020204" pitchFamily="34" charset="-122"/>
              </a:rPr>
              <a:t> archive.tar file1 file2</a:t>
            </a:r>
            <a:r>
              <a:rPr lang="zh-CN" altLang="en-US" dirty="0">
                <a:solidFill>
                  <a:srgbClr val="333333"/>
                </a:solidFill>
                <a:latin typeface="微软雅黑" panose="020B0503020204020204" pitchFamily="34" charset="-122"/>
                <a:ea typeface="微软雅黑" panose="020B0503020204020204" pitchFamily="34" charset="-122"/>
              </a:rPr>
              <a:t>（创建归档文件），</a:t>
            </a:r>
            <a:r>
              <a:rPr lang="en-US" altLang="zh-CN" dirty="0">
                <a:solidFill>
                  <a:srgbClr val="333333"/>
                </a:solidFill>
                <a:latin typeface="微软雅黑" panose="020B0503020204020204" pitchFamily="34" charset="-122"/>
                <a:ea typeface="微软雅黑" panose="020B0503020204020204" pitchFamily="34" charset="-122"/>
              </a:rPr>
              <a:t>tar -</a:t>
            </a:r>
            <a:r>
              <a:rPr lang="en-US" altLang="zh-CN" dirty="0" err="1">
                <a:solidFill>
                  <a:srgbClr val="333333"/>
                </a:solidFill>
                <a:latin typeface="微软雅黑" panose="020B0503020204020204" pitchFamily="34" charset="-122"/>
                <a:ea typeface="微软雅黑" panose="020B0503020204020204" pitchFamily="34" charset="-122"/>
              </a:rPr>
              <a:t>xvf</a:t>
            </a:r>
            <a:r>
              <a:rPr lang="en-US" altLang="zh-CN" dirty="0">
                <a:solidFill>
                  <a:srgbClr val="333333"/>
                </a:solidFill>
                <a:latin typeface="微软雅黑" panose="020B0503020204020204" pitchFamily="34" charset="-122"/>
                <a:ea typeface="微软雅黑" panose="020B0503020204020204" pitchFamily="34" charset="-122"/>
              </a:rPr>
              <a:t> archive.tar</a:t>
            </a:r>
            <a:r>
              <a:rPr lang="zh-CN" altLang="en-US" dirty="0">
                <a:solidFill>
                  <a:srgbClr val="333333"/>
                </a:solidFill>
                <a:latin typeface="微软雅黑" panose="020B0503020204020204" pitchFamily="34" charset="-122"/>
                <a:ea typeface="微软雅黑" panose="020B0503020204020204" pitchFamily="34" charset="-122"/>
              </a:rPr>
              <a:t>（提取归档文件）</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gzip</a:t>
            </a:r>
            <a:r>
              <a:rPr lang="zh-CN" altLang="en-US" dirty="0">
                <a:solidFill>
                  <a:srgbClr val="333333"/>
                </a:solidFill>
                <a:latin typeface="微软雅黑" panose="020B0503020204020204" pitchFamily="34" charset="-122"/>
                <a:ea typeface="微软雅黑" panose="020B0503020204020204" pitchFamily="34" charset="-122"/>
              </a:rPr>
              <a:t>：压缩文件。</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gzip</a:t>
            </a:r>
            <a:r>
              <a:rPr lang="en-US" altLang="zh-CN" dirty="0">
                <a:solidFill>
                  <a:srgbClr val="333333"/>
                </a:solidFill>
                <a:latin typeface="微软雅黑" panose="020B0503020204020204" pitchFamily="34" charset="-122"/>
                <a:ea typeface="微软雅黑" panose="020B0503020204020204" pitchFamily="34" charset="-122"/>
              </a:rPr>
              <a:t> filename</a:t>
            </a:r>
            <a:r>
              <a:rPr lang="zh-CN" altLang="en-US" dirty="0">
                <a:solidFill>
                  <a:srgbClr val="333333"/>
                </a:solidFill>
                <a:latin typeface="微软雅黑" panose="020B0503020204020204" pitchFamily="34" charset="-122"/>
                <a:ea typeface="微软雅黑" panose="020B0503020204020204" pitchFamily="34" charset="-122"/>
              </a:rPr>
              <a:t>（压缩文件，生成</a:t>
            </a:r>
            <a:r>
              <a:rPr lang="en-US" altLang="zh-CN" dirty="0">
                <a:solidFill>
                  <a:srgbClr val="333333"/>
                </a:solidFill>
                <a:latin typeface="微软雅黑" panose="020B0503020204020204" pitchFamily="34" charset="-122"/>
                <a:ea typeface="微软雅黑" panose="020B0503020204020204" pitchFamily="34" charset="-122"/>
              </a:rPr>
              <a:t>filename.gz</a:t>
            </a:r>
            <a:r>
              <a:rPr lang="zh-CN" altLang="en-US" dirty="0">
                <a:solidFill>
                  <a:srgbClr val="333333"/>
                </a:solidFill>
                <a:latin typeface="微软雅黑" panose="020B0503020204020204" pitchFamily="34" charset="-122"/>
                <a:ea typeface="微软雅黑" panose="020B0503020204020204" pitchFamily="34" charset="-122"/>
              </a:rPr>
              <a:t>）</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unzip</a:t>
            </a:r>
            <a:r>
              <a:rPr lang="zh-CN" altLang="en-US" dirty="0">
                <a:solidFill>
                  <a:srgbClr val="333333"/>
                </a:solidFill>
                <a:latin typeface="微软雅黑" panose="020B0503020204020204" pitchFamily="34" charset="-122"/>
                <a:ea typeface="微软雅黑" panose="020B0503020204020204" pitchFamily="34" charset="-122"/>
              </a:rPr>
              <a:t>：解压缩文件。</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unzip archive.zip</a:t>
            </a:r>
            <a:r>
              <a:rPr lang="zh-CN" altLang="en-US" dirty="0">
                <a:solidFill>
                  <a:srgbClr val="333333"/>
                </a:solidFill>
                <a:latin typeface="微软雅黑" panose="020B0503020204020204" pitchFamily="34" charset="-122"/>
                <a:ea typeface="微软雅黑" panose="020B0503020204020204" pitchFamily="34" charset="-122"/>
              </a:rPr>
              <a:t>（解压缩</a:t>
            </a:r>
            <a:r>
              <a:rPr lang="en-US" altLang="zh-CN" dirty="0">
                <a:solidFill>
                  <a:srgbClr val="333333"/>
                </a:solidFill>
                <a:latin typeface="微软雅黑" panose="020B0503020204020204" pitchFamily="34" charset="-122"/>
                <a:ea typeface="微软雅黑" panose="020B0503020204020204" pitchFamily="34" charset="-122"/>
              </a:rPr>
              <a:t>zip</a:t>
            </a:r>
            <a:r>
              <a:rPr lang="zh-CN" altLang="en-US" dirty="0">
                <a:solidFill>
                  <a:srgbClr val="333333"/>
                </a:solidFill>
                <a:latin typeface="微软雅黑" panose="020B0503020204020204" pitchFamily="34" charset="-122"/>
                <a:ea typeface="微软雅黑" panose="020B0503020204020204" pitchFamily="34" charset="-122"/>
              </a:rPr>
              <a:t>文件）</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ssh</a:t>
            </a:r>
            <a:r>
              <a:rPr lang="zh-CN" altLang="en-US" dirty="0">
                <a:solidFill>
                  <a:srgbClr val="333333"/>
                </a:solidFill>
                <a:latin typeface="微软雅黑" panose="020B0503020204020204" pitchFamily="34" charset="-122"/>
                <a:ea typeface="微软雅黑" panose="020B0503020204020204" pitchFamily="34" charset="-122"/>
              </a:rPr>
              <a:t>：安全登录远程服务器。</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ssh</a:t>
            </a:r>
            <a:r>
              <a:rPr lang="en-US" altLang="zh-CN" dirty="0">
                <a:solidFill>
                  <a:srgbClr val="333333"/>
                </a:solidFill>
                <a:latin typeface="微软雅黑" panose="020B0503020204020204" pitchFamily="34" charset="-122"/>
                <a:ea typeface="微软雅黑" panose="020B0503020204020204" pitchFamily="34" charset="-122"/>
              </a:rPr>
              <a:t> </a:t>
            </a:r>
            <a:r>
              <a:rPr lang="en-US" altLang="zh-CN" dirty="0" err="1">
                <a:solidFill>
                  <a:srgbClr val="333333"/>
                </a:solidFill>
                <a:latin typeface="微软雅黑" panose="020B0503020204020204" pitchFamily="34" charset="-122"/>
                <a:ea typeface="微软雅黑" panose="020B0503020204020204" pitchFamily="34" charset="-122"/>
              </a:rPr>
              <a:t>username@hostname</a:t>
            </a:r>
            <a:r>
              <a:rPr lang="zh-CN" altLang="en-US" dirty="0">
                <a:solidFill>
                  <a:srgbClr val="333333"/>
                </a:solidFill>
                <a:latin typeface="微软雅黑" panose="020B0503020204020204" pitchFamily="34" charset="-122"/>
                <a:ea typeface="微软雅黑" panose="020B0503020204020204" pitchFamily="34" charset="-122"/>
              </a:rPr>
              <a:t>（使用</a:t>
            </a:r>
            <a:r>
              <a:rPr lang="en-US" altLang="zh-CN" dirty="0">
                <a:solidFill>
                  <a:srgbClr val="333333"/>
                </a:solidFill>
                <a:latin typeface="微软雅黑" panose="020B0503020204020204" pitchFamily="34" charset="-122"/>
                <a:ea typeface="微软雅黑" panose="020B0503020204020204" pitchFamily="34" charset="-122"/>
              </a:rPr>
              <a:t>SSH</a:t>
            </a:r>
            <a:r>
              <a:rPr lang="zh-CN" altLang="en-US" dirty="0">
                <a:solidFill>
                  <a:srgbClr val="333333"/>
                </a:solidFill>
                <a:latin typeface="微软雅黑" panose="020B0503020204020204" pitchFamily="34" charset="-122"/>
                <a:ea typeface="微软雅黑" panose="020B0503020204020204" pitchFamily="34" charset="-122"/>
              </a:rPr>
              <a:t>登录到远程服务器）</a:t>
            </a:r>
          </a:p>
          <a:p>
            <a:endParaRPr lang="zh-CN" altLang="en-US"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scp</a:t>
            </a:r>
            <a:r>
              <a:rPr lang="zh-CN" altLang="en-US" dirty="0">
                <a:solidFill>
                  <a:srgbClr val="333333"/>
                </a:solidFill>
                <a:latin typeface="微软雅黑" panose="020B0503020204020204" pitchFamily="34" charset="-122"/>
                <a:ea typeface="微软雅黑" panose="020B0503020204020204" pitchFamily="34" charset="-122"/>
              </a:rPr>
              <a:t>：在本地主机和远程主机之间复制文件。</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scp</a:t>
            </a:r>
            <a:r>
              <a:rPr lang="en-US" altLang="zh-CN" dirty="0">
                <a:solidFill>
                  <a:srgbClr val="333333"/>
                </a:solidFill>
                <a:latin typeface="微软雅黑" panose="020B0503020204020204" pitchFamily="34" charset="-122"/>
                <a:ea typeface="微软雅黑" panose="020B0503020204020204" pitchFamily="34" charset="-122"/>
              </a:rPr>
              <a:t> file.txt </a:t>
            </a:r>
            <a:r>
              <a:rPr lang="en-US" altLang="zh-CN" dirty="0" err="1">
                <a:solidFill>
                  <a:srgbClr val="333333"/>
                </a:solidFill>
                <a:latin typeface="微软雅黑" panose="020B0503020204020204" pitchFamily="34" charset="-122"/>
                <a:ea typeface="微软雅黑" panose="020B0503020204020204" pitchFamily="34" charset="-122"/>
              </a:rPr>
              <a:t>username@hostname</a:t>
            </a:r>
            <a:r>
              <a:rPr lang="en-US" altLang="zh-CN" dirty="0">
                <a:solidFill>
                  <a:srgbClr val="333333"/>
                </a:solidFill>
                <a:latin typeface="微软雅黑" panose="020B0503020204020204" pitchFamily="34" charset="-122"/>
                <a:ea typeface="微软雅黑" panose="020B0503020204020204" pitchFamily="34" charset="-122"/>
              </a:rPr>
              <a:t>:/remote/directory/</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top</a:t>
            </a:r>
            <a:r>
              <a:rPr lang="zh-CN" altLang="en-US" dirty="0">
                <a:solidFill>
                  <a:srgbClr val="333333"/>
                </a:solidFill>
                <a:latin typeface="微软雅黑" panose="020B0503020204020204" pitchFamily="34" charset="-122"/>
                <a:ea typeface="微软雅黑" panose="020B0503020204020204" pitchFamily="34" charset="-122"/>
              </a:rPr>
              <a:t>：实时显示系统资源使用情况。</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top</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ps</a:t>
            </a:r>
            <a:r>
              <a:rPr lang="zh-CN" altLang="en-US" dirty="0">
                <a:solidFill>
                  <a:srgbClr val="333333"/>
                </a:solidFill>
                <a:latin typeface="微软雅黑" panose="020B0503020204020204" pitchFamily="34" charset="-122"/>
                <a:ea typeface="微软雅黑" panose="020B0503020204020204" pitchFamily="34" charset="-122"/>
              </a:rPr>
              <a:t>：显示当前运行的进程。</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ps</a:t>
            </a:r>
            <a:r>
              <a:rPr lang="en-US" altLang="zh-CN" dirty="0">
                <a:solidFill>
                  <a:srgbClr val="333333"/>
                </a:solidFill>
                <a:latin typeface="微软雅黑" panose="020B0503020204020204" pitchFamily="34" charset="-122"/>
                <a:ea typeface="微软雅黑" panose="020B0503020204020204" pitchFamily="34" charset="-122"/>
              </a:rPr>
              <a:t> aux</a:t>
            </a:r>
          </a:p>
        </p:txBody>
      </p:sp>
    </p:spTree>
    <p:extLst>
      <p:ext uri="{BB962C8B-B14F-4D97-AF65-F5344CB8AC3E}">
        <p14:creationId xmlns:p14="http://schemas.microsoft.com/office/powerpoint/2010/main" val="188294422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Linux</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常用命令及文件权限相关介绍</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9" name="文本框 8">
            <a:extLst>
              <a:ext uri="{FF2B5EF4-FFF2-40B4-BE49-F238E27FC236}">
                <a16:creationId xmlns:a16="http://schemas.microsoft.com/office/drawing/2014/main" id="{B33AEA5B-F8A2-AE3E-CDFE-B732687D5103}"/>
              </a:ext>
            </a:extLst>
          </p:cNvPr>
          <p:cNvSpPr txBox="1"/>
          <p:nvPr/>
        </p:nvSpPr>
        <p:spPr>
          <a:xfrm>
            <a:off x="1298824" y="700777"/>
            <a:ext cx="9898119" cy="3139321"/>
          </a:xfrm>
          <a:prstGeom prst="rect">
            <a:avLst/>
          </a:prstGeom>
          <a:noFill/>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kill</a:t>
            </a:r>
            <a:r>
              <a:rPr lang="zh-CN" altLang="en-US" dirty="0">
                <a:solidFill>
                  <a:srgbClr val="333333"/>
                </a:solidFill>
                <a:latin typeface="微软雅黑" panose="020B0503020204020204" pitchFamily="34" charset="-122"/>
                <a:ea typeface="微软雅黑" panose="020B0503020204020204" pitchFamily="34" charset="-122"/>
              </a:rPr>
              <a:t>：终止进程。</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kill </a:t>
            </a:r>
            <a:r>
              <a:rPr lang="en-US" altLang="zh-CN" dirty="0" err="1">
                <a:solidFill>
                  <a:srgbClr val="333333"/>
                </a:solidFill>
                <a:latin typeface="微软雅黑" panose="020B0503020204020204" pitchFamily="34" charset="-122"/>
                <a:ea typeface="微软雅黑" panose="020B0503020204020204" pitchFamily="34" charset="-122"/>
              </a:rPr>
              <a:t>process_id</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err="1">
                <a:solidFill>
                  <a:srgbClr val="333333"/>
                </a:solidFill>
                <a:latin typeface="微软雅黑" panose="020B0503020204020204" pitchFamily="34" charset="-122"/>
                <a:ea typeface="微软雅黑" panose="020B0503020204020204" pitchFamily="34" charset="-122"/>
              </a:rPr>
              <a:t>ifconfig</a:t>
            </a:r>
            <a:r>
              <a:rPr lang="zh-CN" altLang="en-US" dirty="0">
                <a:solidFill>
                  <a:srgbClr val="333333"/>
                </a:solidFill>
                <a:latin typeface="微软雅黑" panose="020B0503020204020204" pitchFamily="34" charset="-122"/>
                <a:ea typeface="微软雅黑" panose="020B0503020204020204" pitchFamily="34" charset="-122"/>
              </a:rPr>
              <a:t>：显示和配置网络接口信息。</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err="1">
                <a:solidFill>
                  <a:srgbClr val="333333"/>
                </a:solidFill>
                <a:latin typeface="微软雅黑" panose="020B0503020204020204" pitchFamily="34" charset="-122"/>
                <a:ea typeface="微软雅黑" panose="020B0503020204020204" pitchFamily="34" charset="-122"/>
              </a:rPr>
              <a:t>ifconfig</a:t>
            </a:r>
            <a:endParaRPr lang="en-US" altLang="zh-CN" dirty="0">
              <a:solidFill>
                <a:srgbClr val="333333"/>
              </a:solidFill>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ping</a:t>
            </a:r>
            <a:r>
              <a:rPr lang="zh-CN" altLang="en-US" dirty="0">
                <a:solidFill>
                  <a:srgbClr val="333333"/>
                </a:solidFill>
                <a:latin typeface="微软雅黑" panose="020B0503020204020204" pitchFamily="34" charset="-122"/>
                <a:ea typeface="微软雅黑" panose="020B0503020204020204" pitchFamily="34" charset="-122"/>
              </a:rPr>
              <a:t>：向另一台设备发送网络请求以测试连接。</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ping google.com</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en-US" altLang="zh-CN" dirty="0">
                <a:solidFill>
                  <a:srgbClr val="333333"/>
                </a:solidFill>
                <a:latin typeface="微软雅黑" panose="020B0503020204020204" pitchFamily="34" charset="-122"/>
                <a:ea typeface="微软雅黑" panose="020B0503020204020204" pitchFamily="34" charset="-122"/>
              </a:rPr>
              <a:t>history</a:t>
            </a:r>
            <a:r>
              <a:rPr lang="zh-CN" altLang="en-US" dirty="0">
                <a:solidFill>
                  <a:srgbClr val="333333"/>
                </a:solidFill>
                <a:latin typeface="微软雅黑" panose="020B0503020204020204" pitchFamily="34" charset="-122"/>
                <a:ea typeface="微软雅黑" panose="020B0503020204020204" pitchFamily="34" charset="-122"/>
              </a:rPr>
              <a:t>：显示输入命令的历史记录。</a:t>
            </a:r>
          </a:p>
          <a:p>
            <a:r>
              <a:rPr lang="zh-CN" altLang="en-US" dirty="0">
                <a:solidFill>
                  <a:srgbClr val="333333"/>
                </a:solidFill>
                <a:latin typeface="微软雅黑" panose="020B0503020204020204" pitchFamily="34" charset="-122"/>
                <a:ea typeface="微软雅黑" panose="020B0503020204020204" pitchFamily="34" charset="-122"/>
              </a:rPr>
              <a:t>示例：</a:t>
            </a:r>
            <a:r>
              <a:rPr lang="en-US" altLang="zh-CN" dirty="0">
                <a:solidFill>
                  <a:srgbClr val="333333"/>
                </a:solidFill>
                <a:latin typeface="微软雅黑" panose="020B0503020204020204" pitchFamily="34" charset="-122"/>
                <a:ea typeface="微软雅黑" panose="020B0503020204020204" pitchFamily="34" charset="-122"/>
              </a:rPr>
              <a:t>history</a:t>
            </a:r>
            <a:endParaRPr lang="zh-CN" altLang="en-US" dirty="0">
              <a:solidFill>
                <a:srgbClr val="33333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973663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方式登录集群示意图</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pic>
        <p:nvPicPr>
          <p:cNvPr id="2" name="图片 1">
            <a:extLst>
              <a:ext uri="{FF2B5EF4-FFF2-40B4-BE49-F238E27FC236}">
                <a16:creationId xmlns:a16="http://schemas.microsoft.com/office/drawing/2014/main" id="{34FE9511-853B-86E8-36A6-B85172A490BB}"/>
              </a:ext>
            </a:extLst>
          </p:cNvPr>
          <p:cNvPicPr>
            <a:picLocks noChangeAspect="1"/>
          </p:cNvPicPr>
          <p:nvPr/>
        </p:nvPicPr>
        <p:blipFill>
          <a:blip r:embed="rId3"/>
          <a:stretch>
            <a:fillRect/>
          </a:stretch>
        </p:blipFill>
        <p:spPr>
          <a:xfrm>
            <a:off x="2145114" y="1807991"/>
            <a:ext cx="8844220" cy="2982502"/>
          </a:xfrm>
          <a:prstGeom prst="rect">
            <a:avLst/>
          </a:prstGeom>
        </p:spPr>
      </p:pic>
      <p:sp>
        <p:nvSpPr>
          <p:cNvPr id="3" name="矩形 2">
            <a:extLst>
              <a:ext uri="{FF2B5EF4-FFF2-40B4-BE49-F238E27FC236}">
                <a16:creationId xmlns:a16="http://schemas.microsoft.com/office/drawing/2014/main" id="{78C0CB86-2E30-D743-C97B-3614ED0A0104}"/>
              </a:ext>
            </a:extLst>
          </p:cNvPr>
          <p:cNvSpPr/>
          <p:nvPr/>
        </p:nvSpPr>
        <p:spPr>
          <a:xfrm>
            <a:off x="2145114" y="715153"/>
            <a:ext cx="4155305" cy="874407"/>
          </a:xfrm>
          <a:prstGeom prst="rect">
            <a:avLst/>
          </a:prstGeom>
        </p:spPr>
        <p:txBody>
          <a:bodyPr wrap="none">
            <a:spAutoFit/>
          </a:bodyPr>
          <a:lstStyle/>
          <a:p>
            <a:pPr>
              <a:lnSpc>
                <a:spcPct val="150000"/>
              </a:lnSpc>
            </a:pPr>
            <a:r>
              <a:rPr lang="zh-CN" altLang="en-US" dirty="0">
                <a:latin typeface="微软雅黑" panose="020B0503020204020204" pitchFamily="34" charset="-122"/>
                <a:ea typeface="微软雅黑" panose="020B0503020204020204" pitchFamily="34" charset="-122"/>
              </a:rPr>
              <a:t>管理节点</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10.186.253.146</a:t>
            </a:r>
          </a:p>
          <a:p>
            <a:pPr>
              <a:lnSpc>
                <a:spcPct val="150000"/>
              </a:lnSpc>
            </a:pPr>
            <a:r>
              <a:rPr lang="zh-CN" altLang="en-US" dirty="0">
                <a:latin typeface="微软雅黑" panose="020B0503020204020204" pitchFamily="34" charset="-122"/>
                <a:ea typeface="微软雅黑" panose="020B0503020204020204" pitchFamily="34" charset="-122"/>
              </a:rPr>
              <a:t>登录节点</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地址：</a:t>
            </a:r>
            <a:r>
              <a:rPr lang="en-US" altLang="zh-CN" dirty="0">
                <a:latin typeface="微软雅黑" panose="020B0503020204020204" pitchFamily="34" charset="-122"/>
                <a:ea typeface="微软雅黑" panose="020B0503020204020204" pitchFamily="34" charset="-122"/>
              </a:rPr>
              <a:t>10.186.253.147</a:t>
            </a:r>
          </a:p>
        </p:txBody>
      </p:sp>
    </p:spTree>
    <p:extLst>
      <p:ext uri="{BB962C8B-B14F-4D97-AF65-F5344CB8AC3E}">
        <p14:creationId xmlns:p14="http://schemas.microsoft.com/office/powerpoint/2010/main" val="495927402"/>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方式登录集群提交作业步骤</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8" name="矩形 17">
            <a:extLst>
              <a:ext uri="{FF2B5EF4-FFF2-40B4-BE49-F238E27FC236}">
                <a16:creationId xmlns:a16="http://schemas.microsoft.com/office/drawing/2014/main" id="{08F05EAA-3AF1-4B40-B7B7-B5CCF38AF66F}"/>
              </a:ext>
            </a:extLst>
          </p:cNvPr>
          <p:cNvSpPr/>
          <p:nvPr/>
        </p:nvSpPr>
        <p:spPr>
          <a:xfrm>
            <a:off x="733428" y="585709"/>
            <a:ext cx="11302757" cy="5444888"/>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、向管理员申请开通个人账号，然后访问</a:t>
            </a:r>
            <a:r>
              <a:rPr lang="en-US" altLang="zh-CN" dirty="0">
                <a:latin typeface="微软雅黑" panose="020B0503020204020204" pitchFamily="34" charset="-122"/>
                <a:ea typeface="微软雅黑" panose="020B0503020204020204" pitchFamily="34" charset="-122"/>
              </a:rPr>
              <a:t>https://10.186.253.146 </a:t>
            </a:r>
            <a:r>
              <a:rPr lang="zh-CN" altLang="en-US" dirty="0">
                <a:latin typeface="微软雅黑" panose="020B0503020204020204" pitchFamily="34" charset="-122"/>
                <a:ea typeface="微软雅黑" panose="020B0503020204020204" pitchFamily="34" charset="-122"/>
              </a:rPr>
              <a:t>输入账号密码登录，修改密码，再打开</a:t>
            </a:r>
            <a:r>
              <a:rPr lang="en-US" altLang="zh-CN" dirty="0">
                <a:latin typeface="微软雅黑" panose="020B0503020204020204" pitchFamily="34" charset="-122"/>
                <a:ea typeface="微软雅黑" panose="020B0503020204020204" pitchFamily="34" charset="-122"/>
              </a:rPr>
              <a:t>shell</a:t>
            </a:r>
            <a:r>
              <a:rPr lang="zh-CN" altLang="en-US" dirty="0">
                <a:latin typeface="微软雅黑" panose="020B0503020204020204" pitchFamily="34" charset="-122"/>
                <a:ea typeface="微软雅黑" panose="020B0503020204020204" pitchFamily="34" charset="-122"/>
              </a:rPr>
              <a:t>工具（例如</a:t>
            </a:r>
            <a:r>
              <a:rPr lang="en-US" altLang="zh-CN" dirty="0" err="1">
                <a:latin typeface="微软雅黑" panose="020B0503020204020204" pitchFamily="34" charset="-122"/>
                <a:ea typeface="微软雅黑" panose="020B0503020204020204" pitchFamily="34" charset="-122"/>
              </a:rPr>
              <a:t>mobaxterm</a:t>
            </a:r>
            <a:r>
              <a:rPr lang="zh-CN" altLang="en-US" dirty="0">
                <a:latin typeface="微软雅黑" panose="020B0503020204020204" pitchFamily="34" charset="-122"/>
                <a:ea typeface="微软雅黑" panose="020B0503020204020204" pitchFamily="34" charset="-122"/>
              </a:rPr>
              <a:t>工具）</a:t>
            </a:r>
            <a:r>
              <a:rPr lang="en-US" altLang="zh-CN" dirty="0" err="1">
                <a:latin typeface="微软雅黑" panose="020B0503020204020204" pitchFamily="34" charset="-122"/>
                <a:ea typeface="微软雅黑" panose="020B0503020204020204" pitchFamily="34" charset="-122"/>
              </a:rPr>
              <a:t>ssh</a:t>
            </a:r>
            <a:r>
              <a:rPr lang="zh-CN" altLang="en-US" dirty="0">
                <a:latin typeface="微软雅黑" panose="020B0503020204020204" pitchFamily="34" charset="-122"/>
                <a:ea typeface="微软雅黑" panose="020B0503020204020204" pitchFamily="34" charset="-122"/>
              </a:rPr>
              <a:t> 用户名</a:t>
            </a:r>
            <a:r>
              <a:rPr lang="en-US" altLang="zh-CN" dirty="0">
                <a:latin typeface="微软雅黑" panose="020B0503020204020204" pitchFamily="34" charset="-122"/>
                <a:ea typeface="微软雅黑" panose="020B0503020204020204" pitchFamily="34" charset="-122"/>
              </a:rPr>
              <a:t>@10.186.253.147  </a:t>
            </a:r>
            <a:r>
              <a:rPr lang="zh-CN" altLang="en-US" dirty="0">
                <a:latin typeface="微软雅黑" panose="020B0503020204020204" pitchFamily="34" charset="-122"/>
                <a:ea typeface="微软雅黑" panose="020B0503020204020204" pitchFamily="34" charset="-122"/>
              </a:rPr>
              <a:t>进行使用</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、使用个人账号登录集群，上传计算相关的文件，将文件上传到自己的家目录下对应的数据目录。</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module avail</a:t>
            </a:r>
            <a:r>
              <a:rPr lang="zh-CN" altLang="en-US" dirty="0">
                <a:latin typeface="微软雅黑" panose="020B0503020204020204" pitchFamily="34" charset="-122"/>
                <a:ea typeface="微软雅黑" panose="020B0503020204020204" pitchFamily="34" charset="-122"/>
              </a:rPr>
              <a:t>命令查看当前平台已经安装的应用软件，确认所需要用到的软件是否已经安装，若已经安装，可</a:t>
            </a:r>
            <a:r>
              <a:rPr lang="en-US" altLang="zh-CN" dirty="0">
                <a:latin typeface="微软雅黑" panose="020B0503020204020204" pitchFamily="34" charset="-122"/>
                <a:ea typeface="微软雅黑" panose="020B0503020204020204" pitchFamily="34" charset="-122"/>
              </a:rPr>
              <a:t>module load </a:t>
            </a:r>
            <a:r>
              <a:rPr lang="zh-CN" altLang="en-US" dirty="0">
                <a:latin typeface="微软雅黑" panose="020B0503020204020204" pitchFamily="34" charset="-122"/>
                <a:ea typeface="微软雅黑" panose="020B0503020204020204" pitchFamily="34" charset="-122"/>
              </a:rPr>
              <a:t>软件名称加载对应环境变量。若软件没有安装，可以按需将软件安装到自己用户家目录下或者通过管理员账号安装到</a:t>
            </a:r>
            <a:r>
              <a:rPr lang="en-US" altLang="zh-CN" dirty="0">
                <a:latin typeface="微软雅黑" panose="020B0503020204020204" pitchFamily="34" charset="-122"/>
                <a:ea typeface="微软雅黑" panose="020B0503020204020204" pitchFamily="34" charset="-122"/>
              </a:rPr>
              <a:t>/home/software</a:t>
            </a:r>
            <a:r>
              <a:rPr lang="zh-CN" altLang="en-US" dirty="0">
                <a:latin typeface="微软雅黑" panose="020B0503020204020204" pitchFamily="34" charset="-122"/>
                <a:ea typeface="微软雅黑" panose="020B0503020204020204" pitchFamily="34" charset="-122"/>
              </a:rPr>
              <a:t>下。安装后，加载对应环境变量即可使用软件</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、在用户家目录下创建一个程序执行目录，比如运行</a:t>
            </a:r>
            <a:r>
              <a:rPr lang="en-US" altLang="zh-CN" dirty="0" err="1">
                <a:latin typeface="微软雅黑" panose="020B0503020204020204" pitchFamily="34" charset="-122"/>
                <a:ea typeface="微软雅黑" panose="020B0503020204020204" pitchFamily="34" charset="-122"/>
              </a:rPr>
              <a:t>vasp</a:t>
            </a:r>
            <a:r>
              <a:rPr lang="zh-CN" altLang="en-US" dirty="0">
                <a:latin typeface="微软雅黑" panose="020B0503020204020204" pitchFamily="34" charset="-122"/>
                <a:ea typeface="微软雅黑" panose="020B0503020204020204" pitchFamily="34" charset="-122"/>
              </a:rPr>
              <a:t>作业，可创建</a:t>
            </a:r>
            <a:r>
              <a:rPr lang="en-US" altLang="zh-CN" dirty="0" err="1">
                <a:latin typeface="微软雅黑" panose="020B0503020204020204" pitchFamily="34" charset="-122"/>
                <a:ea typeface="微软雅黑" panose="020B0503020204020204" pitchFamily="34" charset="-122"/>
              </a:rPr>
              <a:t>vasp</a:t>
            </a:r>
            <a:r>
              <a:rPr lang="zh-CN" altLang="en-US" dirty="0">
                <a:latin typeface="微软雅黑" panose="020B0503020204020204" pitchFamily="34" charset="-122"/>
                <a:ea typeface="微软雅黑" panose="020B0503020204020204" pitchFamily="34" charset="-122"/>
              </a:rPr>
              <a:t>目录，将程序执行需要用到的数据，代码等文件上传到</a:t>
            </a:r>
            <a:r>
              <a:rPr lang="en-US" altLang="zh-CN" dirty="0" err="1">
                <a:latin typeface="微软雅黑" panose="020B0503020204020204" pitchFamily="34" charset="-122"/>
                <a:ea typeface="微软雅黑" panose="020B0503020204020204" pitchFamily="34" charset="-122"/>
              </a:rPr>
              <a:t>vasp</a:t>
            </a:r>
            <a:r>
              <a:rPr lang="zh-CN" altLang="en-US" dirty="0">
                <a:latin typeface="微软雅黑" panose="020B0503020204020204" pitchFamily="34" charset="-122"/>
                <a:ea typeface="微软雅黑" panose="020B0503020204020204" pitchFamily="34" charset="-122"/>
              </a:rPr>
              <a:t>目录下，并在</a:t>
            </a:r>
            <a:r>
              <a:rPr lang="en-US" altLang="zh-CN" dirty="0" err="1">
                <a:latin typeface="微软雅黑" panose="020B0503020204020204" pitchFamily="34" charset="-122"/>
                <a:ea typeface="微软雅黑" panose="020B0503020204020204" pitchFamily="34" charset="-122"/>
              </a:rPr>
              <a:t>vasp</a:t>
            </a:r>
            <a:r>
              <a:rPr lang="zh-CN" altLang="en-US" dirty="0">
                <a:latin typeface="微软雅黑" panose="020B0503020204020204" pitchFamily="34" charset="-122"/>
                <a:ea typeface="微软雅黑" panose="020B0503020204020204" pitchFamily="34" charset="-122"/>
              </a:rPr>
              <a:t>目录下创建</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作业脚本，比如自定义命名为</a:t>
            </a:r>
            <a:r>
              <a:rPr lang="en-US" altLang="zh-CN" dirty="0" err="1">
                <a:latin typeface="微软雅黑" panose="020B0503020204020204" pitchFamily="34" charset="-122"/>
                <a:ea typeface="微软雅黑" panose="020B0503020204020204" pitchFamily="34" charset="-122"/>
              </a:rPr>
              <a:t>vasp.slurm</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。脚本具体编写方法参考后续</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脚本作业介绍。</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作业脚本模板可参考</a:t>
            </a:r>
            <a:r>
              <a:rPr lang="en-US" altLang="zh-CN" dirty="0">
                <a:latin typeface="微软雅黑" panose="020B0503020204020204" pitchFamily="34" charset="-122"/>
                <a:ea typeface="微软雅黑" panose="020B0503020204020204" pitchFamily="34" charset="-122"/>
              </a:rPr>
              <a:t>/home/</a:t>
            </a:r>
            <a:r>
              <a:rPr lang="en-US" altLang="zh-CN" dirty="0" err="1">
                <a:latin typeface="微软雅黑" panose="020B0503020204020204" pitchFamily="34" charset="-122"/>
                <a:ea typeface="微软雅黑" panose="020B0503020204020204" pitchFamily="34" charset="-122"/>
              </a:rPr>
              <a:t>sourcecode</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slurm_sample</a:t>
            </a:r>
            <a:r>
              <a:rPr lang="zh-CN" altLang="en-US" dirty="0">
                <a:latin typeface="微软雅黑" panose="020B0503020204020204" pitchFamily="34" charset="-122"/>
                <a:ea typeface="微软雅黑" panose="020B0503020204020204" pitchFamily="34" charset="-122"/>
              </a:rPr>
              <a:t>目录下文件。</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作业脚本所在目录下执行</a:t>
            </a:r>
            <a:r>
              <a:rPr lang="en-US" altLang="zh-CN" dirty="0" err="1">
                <a:latin typeface="微软雅黑" panose="020B0503020204020204" pitchFamily="34" charset="-122"/>
                <a:ea typeface="微软雅黑" panose="020B0503020204020204" pitchFamily="34" charset="-122"/>
              </a:rPr>
              <a:t>sbatch</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脚本名称 即可提交作业。如</a:t>
            </a:r>
            <a:r>
              <a:rPr lang="en-US" altLang="zh-CN" dirty="0" err="1">
                <a:latin typeface="微软雅黑" panose="020B0503020204020204" pitchFamily="34" charset="-122"/>
                <a:ea typeface="微软雅黑" panose="020B0503020204020204" pitchFamily="34" charset="-122"/>
              </a:rPr>
              <a:t>sbatch</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vasp.slurm</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、使用</a:t>
            </a:r>
            <a:r>
              <a:rPr lang="en-US" altLang="zh-CN" dirty="0" err="1">
                <a:latin typeface="微软雅黑" panose="020B0503020204020204" pitchFamily="34" charset="-122"/>
                <a:ea typeface="微软雅黑" panose="020B0503020204020204" pitchFamily="34" charset="-122"/>
              </a:rPr>
              <a:t>squeue</a:t>
            </a:r>
            <a:r>
              <a:rPr lang="zh-CN" altLang="en-US" dirty="0">
                <a:latin typeface="微软雅黑" panose="020B0503020204020204" pitchFamily="34" charset="-122"/>
                <a:ea typeface="微软雅黑" panose="020B0503020204020204" pitchFamily="34" charset="-122"/>
              </a:rPr>
              <a:t>命令查看作业运行状态，若作业运行异常，可使用</a:t>
            </a:r>
            <a:r>
              <a:rPr lang="en-US" altLang="zh-CN" dirty="0" err="1">
                <a:latin typeface="微软雅黑" panose="020B0503020204020204" pitchFamily="34" charset="-122"/>
                <a:ea typeface="微软雅黑" panose="020B0503020204020204" pitchFamily="34" charset="-122"/>
              </a:rPr>
              <a:t>scancel</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作业</a:t>
            </a:r>
            <a:r>
              <a:rPr lang="en-US" altLang="zh-CN" dirty="0">
                <a:latin typeface="微软雅黑" panose="020B0503020204020204" pitchFamily="34" charset="-122"/>
                <a:ea typeface="微软雅黑" panose="020B0503020204020204" pitchFamily="34" charset="-122"/>
              </a:rPr>
              <a:t>ID</a:t>
            </a:r>
            <a:r>
              <a:rPr lang="zh-CN" altLang="en-US" dirty="0">
                <a:latin typeface="微软雅黑" panose="020B0503020204020204" pitchFamily="34" charset="-122"/>
                <a:ea typeface="微软雅黑" panose="020B0503020204020204" pitchFamily="34" charset="-122"/>
              </a:rPr>
              <a:t>删除有问题的作业 </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、作业运行完毕，使用</a:t>
            </a:r>
            <a:r>
              <a:rPr lang="en-US" altLang="zh-CN" dirty="0">
                <a:latin typeface="微软雅黑" panose="020B0503020204020204" pitchFamily="34" charset="-122"/>
                <a:ea typeface="微软雅黑" panose="020B0503020204020204" pitchFamily="34" charset="-122"/>
              </a:rPr>
              <a:t>cat </a:t>
            </a:r>
            <a:r>
              <a:rPr lang="zh-CN" altLang="en-US" dirty="0">
                <a:latin typeface="微软雅黑" panose="020B0503020204020204" pitchFamily="34" charset="-122"/>
                <a:ea typeface="微软雅黑" panose="020B0503020204020204" pitchFamily="34" charset="-122"/>
              </a:rPr>
              <a:t>结果文件或者</a:t>
            </a:r>
            <a:r>
              <a:rPr lang="en-US" altLang="zh-CN" dirty="0">
                <a:latin typeface="微软雅黑" panose="020B0503020204020204" pitchFamily="34" charset="-122"/>
                <a:ea typeface="微软雅黑" panose="020B0503020204020204" pitchFamily="34" charset="-122"/>
              </a:rPr>
              <a:t>vi </a:t>
            </a:r>
            <a:r>
              <a:rPr lang="zh-CN" altLang="en-US" dirty="0">
                <a:latin typeface="微软雅黑" panose="020B0503020204020204" pitchFamily="34" charset="-122"/>
                <a:ea typeface="微软雅黑" panose="020B0503020204020204" pitchFamily="34" charset="-122"/>
              </a:rPr>
              <a:t>结果文件可查看计算结果。</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8473263"/>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76418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endPar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方式登录集群登录界面</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 name="矩形 1">
            <a:extLst>
              <a:ext uri="{FF2B5EF4-FFF2-40B4-BE49-F238E27FC236}">
                <a16:creationId xmlns:a16="http://schemas.microsoft.com/office/drawing/2014/main" id="{E85F6603-1258-44B3-9511-D54F3A6B9654}"/>
              </a:ext>
            </a:extLst>
          </p:cNvPr>
          <p:cNvSpPr/>
          <p:nvPr/>
        </p:nvSpPr>
        <p:spPr>
          <a:xfrm>
            <a:off x="655882" y="737718"/>
            <a:ext cx="3457998" cy="458908"/>
          </a:xfrm>
          <a:prstGeom prst="rect">
            <a:avLst/>
          </a:prstGeom>
        </p:spPr>
        <p:txBody>
          <a:bodyPr wrap="none">
            <a:spAutoFit/>
          </a:bodyPr>
          <a:lstStyle/>
          <a:p>
            <a:pPr>
              <a:lnSpc>
                <a:spcPct val="150000"/>
              </a:lnSpc>
            </a:pPr>
            <a:r>
              <a:rPr lang="en-US" altLang="zh-CN" dirty="0">
                <a:latin typeface="微软雅黑" panose="020B0503020204020204" pitchFamily="34" charset="-122"/>
                <a:ea typeface="微软雅黑" panose="020B0503020204020204" pitchFamily="34" charset="-122"/>
              </a:rPr>
              <a:t>shell</a:t>
            </a:r>
            <a:r>
              <a:rPr lang="zh-CN" altLang="en-US" dirty="0">
                <a:latin typeface="微软雅黑" panose="020B0503020204020204" pitchFamily="34" charset="-122"/>
                <a:ea typeface="微软雅黑" panose="020B0503020204020204" pitchFamily="34" charset="-122"/>
              </a:rPr>
              <a:t>登录成功后界面类似如下：</a:t>
            </a:r>
            <a:endParaRPr lang="en-US" altLang="zh-CN" dirty="0">
              <a:latin typeface="微软雅黑" panose="020B0503020204020204" pitchFamily="34" charset="-122"/>
              <a:ea typeface="微软雅黑" panose="020B0503020204020204" pitchFamily="34" charset="-122"/>
            </a:endParaRPr>
          </a:p>
        </p:txBody>
      </p:sp>
      <p:sp>
        <p:nvSpPr>
          <p:cNvPr id="5" name="Rectangle 4">
            <a:extLst>
              <a:ext uri="{FF2B5EF4-FFF2-40B4-BE49-F238E27FC236}">
                <a16:creationId xmlns:a16="http://schemas.microsoft.com/office/drawing/2014/main" id="{99C14B98-9243-DD2C-7F58-41446F9B025E}"/>
              </a:ext>
            </a:extLst>
          </p:cNvPr>
          <p:cNvSpPr txBox="1">
            <a:spLocks noChangeArrowheads="1"/>
          </p:cNvSpPr>
          <p:nvPr/>
        </p:nvSpPr>
        <p:spPr bwMode="auto">
          <a:xfrm>
            <a:off x="404501" y="9385"/>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pic>
        <p:nvPicPr>
          <p:cNvPr id="4" name="图片 3">
            <a:extLst>
              <a:ext uri="{FF2B5EF4-FFF2-40B4-BE49-F238E27FC236}">
                <a16:creationId xmlns:a16="http://schemas.microsoft.com/office/drawing/2014/main" id="{AA96742B-5B5F-9266-80C0-C8FB21E97166}"/>
              </a:ext>
            </a:extLst>
          </p:cNvPr>
          <p:cNvPicPr>
            <a:picLocks noChangeAspect="1"/>
          </p:cNvPicPr>
          <p:nvPr/>
        </p:nvPicPr>
        <p:blipFill>
          <a:blip r:embed="rId3"/>
          <a:stretch>
            <a:fillRect/>
          </a:stretch>
        </p:blipFill>
        <p:spPr>
          <a:xfrm>
            <a:off x="3033757" y="1325017"/>
            <a:ext cx="6411375" cy="4930555"/>
          </a:xfrm>
          <a:prstGeom prst="rect">
            <a:avLst/>
          </a:prstGeom>
        </p:spPr>
      </p:pic>
    </p:spTree>
    <p:extLst>
      <p:ext uri="{BB962C8B-B14F-4D97-AF65-F5344CB8AC3E}">
        <p14:creationId xmlns:p14="http://schemas.microsoft.com/office/powerpoint/2010/main" val="391988386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6101"/>
              <a:chOff x="-23476" y="-1"/>
              <a:chExt cx="12880639" cy="51610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rPr>
                  <a:t>方式登录上传文件方法</a:t>
                </a: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 name="矩形 1">
            <a:extLst>
              <a:ext uri="{FF2B5EF4-FFF2-40B4-BE49-F238E27FC236}">
                <a16:creationId xmlns:a16="http://schemas.microsoft.com/office/drawing/2014/main" id="{E85F6603-1258-44B3-9511-D54F3A6B9654}"/>
              </a:ext>
            </a:extLst>
          </p:cNvPr>
          <p:cNvSpPr/>
          <p:nvPr/>
        </p:nvSpPr>
        <p:spPr>
          <a:xfrm>
            <a:off x="655882" y="737717"/>
            <a:ext cx="10356675" cy="460382"/>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文件传输方式如下，以</a:t>
            </a:r>
            <a:r>
              <a:rPr lang="en-US" altLang="zh-CN" dirty="0" err="1">
                <a:latin typeface="微软雅黑" panose="020B0503020204020204" pitchFamily="34" charset="-122"/>
                <a:ea typeface="微软雅黑" panose="020B0503020204020204" pitchFamily="34" charset="-122"/>
              </a:rPr>
              <a:t>MobaXterm</a:t>
            </a:r>
            <a:r>
              <a:rPr lang="zh-CN" altLang="en-US" dirty="0">
                <a:latin typeface="微软雅黑" panose="020B0503020204020204" pitchFamily="34" charset="-122"/>
                <a:ea typeface="微软雅黑" panose="020B0503020204020204" pitchFamily="34" charset="-122"/>
              </a:rPr>
              <a:t>为例，点击</a:t>
            </a:r>
            <a:r>
              <a:rPr lang="en-US" altLang="zh-CN" dirty="0">
                <a:latin typeface="微软雅黑" panose="020B0503020204020204" pitchFamily="34" charset="-122"/>
                <a:ea typeface="微软雅黑" panose="020B0503020204020204" pitchFamily="34" charset="-122"/>
              </a:rPr>
              <a:t>sftp</a:t>
            </a:r>
            <a:r>
              <a:rPr lang="zh-CN" altLang="en-US" dirty="0">
                <a:latin typeface="微软雅黑" panose="020B0503020204020204" pitchFamily="34" charset="-122"/>
                <a:ea typeface="微软雅黑" panose="020B0503020204020204" pitchFamily="34" charset="-122"/>
              </a:rPr>
              <a:t>连接，输入账号密码登录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点击上传图标选择文件</a:t>
            </a:r>
          </a:p>
        </p:txBody>
      </p:sp>
      <p:sp>
        <p:nvSpPr>
          <p:cNvPr id="3" name="Rectangle 4">
            <a:extLst>
              <a:ext uri="{FF2B5EF4-FFF2-40B4-BE49-F238E27FC236}">
                <a16:creationId xmlns:a16="http://schemas.microsoft.com/office/drawing/2014/main" id="{4E284671-4D34-B208-B30A-136DC1BC0788}"/>
              </a:ext>
            </a:extLst>
          </p:cNvPr>
          <p:cNvSpPr txBox="1">
            <a:spLocks noChangeArrowheads="1"/>
          </p:cNvSpPr>
          <p:nvPr/>
        </p:nvSpPr>
        <p:spPr bwMode="auto">
          <a:xfrm>
            <a:off x="621413" y="-1"/>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pic>
        <p:nvPicPr>
          <p:cNvPr id="10" name="图片 9">
            <a:extLst>
              <a:ext uri="{FF2B5EF4-FFF2-40B4-BE49-F238E27FC236}">
                <a16:creationId xmlns:a16="http://schemas.microsoft.com/office/drawing/2014/main" id="{7714E4FF-1DFB-986B-5826-D5286AC83503}"/>
              </a:ext>
            </a:extLst>
          </p:cNvPr>
          <p:cNvPicPr>
            <a:picLocks noChangeAspect="1"/>
          </p:cNvPicPr>
          <p:nvPr/>
        </p:nvPicPr>
        <p:blipFill>
          <a:blip r:embed="rId3"/>
          <a:stretch>
            <a:fillRect/>
          </a:stretch>
        </p:blipFill>
        <p:spPr>
          <a:xfrm>
            <a:off x="6010038" y="1384090"/>
            <a:ext cx="5967844" cy="4557597"/>
          </a:xfrm>
          <a:prstGeom prst="rect">
            <a:avLst/>
          </a:prstGeom>
        </p:spPr>
      </p:pic>
      <p:pic>
        <p:nvPicPr>
          <p:cNvPr id="6" name="图片 5">
            <a:extLst>
              <a:ext uri="{FF2B5EF4-FFF2-40B4-BE49-F238E27FC236}">
                <a16:creationId xmlns:a16="http://schemas.microsoft.com/office/drawing/2014/main" id="{7C0F2D64-C1B4-54FB-F9FB-B5CD3137EE5E}"/>
              </a:ext>
            </a:extLst>
          </p:cNvPr>
          <p:cNvPicPr>
            <a:picLocks noChangeAspect="1"/>
          </p:cNvPicPr>
          <p:nvPr/>
        </p:nvPicPr>
        <p:blipFill>
          <a:blip r:embed="rId4"/>
          <a:stretch>
            <a:fillRect/>
          </a:stretch>
        </p:blipFill>
        <p:spPr>
          <a:xfrm>
            <a:off x="307942" y="1379465"/>
            <a:ext cx="5482085" cy="4377047"/>
          </a:xfrm>
          <a:prstGeom prst="rect">
            <a:avLst/>
          </a:prstGeom>
        </p:spPr>
      </p:pic>
    </p:spTree>
    <p:extLst>
      <p:ext uri="{BB962C8B-B14F-4D97-AF65-F5344CB8AC3E}">
        <p14:creationId xmlns:p14="http://schemas.microsoft.com/office/powerpoint/2010/main" val="161068419"/>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6101"/>
              <a:chOff x="-23476" y="-1"/>
              <a:chExt cx="12880639" cy="51610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5908128" y="53139"/>
            <a:ext cx="6246664" cy="499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作业脚本编写介绍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计算任务作业脚本模板</a:t>
            </a:r>
          </a:p>
        </p:txBody>
      </p:sp>
      <p:sp>
        <p:nvSpPr>
          <p:cNvPr id="16" name="对角圆角矩形 15"/>
          <p:cNvSpPr/>
          <p:nvPr/>
        </p:nvSpPr>
        <p:spPr bwMode="auto">
          <a:xfrm>
            <a:off x="870195" y="552765"/>
            <a:ext cx="11070284" cy="591106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计算任务通用脚本内容如下，所有</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计算任务均可在该模板的基础上进行相应的修改</a:t>
            </a:r>
            <a:endParaRPr lang="en-US" altLang="zh-CN" b="1"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cpu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4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p:txBody>
      </p:sp>
      <p:sp>
        <p:nvSpPr>
          <p:cNvPr id="2" name="Rectangle 4">
            <a:extLst>
              <a:ext uri="{FF2B5EF4-FFF2-40B4-BE49-F238E27FC236}">
                <a16:creationId xmlns:a16="http://schemas.microsoft.com/office/drawing/2014/main" id="{6B03AF6D-99CB-E04F-188D-0ADAAD1D75B0}"/>
              </a:ext>
            </a:extLst>
          </p:cNvPr>
          <p:cNvSpPr txBox="1">
            <a:spLocks noChangeArrowheads="1"/>
          </p:cNvSpPr>
          <p:nvPr/>
        </p:nvSpPr>
        <p:spPr bwMode="auto">
          <a:xfrm>
            <a:off x="621413" y="-1"/>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Tree>
    <p:extLst>
      <p:ext uri="{BB962C8B-B14F-4D97-AF65-F5344CB8AC3E}">
        <p14:creationId xmlns:p14="http://schemas.microsoft.com/office/powerpoint/2010/main" val="747451830"/>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6" name="对角圆角矩形 15"/>
          <p:cNvSpPr/>
          <p:nvPr/>
        </p:nvSpPr>
        <p:spPr bwMode="auto">
          <a:xfrm>
            <a:off x="655882" y="567361"/>
            <a:ext cx="10961834" cy="605298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a:latin typeface="微软雅黑" panose="020B0503020204020204" pitchFamily="34" charset="-122"/>
                <a:ea typeface="微软雅黑" panose="020B0503020204020204" pitchFamily="34" charset="-122"/>
              </a:rPr>
              <a:t>echo "process will start at : "</a:t>
            </a:r>
          </a:p>
          <a:p>
            <a:pPr>
              <a:lnSpc>
                <a:spcPct val="150000"/>
              </a:lnSpc>
            </a:pPr>
            <a:r>
              <a:rPr lang="en-US" altLang="zh-CN" dirty="0">
                <a:latin typeface="微软雅黑" panose="020B0503020204020204" pitchFamily="34" charset="-122"/>
                <a:ea typeface="微软雅黑" panose="020B0503020204020204" pitchFamily="34" charset="-122"/>
              </a:rPr>
              <a:t>date</a:t>
            </a:r>
          </a:p>
          <a:p>
            <a:pPr>
              <a:lnSpc>
                <a:spcPct val="150000"/>
              </a:lnSpc>
            </a:pPr>
            <a:r>
              <a:rPr lang="en-US" altLang="zh-CN" dirty="0">
                <a:latin typeface="微软雅黑" panose="020B0503020204020204" pitchFamily="34" charset="-122"/>
                <a:ea typeface="微软雅黑" panose="020B0503020204020204" pitchFamily="34" charset="-122"/>
              </a:rPr>
              <a:t>echo "++++++++++++++++++++++++++++++++++++++++"</a:t>
            </a: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p>
          <a:p>
            <a:pPr>
              <a:lnSpc>
                <a:spcPct val="150000"/>
              </a:lnSpc>
            </a:pPr>
            <a:r>
              <a:rPr lang="en-US" altLang="zh-CN" dirty="0">
                <a:latin typeface="微软雅黑" panose="020B0503020204020204" pitchFamily="34" charset="-122"/>
                <a:ea typeface="微软雅黑" panose="020B0503020204020204" pitchFamily="34" charset="-122"/>
              </a:rPr>
              <a:t>module load XXX</a:t>
            </a:r>
          </a:p>
          <a:p>
            <a:pPr>
              <a:lnSpc>
                <a:spcPct val="150000"/>
              </a:lnSpc>
            </a:pPr>
            <a:r>
              <a:rPr lang="en-US" altLang="zh-CN" dirty="0">
                <a:latin typeface="微软雅黑" panose="020B0503020204020204" pitchFamily="34" charset="-122"/>
                <a:ea typeface="微软雅黑" panose="020B0503020204020204" pitchFamily="34" charset="-122"/>
              </a:rPr>
              <a:t>Program </a:t>
            </a:r>
            <a:r>
              <a:rPr lang="en-US" altLang="zh-CN" dirty="0" err="1">
                <a:latin typeface="微软雅黑" panose="020B0503020204020204" pitchFamily="34" charset="-122"/>
                <a:ea typeface="微软雅黑" panose="020B0503020204020204" pitchFamily="34" charset="-122"/>
              </a:rPr>
              <a:t>excute</a:t>
            </a:r>
            <a:r>
              <a:rPr lang="en-US" altLang="zh-CN" dirty="0">
                <a:latin typeface="微软雅黑" panose="020B0503020204020204" pitchFamily="34" charset="-122"/>
                <a:ea typeface="微软雅黑" panose="020B0503020204020204" pitchFamily="34" charset="-122"/>
              </a:rPr>
              <a:t> Command   </a:t>
            </a:r>
            <a:r>
              <a:rPr lang="en-US" altLang="zh-CN" dirty="0">
                <a:solidFill>
                  <a:srgbClr val="FF0000"/>
                </a:solidFill>
                <a:latin typeface="微软雅黑" panose="020B0503020204020204" pitchFamily="34" charset="-122"/>
                <a:ea typeface="微软雅黑" panose="020B0503020204020204" pitchFamily="34" charset="-122"/>
              </a:rPr>
              <a:t>          ##CPU</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p>
          <a:p>
            <a:pPr>
              <a:lnSpc>
                <a:spcPct val="150000"/>
              </a:lnSpc>
            </a:pPr>
            <a:r>
              <a:rPr lang="en-US" altLang="zh-CN" dirty="0">
                <a:latin typeface="微软雅黑" panose="020B0503020204020204" pitchFamily="34" charset="-122"/>
                <a:ea typeface="微软雅黑" panose="020B0503020204020204" pitchFamily="34" charset="-122"/>
              </a:rPr>
              <a:t>echo "++++++++++++++++++++++++++++++++++++++++"</a:t>
            </a:r>
          </a:p>
          <a:p>
            <a:pPr>
              <a:lnSpc>
                <a:spcPct val="150000"/>
              </a:lnSpc>
            </a:pPr>
            <a:r>
              <a:rPr lang="en-US" altLang="zh-CN" dirty="0">
                <a:latin typeface="微软雅黑" panose="020B0503020204020204" pitchFamily="34" charset="-122"/>
                <a:ea typeface="微软雅黑" panose="020B0503020204020204" pitchFamily="34" charset="-122"/>
              </a:rPr>
              <a:t>echo "process will sleep 30s"</a:t>
            </a:r>
          </a:p>
          <a:p>
            <a:pPr>
              <a:lnSpc>
                <a:spcPct val="150000"/>
              </a:lnSpc>
            </a:pPr>
            <a:r>
              <a:rPr lang="en-US" altLang="zh-CN" dirty="0">
                <a:latin typeface="微软雅黑" panose="020B0503020204020204" pitchFamily="34" charset="-122"/>
                <a:ea typeface="微软雅黑" panose="020B0503020204020204" pitchFamily="34" charset="-122"/>
              </a:rPr>
              <a:t>sleep 30</a:t>
            </a:r>
          </a:p>
          <a:p>
            <a:pPr>
              <a:lnSpc>
                <a:spcPct val="150000"/>
              </a:lnSpc>
            </a:pPr>
            <a:r>
              <a:rPr lang="en-US" altLang="zh-CN" dirty="0">
                <a:latin typeface="微软雅黑" panose="020B0503020204020204" pitchFamily="34" charset="-122"/>
                <a:ea typeface="微软雅黑" panose="020B0503020204020204" pitchFamily="34" charset="-122"/>
              </a:rPr>
              <a:t>echo "process end at : "</a:t>
            </a:r>
          </a:p>
          <a:p>
            <a:pPr>
              <a:lnSpc>
                <a:spcPct val="150000"/>
              </a:lnSpc>
            </a:pPr>
            <a:r>
              <a:rPr lang="en-US" altLang="zh-CN" dirty="0">
                <a:latin typeface="微软雅黑" panose="020B0503020204020204" pitchFamily="34" charset="-122"/>
                <a:ea typeface="微软雅黑" panose="020B0503020204020204" pitchFamily="34" charset="-122"/>
              </a:rPr>
              <a:t>date</a:t>
            </a:r>
          </a:p>
          <a:p>
            <a:pPr>
              <a:lnSpc>
                <a:spcPct val="150000"/>
              </a:lnSpc>
            </a:pPr>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
        <p:nvSpPr>
          <p:cNvPr id="3" name="Rectangle 4">
            <a:extLst>
              <a:ext uri="{FF2B5EF4-FFF2-40B4-BE49-F238E27FC236}">
                <a16:creationId xmlns:a16="http://schemas.microsoft.com/office/drawing/2014/main" id="{ED65FF94-1698-8418-04D1-B1B57CE60D52}"/>
              </a:ext>
            </a:extLst>
          </p:cNvPr>
          <p:cNvSpPr txBox="1">
            <a:spLocks noChangeArrowheads="1"/>
          </p:cNvSpPr>
          <p:nvPr/>
        </p:nvSpPr>
        <p:spPr bwMode="auto">
          <a:xfrm>
            <a:off x="5944918" y="53139"/>
            <a:ext cx="6246664" cy="499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作业脚本编写介绍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计算任务作业脚本模板</a:t>
            </a:r>
          </a:p>
        </p:txBody>
      </p:sp>
    </p:spTree>
    <p:extLst>
      <p:ext uri="{BB962C8B-B14F-4D97-AF65-F5344CB8AC3E}">
        <p14:creationId xmlns:p14="http://schemas.microsoft.com/office/powerpoint/2010/main" val="229099885"/>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6101"/>
              <a:chOff x="-23476" y="-1"/>
              <a:chExt cx="12880639" cy="516101"/>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5908128" y="53139"/>
            <a:ext cx="6246664" cy="499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作业脚本编写介绍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申请大内存作业脚本模板</a:t>
            </a:r>
          </a:p>
        </p:txBody>
      </p:sp>
      <p:sp>
        <p:nvSpPr>
          <p:cNvPr id="16" name="对角圆角矩形 15"/>
          <p:cNvSpPr/>
          <p:nvPr/>
        </p:nvSpPr>
        <p:spPr bwMode="auto">
          <a:xfrm>
            <a:off x="870195" y="552765"/>
            <a:ext cx="11070284" cy="591106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计算任务通用脚本内容如下，所有</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计算任务均可在该模板的基础上进行相应的修改</a:t>
            </a:r>
            <a:endParaRPr lang="en-US" altLang="zh-CN" b="1"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cpu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4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--mem=100G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申请每节点</a:t>
            </a:r>
            <a:r>
              <a:rPr lang="en-US" altLang="zh-CN" dirty="0">
                <a:solidFill>
                  <a:srgbClr val="FF0000"/>
                </a:solidFill>
                <a:latin typeface="微软雅黑" panose="020B0503020204020204" pitchFamily="34" charset="-122"/>
                <a:ea typeface="微软雅黑" panose="020B0503020204020204" pitchFamily="34" charset="-122"/>
              </a:rPr>
              <a:t>100GB</a:t>
            </a:r>
            <a:r>
              <a:rPr lang="zh-CN" altLang="en-US" dirty="0">
                <a:solidFill>
                  <a:srgbClr val="FF0000"/>
                </a:solidFill>
                <a:latin typeface="微软雅黑" panose="020B0503020204020204" pitchFamily="34" charset="-122"/>
                <a:ea typeface="微软雅黑" panose="020B0503020204020204" pitchFamily="34" charset="-122"/>
              </a:rPr>
              <a:t>的物理内存空间，不加该参数作业默认分配内存较小</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p:txBody>
      </p:sp>
      <p:sp>
        <p:nvSpPr>
          <p:cNvPr id="2" name="Rectangle 4">
            <a:extLst>
              <a:ext uri="{FF2B5EF4-FFF2-40B4-BE49-F238E27FC236}">
                <a16:creationId xmlns:a16="http://schemas.microsoft.com/office/drawing/2014/main" id="{6B03AF6D-99CB-E04F-188D-0ADAAD1D75B0}"/>
              </a:ext>
            </a:extLst>
          </p:cNvPr>
          <p:cNvSpPr txBox="1">
            <a:spLocks noChangeArrowheads="1"/>
          </p:cNvSpPr>
          <p:nvPr/>
        </p:nvSpPr>
        <p:spPr bwMode="auto">
          <a:xfrm>
            <a:off x="621413" y="-1"/>
            <a:ext cx="4517398" cy="493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Tree>
    <p:extLst>
      <p:ext uri="{BB962C8B-B14F-4D97-AF65-F5344CB8AC3E}">
        <p14:creationId xmlns:p14="http://schemas.microsoft.com/office/powerpoint/2010/main" val="1713512899"/>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6" name="对角圆角矩形 15"/>
          <p:cNvSpPr/>
          <p:nvPr/>
        </p:nvSpPr>
        <p:spPr bwMode="auto">
          <a:xfrm>
            <a:off x="655882" y="567361"/>
            <a:ext cx="10961834" cy="605298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a:latin typeface="微软雅黑" panose="020B0503020204020204" pitchFamily="34" charset="-122"/>
                <a:ea typeface="微软雅黑" panose="020B0503020204020204" pitchFamily="34" charset="-122"/>
              </a:rPr>
              <a:t>echo "process will start at : "</a:t>
            </a:r>
          </a:p>
          <a:p>
            <a:pPr>
              <a:lnSpc>
                <a:spcPct val="150000"/>
              </a:lnSpc>
            </a:pPr>
            <a:r>
              <a:rPr lang="en-US" altLang="zh-CN" dirty="0">
                <a:latin typeface="微软雅黑" panose="020B0503020204020204" pitchFamily="34" charset="-122"/>
                <a:ea typeface="微软雅黑" panose="020B0503020204020204" pitchFamily="34" charset="-122"/>
              </a:rPr>
              <a:t>date</a:t>
            </a:r>
          </a:p>
          <a:p>
            <a:pPr>
              <a:lnSpc>
                <a:spcPct val="150000"/>
              </a:lnSpc>
            </a:pPr>
            <a:r>
              <a:rPr lang="en-US" altLang="zh-CN" dirty="0">
                <a:latin typeface="微软雅黑" panose="020B0503020204020204" pitchFamily="34" charset="-122"/>
                <a:ea typeface="微软雅黑" panose="020B0503020204020204" pitchFamily="34" charset="-122"/>
              </a:rPr>
              <a:t>echo "++++++++++++++++++++++++++++++++++++++++"</a:t>
            </a: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p>
          <a:p>
            <a:pPr>
              <a:lnSpc>
                <a:spcPct val="150000"/>
              </a:lnSpc>
            </a:pPr>
            <a:r>
              <a:rPr lang="en-US" altLang="zh-CN" dirty="0">
                <a:latin typeface="微软雅黑" panose="020B0503020204020204" pitchFamily="34" charset="-122"/>
                <a:ea typeface="微软雅黑" panose="020B0503020204020204" pitchFamily="34" charset="-122"/>
              </a:rPr>
              <a:t>module load XXX</a:t>
            </a:r>
          </a:p>
          <a:p>
            <a:pPr>
              <a:lnSpc>
                <a:spcPct val="150000"/>
              </a:lnSpc>
            </a:pPr>
            <a:r>
              <a:rPr lang="en-US" altLang="zh-CN" dirty="0">
                <a:latin typeface="微软雅黑" panose="020B0503020204020204" pitchFamily="34" charset="-122"/>
                <a:ea typeface="微软雅黑" panose="020B0503020204020204" pitchFamily="34" charset="-122"/>
              </a:rPr>
              <a:t>Program </a:t>
            </a:r>
            <a:r>
              <a:rPr lang="en-US" altLang="zh-CN" dirty="0" err="1">
                <a:latin typeface="微软雅黑" panose="020B0503020204020204" pitchFamily="34" charset="-122"/>
                <a:ea typeface="微软雅黑" panose="020B0503020204020204" pitchFamily="34" charset="-122"/>
              </a:rPr>
              <a:t>excute</a:t>
            </a:r>
            <a:r>
              <a:rPr lang="en-US" altLang="zh-CN" dirty="0">
                <a:latin typeface="微软雅黑" panose="020B0503020204020204" pitchFamily="34" charset="-122"/>
                <a:ea typeface="微软雅黑" panose="020B0503020204020204" pitchFamily="34" charset="-122"/>
              </a:rPr>
              <a:t> Command   </a:t>
            </a:r>
            <a:r>
              <a:rPr lang="en-US" altLang="zh-CN" dirty="0">
                <a:solidFill>
                  <a:srgbClr val="FF0000"/>
                </a:solidFill>
                <a:latin typeface="微软雅黑" panose="020B0503020204020204" pitchFamily="34" charset="-122"/>
                <a:ea typeface="微软雅黑" panose="020B0503020204020204" pitchFamily="34" charset="-122"/>
              </a:rPr>
              <a:t>          ##CPU</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p>
          <a:p>
            <a:pPr>
              <a:lnSpc>
                <a:spcPct val="150000"/>
              </a:lnSpc>
            </a:pPr>
            <a:r>
              <a:rPr lang="en-US" altLang="zh-CN" dirty="0">
                <a:latin typeface="微软雅黑" panose="020B0503020204020204" pitchFamily="34" charset="-122"/>
                <a:ea typeface="微软雅黑" panose="020B0503020204020204" pitchFamily="34" charset="-122"/>
              </a:rPr>
              <a:t>echo "++++++++++++++++++++++++++++++++++++++++"</a:t>
            </a:r>
          </a:p>
          <a:p>
            <a:pPr>
              <a:lnSpc>
                <a:spcPct val="150000"/>
              </a:lnSpc>
            </a:pPr>
            <a:r>
              <a:rPr lang="en-US" altLang="zh-CN" dirty="0">
                <a:latin typeface="微软雅黑" panose="020B0503020204020204" pitchFamily="34" charset="-122"/>
                <a:ea typeface="微软雅黑" panose="020B0503020204020204" pitchFamily="34" charset="-122"/>
              </a:rPr>
              <a:t>echo "process will sleep 30s"</a:t>
            </a:r>
          </a:p>
          <a:p>
            <a:pPr>
              <a:lnSpc>
                <a:spcPct val="150000"/>
              </a:lnSpc>
            </a:pPr>
            <a:r>
              <a:rPr lang="en-US" altLang="zh-CN" dirty="0">
                <a:latin typeface="微软雅黑" panose="020B0503020204020204" pitchFamily="34" charset="-122"/>
                <a:ea typeface="微软雅黑" panose="020B0503020204020204" pitchFamily="34" charset="-122"/>
              </a:rPr>
              <a:t>sleep 30</a:t>
            </a:r>
          </a:p>
          <a:p>
            <a:pPr>
              <a:lnSpc>
                <a:spcPct val="150000"/>
              </a:lnSpc>
            </a:pPr>
            <a:r>
              <a:rPr lang="en-US" altLang="zh-CN" dirty="0">
                <a:latin typeface="微软雅黑" panose="020B0503020204020204" pitchFamily="34" charset="-122"/>
                <a:ea typeface="微软雅黑" panose="020B0503020204020204" pitchFamily="34" charset="-122"/>
              </a:rPr>
              <a:t>echo "process end at : "</a:t>
            </a:r>
          </a:p>
          <a:p>
            <a:pPr>
              <a:lnSpc>
                <a:spcPct val="150000"/>
              </a:lnSpc>
            </a:pPr>
            <a:r>
              <a:rPr lang="en-US" altLang="zh-CN" dirty="0">
                <a:latin typeface="微软雅黑" panose="020B0503020204020204" pitchFamily="34" charset="-122"/>
                <a:ea typeface="微软雅黑" panose="020B0503020204020204" pitchFamily="34" charset="-122"/>
              </a:rPr>
              <a:t>date</a:t>
            </a:r>
          </a:p>
          <a:p>
            <a:pPr>
              <a:lnSpc>
                <a:spcPct val="150000"/>
              </a:lnSpc>
            </a:pPr>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
        <p:nvSpPr>
          <p:cNvPr id="3" name="Rectangle 4">
            <a:extLst>
              <a:ext uri="{FF2B5EF4-FFF2-40B4-BE49-F238E27FC236}">
                <a16:creationId xmlns:a16="http://schemas.microsoft.com/office/drawing/2014/main" id="{ED65FF94-1698-8418-04D1-B1B57CE60D52}"/>
              </a:ext>
            </a:extLst>
          </p:cNvPr>
          <p:cNvSpPr txBox="1">
            <a:spLocks noChangeArrowheads="1"/>
          </p:cNvSpPr>
          <p:nvPr/>
        </p:nvSpPr>
        <p:spPr bwMode="auto">
          <a:xfrm>
            <a:off x="5944918" y="53139"/>
            <a:ext cx="6246664" cy="499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作业脚本编写介绍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申请大内存作业脚本模板</a:t>
            </a:r>
          </a:p>
        </p:txBody>
      </p:sp>
    </p:spTree>
    <p:extLst>
      <p:ext uri="{BB962C8B-B14F-4D97-AF65-F5344CB8AC3E}">
        <p14:creationId xmlns:p14="http://schemas.microsoft.com/office/powerpoint/2010/main" val="3512803927"/>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96000" y="29860"/>
            <a:ext cx="5937569"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通用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计算任务作业脚本模板</a:t>
            </a:r>
          </a:p>
        </p:txBody>
      </p:sp>
      <p:sp>
        <p:nvSpPr>
          <p:cNvPr id="16" name="对角圆角矩形 15"/>
          <p:cNvSpPr/>
          <p:nvPr/>
        </p:nvSpPr>
        <p:spPr bwMode="auto">
          <a:xfrm>
            <a:off x="870195" y="552765"/>
            <a:ext cx="11163374" cy="584572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b="1" dirty="0">
                <a:latin typeface="微软雅黑" panose="020B0503020204020204" pitchFamily="34" charset="-122"/>
                <a:ea typeface="微软雅黑" panose="020B0503020204020204" pitchFamily="34" charset="-122"/>
              </a:rPr>
              <a:t>GPU</a:t>
            </a:r>
            <a:r>
              <a:rPr lang="zh-CN" altLang="en-US" b="1" dirty="0">
                <a:latin typeface="微软雅黑" panose="020B0503020204020204" pitchFamily="34" charset="-122"/>
                <a:ea typeface="微软雅黑" panose="020B0503020204020204" pitchFamily="34" charset="-122"/>
              </a:rPr>
              <a:t>计算任务通用脚本内容如下，所有</a:t>
            </a:r>
            <a:r>
              <a:rPr lang="en-US" altLang="zh-CN" b="1" dirty="0">
                <a:latin typeface="微软雅黑" panose="020B0503020204020204" pitchFamily="34" charset="-122"/>
                <a:ea typeface="微软雅黑" panose="020B0503020204020204" pitchFamily="34" charset="-122"/>
              </a:rPr>
              <a:t>GPU</a:t>
            </a:r>
            <a:r>
              <a:rPr lang="zh-CN" altLang="en-US" b="1" dirty="0">
                <a:latin typeface="微软雅黑" panose="020B0503020204020204" pitchFamily="34" charset="-122"/>
                <a:ea typeface="微软雅黑" panose="020B0503020204020204" pitchFamily="34" charset="-122"/>
              </a:rPr>
              <a:t>计算任务均可在该模板的基础上进行相应的修改</a:t>
            </a:r>
            <a:endParaRPr lang="en-US" altLang="zh-CN" b="1"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gpu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8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gres</a:t>
            </a:r>
            <a:r>
              <a:rPr lang="en-US" altLang="zh-CN" dirty="0">
                <a:latin typeface="微软雅黑" panose="020B0503020204020204" pitchFamily="34" charset="-122"/>
                <a:ea typeface="微软雅黑" panose="020B0503020204020204" pitchFamily="34" charset="-122"/>
              </a:rPr>
              <a:t>=gpu:1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作业申请的每个节点</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卡数量</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407208097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10037" y="29860"/>
            <a:ext cx="6023532"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通用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计算任务作业脚本模板</a:t>
            </a:r>
          </a:p>
        </p:txBody>
      </p:sp>
      <p:sp>
        <p:nvSpPr>
          <p:cNvPr id="16" name="对角圆角矩形 15"/>
          <p:cNvSpPr/>
          <p:nvPr/>
        </p:nvSpPr>
        <p:spPr bwMode="auto">
          <a:xfrm>
            <a:off x="870195" y="552765"/>
            <a:ext cx="11163374" cy="584572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##GPU</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3373766746"/>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798757" y="940526"/>
            <a:ext cx="11070284" cy="4536814"/>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的脚本差异在于</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脚本多了</a:t>
            </a:r>
            <a:r>
              <a:rPr lang="en-US" altLang="zh-CN" dirty="0">
                <a:solidFill>
                  <a:srgbClr val="FF0000"/>
                </a:solidFill>
                <a:latin typeface="微软雅黑" panose="020B0503020204020204" pitchFamily="34" charset="-122"/>
                <a:ea typeface="微软雅黑" panose="020B0503020204020204" pitchFamily="34" charset="-122"/>
              </a:rPr>
              <a:t>#SBATCH --</a:t>
            </a:r>
            <a:r>
              <a:rPr lang="en-US" altLang="zh-CN" dirty="0" err="1">
                <a:solidFill>
                  <a:srgbClr val="FF0000"/>
                </a:solidFill>
                <a:latin typeface="微软雅黑" panose="020B0503020204020204" pitchFamily="34" charset="-122"/>
                <a:ea typeface="微软雅黑" panose="020B0503020204020204" pitchFamily="34" charset="-122"/>
              </a:rPr>
              <a:t>gpus</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和</a:t>
            </a:r>
            <a:r>
              <a:rPr lang="en-US" altLang="zh-CN" dirty="0">
                <a:solidFill>
                  <a:srgbClr val="FF0000"/>
                </a:solidFill>
                <a:latin typeface="微软雅黑" panose="020B0503020204020204" pitchFamily="34" charset="-122"/>
                <a:ea typeface="微软雅黑" panose="020B0503020204020204" pitchFamily="34" charset="-122"/>
              </a:rPr>
              <a:t> echo $SLURM_GPUS</a:t>
            </a:r>
          </a:p>
          <a:p>
            <a:pPr>
              <a:lnSpc>
                <a:spcPct val="150000"/>
              </a:lnSpc>
            </a:pPr>
            <a:r>
              <a:rPr lang="zh-CN" altLang="en-US" dirty="0">
                <a:latin typeface="微软雅黑" panose="020B0503020204020204" pitchFamily="34" charset="-122"/>
                <a:ea typeface="微软雅黑" panose="020B0503020204020204" pitchFamily="34" charset="-122"/>
              </a:rPr>
              <a:t>两行参数，因此该部分内容以</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脚本模板为例子做详细说明</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指定脚本使用</a:t>
            </a:r>
            <a:r>
              <a:rPr lang="en-US" altLang="zh-CN" dirty="0">
                <a:latin typeface="微软雅黑" panose="020B0503020204020204" pitchFamily="34" charset="-122"/>
                <a:ea typeface="微软雅黑" panose="020B0503020204020204" pitchFamily="34" charset="-122"/>
              </a:rPr>
              <a:t>/bin/</a:t>
            </a:r>
            <a:r>
              <a:rPr lang="en-US" altLang="zh-CN" dirty="0" err="1">
                <a:latin typeface="微软雅黑" panose="020B0503020204020204" pitchFamily="34" charset="-122"/>
                <a:ea typeface="微软雅黑" panose="020B0503020204020204" pitchFamily="34" charset="-122"/>
              </a:rPr>
              <a:t>sh</a:t>
            </a:r>
            <a:r>
              <a:rPr lang="zh-CN" altLang="en-US" dirty="0">
                <a:latin typeface="微软雅黑" panose="020B0503020204020204" pitchFamily="34" charset="-122"/>
                <a:ea typeface="微软雅黑" panose="020B0503020204020204" pitchFamily="34" charset="-122"/>
              </a:rPr>
              <a:t>来解释执行</a:t>
            </a:r>
          </a:p>
          <a:p>
            <a:pPr>
              <a:lnSpc>
                <a:spcPct val="150000"/>
              </a:lnSpc>
            </a:pPr>
            <a:r>
              <a:rPr lang="en-US" altLang="zh-CN" dirty="0">
                <a:latin typeface="微软雅黑" panose="020B0503020204020204" pitchFamily="34" charset="-122"/>
                <a:ea typeface="微软雅黑" panose="020B0503020204020204" pitchFamily="34" charset="-122"/>
              </a:rPr>
              <a:t>#!/bin/</a:t>
            </a:r>
            <a:r>
              <a:rPr lang="en-US" altLang="zh-CN" dirty="0" err="1">
                <a:latin typeface="微软雅黑" panose="020B0503020204020204" pitchFamily="34" charset="-122"/>
                <a:ea typeface="微软雅黑" panose="020B0503020204020204" pitchFamily="34" charset="-122"/>
              </a:rPr>
              <a:t>sh</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指定作业名</a:t>
            </a:r>
          </a:p>
          <a:p>
            <a:pPr>
              <a:lnSpc>
                <a:spcPct val="150000"/>
              </a:lnSpc>
            </a:pPr>
            <a:r>
              <a:rPr lang="en-US" altLang="zh-CN" dirty="0">
                <a:latin typeface="微软雅黑" panose="020B0503020204020204" pitchFamily="34" charset="-122"/>
                <a:ea typeface="微软雅黑" panose="020B0503020204020204" pitchFamily="34" charset="-122"/>
              </a:rPr>
              <a:t>#SBATCH --job-name=</a:t>
            </a:r>
            <a:r>
              <a:rPr lang="en-US" altLang="zh-CN" dirty="0" err="1">
                <a:latin typeface="微软雅黑" panose="020B0503020204020204" pitchFamily="34" charset="-122"/>
                <a:ea typeface="微软雅黑" panose="020B0503020204020204" pitchFamily="34" charset="-122"/>
              </a:rPr>
              <a:t>gpu</a:t>
            </a:r>
            <a:r>
              <a:rPr lang="en-US" altLang="zh-CN" dirty="0">
                <a:latin typeface="微软雅黑" panose="020B0503020204020204" pitchFamily="34" charset="-122"/>
                <a:ea typeface="微软雅黑" panose="020B0503020204020204" pitchFamily="34" charset="-122"/>
              </a:rPr>
              <a:t>-test    ##</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--job-name </a:t>
            </a:r>
            <a:r>
              <a:rPr lang="zh-CN" altLang="en-US" dirty="0">
                <a:latin typeface="微软雅黑" panose="020B0503020204020204" pitchFamily="34" charset="-122"/>
                <a:ea typeface="微软雅黑" panose="020B0503020204020204" pitchFamily="34" charset="-122"/>
              </a:rPr>
              <a:t>参数指定作业名为</a:t>
            </a:r>
            <a:r>
              <a:rPr lang="en-US" altLang="zh-CN" dirty="0" err="1">
                <a:latin typeface="微软雅黑" panose="020B0503020204020204" pitchFamily="34" charset="-122"/>
                <a:ea typeface="微软雅黑" panose="020B0503020204020204" pitchFamily="34" charset="-122"/>
              </a:rPr>
              <a:t>gpu</a:t>
            </a:r>
            <a:r>
              <a:rPr lang="en-US" altLang="zh-CN" dirty="0">
                <a:latin typeface="微软雅黑" panose="020B0503020204020204" pitchFamily="34" charset="-122"/>
                <a:ea typeface="微软雅黑" panose="020B0503020204020204" pitchFamily="34" charset="-122"/>
              </a:rPr>
              <a:t>-test</a:t>
            </a:r>
            <a:r>
              <a:rPr lang="zh-CN" altLang="en-US" dirty="0">
                <a:latin typeface="微软雅黑" panose="020B0503020204020204" pitchFamily="34" charset="-122"/>
                <a:ea typeface="微软雅黑" panose="020B0503020204020204" pitchFamily="34" charset="-122"/>
              </a:rPr>
              <a:t>，若不写该参数，则作业名默认跟</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作业脚本的名称一致</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指定所要执行的分区名称</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#SBATCH --partition=</a:t>
            </a:r>
            <a:r>
              <a:rPr lang="en-US" altLang="zh-CN" dirty="0" err="1">
                <a:latin typeface="微软雅黑" panose="020B0503020204020204" pitchFamily="34" charset="-122"/>
                <a:ea typeface="微软雅黑" panose="020B0503020204020204" pitchFamily="34" charset="-122"/>
              </a:rPr>
              <a:t>cpuPartition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--partition</a:t>
            </a:r>
            <a:r>
              <a:rPr lang="zh-CN" altLang="en-US" dirty="0">
                <a:latin typeface="微软雅黑" panose="020B0503020204020204" pitchFamily="34" charset="-122"/>
                <a:ea typeface="微软雅黑" panose="020B0503020204020204" pitchFamily="34" charset="-122"/>
              </a:rPr>
              <a:t>参数指定作业所选择的分区，</a:t>
            </a:r>
            <a:r>
              <a:rPr lang="zh-CN" altLang="en-US" dirty="0">
                <a:solidFill>
                  <a:srgbClr val="FF0000"/>
                </a:solidFill>
                <a:latin typeface="微软雅黑" panose="020B0503020204020204" pitchFamily="34" charset="-122"/>
                <a:ea typeface="微软雅黑" panose="020B0503020204020204" pitchFamily="34" charset="-122"/>
              </a:rPr>
              <a:t>该参数必须要写，需要咨询管理员确认你可使用的分区名称</a:t>
            </a:r>
          </a:p>
        </p:txBody>
      </p:sp>
    </p:spTree>
    <p:extLst>
      <p:ext uri="{BB962C8B-B14F-4D97-AF65-F5344CB8AC3E}">
        <p14:creationId xmlns:p14="http://schemas.microsoft.com/office/powerpoint/2010/main" val="780347732"/>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870195" y="1053924"/>
            <a:ext cx="11070284" cy="478001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指定使用的节点数以及每个节点使用的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核心数</a:t>
            </a:r>
          </a:p>
          <a:p>
            <a:pPr>
              <a:lnSpc>
                <a:spcPct val="150000"/>
              </a:lnSpc>
            </a:pPr>
            <a:r>
              <a:rPr lang="en-US" altLang="zh-CN" dirty="0">
                <a:latin typeface="微软雅黑" panose="020B0503020204020204" pitchFamily="34" charset="-122"/>
                <a:ea typeface="微软雅黑" panose="020B0503020204020204" pitchFamily="34" charset="-122"/>
              </a:rPr>
              <a:t>#SBATCH --nodes=1  ##</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--nodes</a:t>
            </a:r>
            <a:r>
              <a:rPr lang="zh-CN" altLang="en-US" dirty="0">
                <a:latin typeface="微软雅黑" panose="020B0503020204020204" pitchFamily="34" charset="-122"/>
                <a:ea typeface="微软雅黑" panose="020B0503020204020204" pitchFamily="34" charset="-122"/>
              </a:rPr>
              <a:t>参数指定作业要申请的节点数，</a:t>
            </a:r>
            <a:r>
              <a:rPr lang="en-US" altLang="zh-CN" dirty="0">
                <a:latin typeface="微软雅黑" panose="020B0503020204020204" pitchFamily="34" charset="-122"/>
                <a:ea typeface="微软雅黑" panose="020B0503020204020204" pitchFamily="34" charset="-122"/>
              </a:rPr>
              <a:t>--nodes=1</a:t>
            </a:r>
            <a:r>
              <a:rPr lang="zh-CN" altLang="en-US" dirty="0">
                <a:latin typeface="微软雅黑" panose="020B0503020204020204" pitchFamily="34" charset="-122"/>
                <a:ea typeface="微软雅黑" panose="020B0503020204020204" pitchFamily="34" charset="-122"/>
              </a:rPr>
              <a:t>表示随机启动</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个节点每个节点</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核心。若不写该参数，则作业默认只使用一个来运行。</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-per-node=8  ##</a:t>
            </a:r>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zh-CN" altLang="en-US" dirty="0">
                <a:latin typeface="微软雅黑" panose="020B0503020204020204" pitchFamily="34" charset="-122"/>
                <a:ea typeface="微软雅黑" panose="020B0503020204020204" pitchFamily="34" charset="-122"/>
              </a:rPr>
              <a:t>参数指定作业要申请的每个节点所使用的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核心数，</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-per-node=8</a:t>
            </a:r>
            <a:r>
              <a:rPr lang="zh-CN" altLang="en-US" dirty="0">
                <a:latin typeface="微软雅黑" panose="020B0503020204020204" pitchFamily="34" charset="-122"/>
                <a:ea typeface="微软雅黑" panose="020B0503020204020204" pitchFamily="34" charset="-122"/>
              </a:rPr>
              <a:t>表示随机在每个节点内使用</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核心资源。若不写该参数，则作业在每个节点内默认只使用一个</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核心资源。</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注意：</a:t>
            </a:r>
            <a:r>
              <a:rPr lang="en-US" altLang="zh-CN" dirty="0">
                <a:solidFill>
                  <a:srgbClr val="FF0000"/>
                </a:solidFill>
                <a:latin typeface="微软雅黑" panose="020B0503020204020204" pitchFamily="34" charset="-122"/>
                <a:ea typeface="微软雅黑" panose="020B0503020204020204" pitchFamily="34" charset="-122"/>
              </a:rPr>
              <a:t> #SBATCH --nodes=1 </a:t>
            </a:r>
            <a:r>
              <a:rPr lang="zh-CN" altLang="en-US" dirty="0">
                <a:solidFill>
                  <a:srgbClr val="FF0000"/>
                </a:solidFill>
                <a:latin typeface="微软雅黑" panose="020B0503020204020204" pitchFamily="34" charset="-122"/>
                <a:ea typeface="微软雅黑" panose="020B0503020204020204" pitchFamily="34" charset="-122"/>
              </a:rPr>
              <a:t>和</a:t>
            </a:r>
            <a:r>
              <a:rPr lang="en-US" altLang="zh-CN" dirty="0">
                <a:solidFill>
                  <a:srgbClr val="FF0000"/>
                </a:solidFill>
                <a:latin typeface="微软雅黑" panose="020B0503020204020204" pitchFamily="34" charset="-122"/>
                <a:ea typeface="微软雅黑" panose="020B0503020204020204" pitchFamily="34" charset="-122"/>
              </a:rPr>
              <a:t>#SBATCH --</a:t>
            </a:r>
            <a:r>
              <a:rPr lang="en-US" altLang="zh-CN" dirty="0" err="1">
                <a:solidFill>
                  <a:srgbClr val="FF0000"/>
                </a:solidFill>
                <a:latin typeface="微软雅黑" panose="020B0503020204020204" pitchFamily="34" charset="-122"/>
                <a:ea typeface="微软雅黑" panose="020B0503020204020204" pitchFamily="34" charset="-122"/>
              </a:rPr>
              <a:t>ntasks</a:t>
            </a:r>
            <a:r>
              <a:rPr lang="en-US" altLang="zh-CN" dirty="0">
                <a:solidFill>
                  <a:srgbClr val="FF0000"/>
                </a:solidFill>
                <a:latin typeface="微软雅黑" panose="020B0503020204020204" pitchFamily="34" charset="-122"/>
                <a:ea typeface="微软雅黑" panose="020B0503020204020204" pitchFamily="34" charset="-122"/>
              </a:rPr>
              <a:t>-per-node=8 </a:t>
            </a:r>
            <a:r>
              <a:rPr lang="zh-CN" altLang="en-US" dirty="0">
                <a:solidFill>
                  <a:srgbClr val="FF0000"/>
                </a:solidFill>
                <a:latin typeface="微软雅黑" panose="020B0503020204020204" pitchFamily="34" charset="-122"/>
                <a:ea typeface="微软雅黑" panose="020B0503020204020204" pitchFamily="34" charset="-122"/>
              </a:rPr>
              <a:t>两个参数需要配合使用。如果是单核串行作业，则</a:t>
            </a:r>
            <a:r>
              <a:rPr lang="en-US" altLang="zh-CN" dirty="0">
                <a:solidFill>
                  <a:srgbClr val="FF0000"/>
                </a:solidFill>
                <a:latin typeface="微软雅黑" panose="020B0503020204020204" pitchFamily="34" charset="-122"/>
                <a:ea typeface="微软雅黑" panose="020B0503020204020204" pitchFamily="34" charset="-122"/>
              </a:rPr>
              <a:t>nodes</a:t>
            </a:r>
            <a:r>
              <a:rPr lang="zh-CN" altLang="en-US" dirty="0">
                <a:solidFill>
                  <a:srgbClr val="FF0000"/>
                </a:solidFill>
                <a:latin typeface="微软雅黑" panose="020B0503020204020204" pitchFamily="34" charset="-122"/>
                <a:ea typeface="微软雅黑" panose="020B0503020204020204" pitchFamily="34" charset="-122"/>
              </a:rPr>
              <a:t>参数和</a:t>
            </a:r>
            <a:r>
              <a:rPr lang="en-US" altLang="zh-CN" dirty="0" err="1">
                <a:solidFill>
                  <a:srgbClr val="FF0000"/>
                </a:solidFill>
                <a:latin typeface="微软雅黑" panose="020B0503020204020204" pitchFamily="34" charset="-122"/>
                <a:ea typeface="微软雅黑" panose="020B0503020204020204" pitchFamily="34" charset="-122"/>
              </a:rPr>
              <a:t>ntasks</a:t>
            </a:r>
            <a:r>
              <a:rPr lang="en-US" altLang="zh-CN" dirty="0">
                <a:solidFill>
                  <a:srgbClr val="FF0000"/>
                </a:solidFill>
                <a:latin typeface="微软雅黑" panose="020B0503020204020204" pitchFamily="34" charset="-122"/>
                <a:ea typeface="微软雅黑" panose="020B0503020204020204" pitchFamily="34" charset="-122"/>
              </a:rPr>
              <a:t>-per-node</a:t>
            </a:r>
            <a:r>
              <a:rPr lang="zh-CN" altLang="en-US" dirty="0">
                <a:solidFill>
                  <a:srgbClr val="FF0000"/>
                </a:solidFill>
                <a:latin typeface="微软雅黑" panose="020B0503020204020204" pitchFamily="34" charset="-122"/>
                <a:ea typeface="微软雅黑" panose="020B0503020204020204" pitchFamily="34" charset="-122"/>
              </a:rPr>
              <a:t>参数均写</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。如果是单节点多线程作业，则</a:t>
            </a:r>
            <a:r>
              <a:rPr lang="en-US" altLang="zh-CN" dirty="0">
                <a:solidFill>
                  <a:srgbClr val="FF0000"/>
                </a:solidFill>
                <a:latin typeface="微软雅黑" panose="020B0503020204020204" pitchFamily="34" charset="-122"/>
                <a:ea typeface="微软雅黑" panose="020B0503020204020204" pitchFamily="34" charset="-122"/>
              </a:rPr>
              <a:t>nodes</a:t>
            </a:r>
            <a:r>
              <a:rPr lang="zh-CN" altLang="en-US" dirty="0">
                <a:solidFill>
                  <a:srgbClr val="FF0000"/>
                </a:solidFill>
                <a:latin typeface="微软雅黑" panose="020B0503020204020204" pitchFamily="34" charset="-122"/>
                <a:ea typeface="微软雅黑" panose="020B0503020204020204" pitchFamily="34" charset="-122"/>
              </a:rPr>
              <a:t>参数写</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ntasks</a:t>
            </a:r>
            <a:r>
              <a:rPr lang="en-US" altLang="zh-CN" dirty="0">
                <a:solidFill>
                  <a:srgbClr val="FF0000"/>
                </a:solidFill>
                <a:latin typeface="微软雅黑" panose="020B0503020204020204" pitchFamily="34" charset="-122"/>
                <a:ea typeface="微软雅黑" panose="020B0503020204020204" pitchFamily="34" charset="-122"/>
              </a:rPr>
              <a:t>-per-node</a:t>
            </a:r>
            <a:r>
              <a:rPr lang="zh-CN" altLang="en-US" dirty="0">
                <a:solidFill>
                  <a:srgbClr val="FF0000"/>
                </a:solidFill>
                <a:latin typeface="微软雅黑" panose="020B0503020204020204" pitchFamily="34" charset="-122"/>
                <a:ea typeface="微软雅黑" panose="020B0503020204020204" pitchFamily="34" charset="-122"/>
              </a:rPr>
              <a:t>参数写线程数。如果是多节点多核并行作业，则</a:t>
            </a:r>
            <a:r>
              <a:rPr lang="en-US" altLang="zh-CN" dirty="0">
                <a:solidFill>
                  <a:srgbClr val="FF0000"/>
                </a:solidFill>
                <a:latin typeface="微软雅黑" panose="020B0503020204020204" pitchFamily="34" charset="-122"/>
                <a:ea typeface="微软雅黑" panose="020B0503020204020204" pitchFamily="34" charset="-122"/>
              </a:rPr>
              <a:t>nodes</a:t>
            </a:r>
            <a:r>
              <a:rPr lang="zh-CN" altLang="en-US" dirty="0">
                <a:solidFill>
                  <a:srgbClr val="FF0000"/>
                </a:solidFill>
                <a:latin typeface="微软雅黑" panose="020B0503020204020204" pitchFamily="34" charset="-122"/>
                <a:ea typeface="微软雅黑" panose="020B0503020204020204" pitchFamily="34" charset="-122"/>
              </a:rPr>
              <a:t>参数和</a:t>
            </a:r>
            <a:r>
              <a:rPr lang="en-US" altLang="zh-CN" dirty="0" err="1">
                <a:solidFill>
                  <a:srgbClr val="FF0000"/>
                </a:solidFill>
                <a:latin typeface="微软雅黑" panose="020B0503020204020204" pitchFamily="34" charset="-122"/>
                <a:ea typeface="微软雅黑" panose="020B0503020204020204" pitchFamily="34" charset="-122"/>
              </a:rPr>
              <a:t>ntasks</a:t>
            </a:r>
            <a:r>
              <a:rPr lang="en-US" altLang="zh-CN" dirty="0">
                <a:solidFill>
                  <a:srgbClr val="FF0000"/>
                </a:solidFill>
                <a:latin typeface="微软雅黑" panose="020B0503020204020204" pitchFamily="34" charset="-122"/>
                <a:ea typeface="微软雅黑" panose="020B0503020204020204" pitchFamily="34" charset="-122"/>
              </a:rPr>
              <a:t>-per-node</a:t>
            </a:r>
            <a:r>
              <a:rPr lang="zh-CN" altLang="en-US" dirty="0">
                <a:solidFill>
                  <a:srgbClr val="FF0000"/>
                </a:solidFill>
                <a:latin typeface="微软雅黑" panose="020B0503020204020204" pitchFamily="34" charset="-122"/>
                <a:ea typeface="微软雅黑" panose="020B0503020204020204" pitchFamily="34" charset="-122"/>
              </a:rPr>
              <a:t>根据实际情况修改，两个参数的值应都大于等于</a:t>
            </a: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636668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1009253" y="1151363"/>
            <a:ext cx="11070284" cy="461172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指定作业在使用的</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卡总数</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gres</a:t>
            </a:r>
            <a:r>
              <a:rPr lang="en-US" altLang="zh-CN" dirty="0">
                <a:latin typeface="微软雅黑" panose="020B0503020204020204" pitchFamily="34" charset="-122"/>
                <a:ea typeface="微软雅黑" panose="020B0503020204020204" pitchFamily="34" charset="-122"/>
              </a:rPr>
              <a:t>=gpu:1  ##</a:t>
            </a:r>
            <a:r>
              <a:rPr lang="zh-CN" altLang="en-US" dirty="0">
                <a:latin typeface="微软雅黑" panose="020B0503020204020204" pitchFamily="34" charset="-122"/>
                <a:ea typeface="微软雅黑" panose="020B0503020204020204" pitchFamily="34" charset="-122"/>
              </a:rPr>
              <a:t>作业在每个节点申请的</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卡数，</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作业该参数必须要写，</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作业该参数不能写。</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指定作业的标准输出文件</a:t>
            </a:r>
          </a:p>
          <a:p>
            <a:pPr>
              <a:lnSpc>
                <a:spcPct val="150000"/>
              </a:lnSpc>
            </a:pPr>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作业运行后会生成两个标准文件，一个是</a:t>
            </a:r>
            <a:r>
              <a:rPr lang="en-US" altLang="zh-CN" dirty="0" err="1">
                <a:latin typeface="微软雅黑" panose="020B0503020204020204" pitchFamily="34" charset="-122"/>
                <a:ea typeface="微软雅黑" panose="020B0503020204020204" pitchFamily="34" charset="-122"/>
              </a:rPr>
              <a:t>JobID.err</a:t>
            </a:r>
            <a:r>
              <a:rPr lang="zh-CN" altLang="en-US" dirty="0">
                <a:latin typeface="微软雅黑" panose="020B0503020204020204" pitchFamily="34" charset="-122"/>
                <a:ea typeface="微软雅黑" panose="020B0503020204020204" pitchFamily="34" charset="-122"/>
              </a:rPr>
              <a:t>文件，一个是</a:t>
            </a:r>
            <a:r>
              <a:rPr lang="en-US" altLang="zh-CN" dirty="0" err="1">
                <a:latin typeface="微软雅黑" panose="020B0503020204020204" pitchFamily="34" charset="-122"/>
                <a:ea typeface="微软雅黑" panose="020B0503020204020204" pitchFamily="34" charset="-122"/>
              </a:rPr>
              <a:t>JobID.out</a:t>
            </a:r>
            <a:r>
              <a:rPr lang="zh-CN" altLang="en-US" dirty="0">
                <a:latin typeface="微软雅黑" panose="020B0503020204020204" pitchFamily="34" charset="-122"/>
                <a:ea typeface="微软雅黑" panose="020B0503020204020204" pitchFamily="34" charset="-122"/>
              </a:rPr>
              <a:t>文件。其中</a:t>
            </a:r>
            <a:r>
              <a:rPr lang="en-US" altLang="zh-CN" dirty="0" err="1">
                <a:latin typeface="微软雅黑" panose="020B0503020204020204" pitchFamily="34" charset="-122"/>
                <a:ea typeface="微软雅黑" panose="020B0503020204020204" pitchFamily="34" charset="-122"/>
              </a:rPr>
              <a:t>JobID.err</a:t>
            </a:r>
            <a:r>
              <a:rPr lang="zh-CN" altLang="en-US" dirty="0">
                <a:latin typeface="微软雅黑" panose="020B0503020204020204" pitchFamily="34" charset="-122"/>
                <a:ea typeface="微软雅黑" panose="020B0503020204020204" pitchFamily="34" charset="-122"/>
              </a:rPr>
              <a:t>为错误输出文件，通常情况下，若作业执行失败，报错信息会存储在</a:t>
            </a:r>
            <a:r>
              <a:rPr lang="en-US" altLang="zh-CN" dirty="0" err="1">
                <a:latin typeface="微软雅黑" panose="020B0503020204020204" pitchFamily="34" charset="-122"/>
                <a:ea typeface="微软雅黑" panose="020B0503020204020204" pitchFamily="34" charset="-122"/>
              </a:rPr>
              <a:t>JobID.err</a:t>
            </a:r>
            <a:r>
              <a:rPr lang="zh-CN" altLang="en-US" dirty="0">
                <a:latin typeface="微软雅黑" panose="020B0503020204020204" pitchFamily="34" charset="-122"/>
                <a:ea typeface="微软雅黑" panose="020B0503020204020204" pitchFamily="34" charset="-122"/>
              </a:rPr>
              <a:t>文件内；该文件常用于判断作业失败的原因。其中</a:t>
            </a:r>
            <a:r>
              <a:rPr lang="en-US" altLang="zh-CN" dirty="0" err="1">
                <a:latin typeface="微软雅黑" panose="020B0503020204020204" pitchFamily="34" charset="-122"/>
                <a:ea typeface="微软雅黑" panose="020B0503020204020204" pitchFamily="34" charset="-122"/>
              </a:rPr>
              <a:t>JobID.out</a:t>
            </a:r>
            <a:r>
              <a:rPr lang="zh-CN" altLang="en-US" dirty="0">
                <a:latin typeface="微软雅黑" panose="020B0503020204020204" pitchFamily="34" charset="-122"/>
                <a:ea typeface="微软雅黑" panose="020B0503020204020204" pitchFamily="34" charset="-122"/>
              </a:rPr>
              <a:t>文件为标准输出文件，若脚本内程序执行命令语句没有将结果重定向到指定文件内，则程序执行的结果的标准输出会存储在该文件内。</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18542827"/>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858528" y="1077563"/>
            <a:ext cx="10564438" cy="4362420"/>
          </a:xfrm>
          <a:prstGeom prst="round2DiagRect">
            <a:avLst>
              <a:gd name="adj1" fmla="val 8932"/>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计算</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作业所需要用到的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总核心数以及</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总卡数</a:t>
            </a:r>
          </a:p>
          <a:p>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这部分内容无需修改，是</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自动根据前面两页的资源申请数自动计算出来的</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总核心数以及</a:t>
            </a:r>
            <a:r>
              <a:rPr lang="en-US" altLang="zh-CN" dirty="0">
                <a:latin typeface="微软雅黑" panose="020B0503020204020204" pitchFamily="34" charset="-122"/>
                <a:ea typeface="微软雅黑" panose="020B0503020204020204" pitchFamily="34" charset="-122"/>
              </a:rPr>
              <a:t>GPU</a:t>
            </a:r>
            <a:r>
              <a:rPr lang="zh-CN" altLang="en-US" dirty="0">
                <a:latin typeface="微软雅黑" panose="020B0503020204020204" pitchFamily="34" charset="-122"/>
                <a:ea typeface="微软雅黑" panose="020B0503020204020204" pitchFamily="34" charset="-122"/>
              </a:rPr>
              <a:t>总卡数</a:t>
            </a:r>
          </a:p>
        </p:txBody>
      </p:sp>
    </p:spTree>
    <p:extLst>
      <p:ext uri="{BB962C8B-B14F-4D97-AF65-F5344CB8AC3E}">
        <p14:creationId xmlns:p14="http://schemas.microsoft.com/office/powerpoint/2010/main" val="43232515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1042113" y="775198"/>
            <a:ext cx="11070284" cy="5507282"/>
          </a:xfrm>
          <a:prstGeom prst="round2DiagRect">
            <a:avLst>
              <a:gd name="adj1" fmla="val 8932"/>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记录作业开始运行的时间</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设置程序执行所需要用到的软件环境变量</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这部分根据实际情况修改，需要添加在作业脚本里面程序执行所需要用到的所有软件环境变量。</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#setting environment for intel2020</a:t>
            </a: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intel-2020</a:t>
            </a:r>
          </a:p>
        </p:txBody>
      </p:sp>
    </p:spTree>
    <p:extLst>
      <p:ext uri="{BB962C8B-B14F-4D97-AF65-F5344CB8AC3E}">
        <p14:creationId xmlns:p14="http://schemas.microsoft.com/office/powerpoint/2010/main" val="14697569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作业参数说明</a:t>
            </a:r>
          </a:p>
        </p:txBody>
      </p:sp>
      <p:sp>
        <p:nvSpPr>
          <p:cNvPr id="16" name="对角圆角矩形 15"/>
          <p:cNvSpPr/>
          <p:nvPr/>
        </p:nvSpPr>
        <p:spPr bwMode="auto">
          <a:xfrm>
            <a:off x="936633" y="1006725"/>
            <a:ext cx="10937504" cy="4899243"/>
          </a:xfrm>
          <a:prstGeom prst="round2DiagRect">
            <a:avLst>
              <a:gd name="adj1" fmla="val 5618"/>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记录作业开始运行的时间</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mpirun</a:t>
            </a:r>
            <a:r>
              <a:rPr lang="en-US" altLang="zh-CN" dirty="0">
                <a:solidFill>
                  <a:srgbClr val="FF0000"/>
                </a:solidFill>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machinefile</a:t>
            </a:r>
            <a:r>
              <a:rPr lang="en-US" altLang="zh-CN" dirty="0">
                <a:solidFill>
                  <a:srgbClr val="FF0000"/>
                </a:solidFill>
                <a:latin typeface="微软雅黑" panose="020B0503020204020204" pitchFamily="34" charset="-122"/>
                <a:ea typeface="微软雅黑" panose="020B0503020204020204" pitchFamily="34" charset="-122"/>
              </a:rPr>
              <a:t> $CURDIR/</a:t>
            </a:r>
            <a:r>
              <a:rPr lang="en-US" altLang="zh-CN" dirty="0" err="1">
                <a:solidFill>
                  <a:srgbClr val="FF0000"/>
                </a:solidFill>
                <a:latin typeface="微软雅黑" panose="020B0503020204020204" pitchFamily="34" charset="-122"/>
                <a:ea typeface="微软雅黑" panose="020B0503020204020204" pitchFamily="34" charset="-122"/>
              </a:rPr>
              <a:t>nodelist</a:t>
            </a:r>
            <a:r>
              <a:rPr lang="en-US" altLang="zh-CN" dirty="0">
                <a:solidFill>
                  <a:srgbClr val="FF0000"/>
                </a:solidFill>
                <a:latin typeface="微软雅黑" panose="020B0503020204020204" pitchFamily="34" charset="-122"/>
                <a:ea typeface="微软雅黑" panose="020B0503020204020204" pitchFamily="34" charset="-122"/>
              </a:rPr>
              <a:t>.$SLURM_JOB_ID -np $SLURM_NPROCS  hostname    ##GPU</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记录作业运行结束时间，该部分内容无需修改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删除</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软件自动生成的临时文件，该部分内容无需修改</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4137449936"/>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10711" y="-1"/>
            <a:ext cx="12224135" cy="6870181"/>
            <a:chOff x="-11738" y="-1"/>
            <a:chExt cx="12891935"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442" y="-1"/>
              <a:ext cx="12880639" cy="519980"/>
              <a:chOff x="-442" y="-1"/>
              <a:chExt cx="12880639" cy="519980"/>
            </a:xfrm>
          </p:grpSpPr>
          <p:sp>
            <p:nvSpPr>
              <p:cNvPr id="61" name="矩形 60"/>
              <p:cNvSpPr/>
              <p:nvPr/>
            </p:nvSpPr>
            <p:spPr>
              <a:xfrm>
                <a:off x="-442" y="-1"/>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5412912"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独占节点作业脚本模板</a:t>
            </a:r>
          </a:p>
        </p:txBody>
      </p:sp>
      <p:sp>
        <p:nvSpPr>
          <p:cNvPr id="16" name="对角圆角矩形 15"/>
          <p:cNvSpPr/>
          <p:nvPr/>
        </p:nvSpPr>
        <p:spPr bwMode="auto">
          <a:xfrm>
            <a:off x="870195" y="552765"/>
            <a:ext cx="11163374" cy="5567517"/>
          </a:xfrm>
          <a:prstGeom prst="round2DiagRect">
            <a:avLst>
              <a:gd name="adj1" fmla="val 8846"/>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b="1" dirty="0">
                <a:latin typeface="微软雅黑" panose="020B0503020204020204" pitchFamily="34" charset="-122"/>
                <a:ea typeface="微软雅黑" panose="020B0503020204020204" pitchFamily="34" charset="-122"/>
              </a:rPr>
              <a:t>独占作业脚本内容如下，可在该模板的基础上进行相应的修改</a:t>
            </a:r>
            <a:endParaRPr lang="en-US" altLang="zh-CN" b="1"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a:solidFill>
                  <a:srgbClr val="FF0000"/>
                </a:solidFill>
                <a:latin typeface="微软雅黑" panose="020B0503020204020204" pitchFamily="34" charset="-122"/>
                <a:ea typeface="微软雅黑" panose="020B0503020204020204" pitchFamily="34" charset="-122"/>
              </a:rPr>
              <a:t>exclusive-test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8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--exclusive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作业独占节点，不受</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ntasks</a:t>
            </a:r>
            <a:r>
              <a:rPr lang="en-US" altLang="zh-CN" dirty="0">
                <a:solidFill>
                  <a:srgbClr val="FF0000"/>
                </a:solidFill>
                <a:latin typeface="微软雅黑" panose="020B0503020204020204" pitchFamily="34" charset="-122"/>
                <a:ea typeface="微软雅黑" panose="020B0503020204020204" pitchFamily="34" charset="-122"/>
              </a:rPr>
              <a:t>-per-node</a:t>
            </a:r>
            <a:r>
              <a:rPr lang="zh-CN" altLang="en-US" dirty="0">
                <a:solidFill>
                  <a:srgbClr val="FF0000"/>
                </a:solidFill>
                <a:latin typeface="微软雅黑" panose="020B0503020204020204" pitchFamily="34" charset="-122"/>
                <a:ea typeface="微软雅黑" panose="020B0503020204020204" pitchFamily="34" charset="-122"/>
              </a:rPr>
              <a:t>参数影响</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1692176451"/>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独占节点作业脚本模板</a:t>
            </a:r>
          </a:p>
        </p:txBody>
      </p:sp>
      <p:sp>
        <p:nvSpPr>
          <p:cNvPr id="16" name="对角圆角矩形 15"/>
          <p:cNvSpPr/>
          <p:nvPr/>
        </p:nvSpPr>
        <p:spPr bwMode="auto">
          <a:xfrm>
            <a:off x="870195" y="552765"/>
            <a:ext cx="11163374" cy="5567517"/>
          </a:xfrm>
          <a:prstGeom prst="round2DiagRect">
            <a:avLst>
              <a:gd name="adj1" fmla="val 9159"/>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1178717153"/>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指定节点作业脚本模板</a:t>
            </a:r>
          </a:p>
        </p:txBody>
      </p:sp>
      <p:sp>
        <p:nvSpPr>
          <p:cNvPr id="16" name="对角圆角矩形 15"/>
          <p:cNvSpPr/>
          <p:nvPr/>
        </p:nvSpPr>
        <p:spPr bwMode="auto">
          <a:xfrm>
            <a:off x="870195" y="697522"/>
            <a:ext cx="11163374" cy="5353203"/>
          </a:xfrm>
          <a:prstGeom prst="round2DiagRect">
            <a:avLst>
              <a:gd name="adj1" fmla="val 8622"/>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latin typeface="微软雅黑" panose="020B0503020204020204" pitchFamily="34" charset="-122"/>
                <a:ea typeface="微软雅黑" panose="020B0503020204020204" pitchFamily="34" charset="-122"/>
              </a:rPr>
              <a:t>指定节点作业脚本内容如下，可在该模板的基础上进行相应的修改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nodelist</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8                               ##</a:t>
            </a:r>
            <a:r>
              <a:rPr lang="zh-CN" altLang="en-US" dirty="0">
                <a:solidFill>
                  <a:srgbClr val="FF0000"/>
                </a:solidFill>
                <a:latin typeface="微软雅黑" panose="020B0503020204020204" pitchFamily="34" charset="-122"/>
                <a:ea typeface="微软雅黑" panose="020B0503020204020204" pitchFamily="34" charset="-122"/>
              </a:rPr>
              <a:t>作业申请的总进程数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=cu01,cu02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作业指定节点</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3200808282"/>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指定节点作业脚本模板</a:t>
            </a:r>
          </a:p>
        </p:txBody>
      </p:sp>
      <p:sp>
        <p:nvSpPr>
          <p:cNvPr id="16" name="对角圆角矩形 15"/>
          <p:cNvSpPr/>
          <p:nvPr/>
        </p:nvSpPr>
        <p:spPr bwMode="auto">
          <a:xfrm>
            <a:off x="870195" y="552766"/>
            <a:ext cx="11163374" cy="5683797"/>
          </a:xfrm>
          <a:prstGeom prst="round2DiagRect">
            <a:avLst>
              <a:gd name="adj1" fmla="val 9127"/>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所需要使用到的软件程序执行的命令格式，务必根据实际情况修改。软件跑串行、单节点多和并行、多节点多核并行、多线程请参考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2611917742"/>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7"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数组作业脚本模板</a:t>
            </a:r>
          </a:p>
        </p:txBody>
      </p:sp>
      <p:sp>
        <p:nvSpPr>
          <p:cNvPr id="16" name="对角圆角矩形 15"/>
          <p:cNvSpPr/>
          <p:nvPr/>
        </p:nvSpPr>
        <p:spPr bwMode="auto">
          <a:xfrm>
            <a:off x="1084509" y="640045"/>
            <a:ext cx="9802159" cy="5454503"/>
          </a:xfrm>
          <a:prstGeom prst="round2DiagRect">
            <a:avLst>
              <a:gd name="adj1" fmla="val 7047"/>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latin typeface="微软雅黑" panose="020B0503020204020204" pitchFamily="34" charset="-122"/>
                <a:ea typeface="微软雅黑" panose="020B0503020204020204" pitchFamily="34" charset="-122"/>
              </a:rPr>
              <a:t>数组作业脚本内容如下，可在该模板的基础上进行相应的修改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a:solidFill>
                  <a:srgbClr val="FF0000"/>
                </a:solidFill>
                <a:latin typeface="微软雅黑" panose="020B0503020204020204" pitchFamily="34" charset="-122"/>
                <a:ea typeface="微软雅黑" panose="020B0503020204020204" pitchFamily="34" charset="-122"/>
              </a:rPr>
              <a:t>array-test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8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--array  1-10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数组范围</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3641317090"/>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数组作业脚本模板</a:t>
            </a:r>
          </a:p>
        </p:txBody>
      </p:sp>
      <p:sp>
        <p:nvSpPr>
          <p:cNvPr id="16" name="对角圆角矩形 15"/>
          <p:cNvSpPr/>
          <p:nvPr/>
        </p:nvSpPr>
        <p:spPr bwMode="auto">
          <a:xfrm>
            <a:off x="870195" y="552765"/>
            <a:ext cx="11017005" cy="5454503"/>
          </a:xfrm>
          <a:prstGeom prst="round2DiagRect">
            <a:avLst>
              <a:gd name="adj1" fmla="val 8622"/>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2425893940"/>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依赖作业脚本模板</a:t>
            </a:r>
          </a:p>
        </p:txBody>
      </p:sp>
      <p:sp>
        <p:nvSpPr>
          <p:cNvPr id="16" name="对角圆角矩形 15"/>
          <p:cNvSpPr/>
          <p:nvPr/>
        </p:nvSpPr>
        <p:spPr bwMode="auto">
          <a:xfrm>
            <a:off x="870195" y="700777"/>
            <a:ext cx="10951691" cy="5419505"/>
          </a:xfrm>
          <a:prstGeom prst="round2DiagRect">
            <a:avLst>
              <a:gd name="adj1" fmla="val 7952"/>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latin typeface="微软雅黑" panose="020B0503020204020204" pitchFamily="34" charset="-122"/>
                <a:ea typeface="微软雅黑" panose="020B0503020204020204" pitchFamily="34" charset="-122"/>
              </a:rPr>
              <a:t>依赖作业脚本内容如下，可在该模板的基础上进行相应的修改</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a:solidFill>
                  <a:srgbClr val="FF0000"/>
                </a:solidFill>
                <a:latin typeface="微软雅黑" panose="020B0503020204020204" pitchFamily="34" charset="-122"/>
                <a:ea typeface="微软雅黑" panose="020B0503020204020204" pitchFamily="34" charset="-122"/>
              </a:rPr>
              <a:t>array-test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8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--dependency=</a:t>
            </a:r>
            <a:r>
              <a:rPr lang="en-US" altLang="zh-CN" dirty="0" err="1">
                <a:latin typeface="微软雅黑" panose="020B0503020204020204" pitchFamily="34" charset="-122"/>
                <a:ea typeface="微软雅黑" panose="020B0503020204020204" pitchFamily="34" charset="-122"/>
              </a:rPr>
              <a:t>afterok:job_id</a:t>
            </a:r>
            <a:r>
              <a:rPr lang="en-US" altLang="zh-CN" dirty="0">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当指定</a:t>
            </a:r>
            <a:r>
              <a:rPr lang="en-US" altLang="zh-CN" dirty="0">
                <a:solidFill>
                  <a:srgbClr val="FF0000"/>
                </a:solidFill>
                <a:latin typeface="微软雅黑" panose="020B0503020204020204" pitchFamily="34" charset="-122"/>
                <a:ea typeface="微软雅黑" panose="020B0503020204020204" pitchFamily="34" charset="-122"/>
              </a:rPr>
              <a:t>ID</a:t>
            </a:r>
            <a:r>
              <a:rPr lang="zh-CN" altLang="en-US" dirty="0">
                <a:solidFill>
                  <a:srgbClr val="FF0000"/>
                </a:solidFill>
                <a:latin typeface="微软雅黑" panose="020B0503020204020204" pitchFamily="34" charset="-122"/>
                <a:ea typeface="微软雅黑" panose="020B0503020204020204" pitchFamily="34" charset="-122"/>
              </a:rPr>
              <a:t>的作业正常结束（退出码为</a:t>
            </a:r>
            <a:r>
              <a:rPr lang="en-US" altLang="zh-CN" dirty="0">
                <a:solidFill>
                  <a:srgbClr val="FF0000"/>
                </a:solidFill>
                <a:latin typeface="微软雅黑" panose="020B0503020204020204" pitchFamily="34" charset="-122"/>
                <a:ea typeface="微软雅黑" panose="020B0503020204020204" pitchFamily="34" charset="-122"/>
              </a:rPr>
              <a:t>0</a:t>
            </a:r>
            <a:r>
              <a:rPr lang="zh-CN" altLang="en-US" dirty="0">
                <a:solidFill>
                  <a:srgbClr val="FF0000"/>
                </a:solidFill>
                <a:latin typeface="微软雅黑" panose="020B0503020204020204" pitchFamily="34" charset="-122"/>
                <a:ea typeface="微软雅黑" panose="020B0503020204020204" pitchFamily="34" charset="-122"/>
              </a:rPr>
              <a:t>）时开始运行。</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94660069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依赖作业脚本模板</a:t>
            </a:r>
          </a:p>
        </p:txBody>
      </p:sp>
      <p:sp>
        <p:nvSpPr>
          <p:cNvPr id="16" name="对角圆角矩形 15"/>
          <p:cNvSpPr/>
          <p:nvPr/>
        </p:nvSpPr>
        <p:spPr bwMode="auto">
          <a:xfrm>
            <a:off x="870195" y="552766"/>
            <a:ext cx="11163374" cy="5567516"/>
          </a:xfrm>
          <a:prstGeom prst="round2DiagRect">
            <a:avLst>
              <a:gd name="adj1" fmla="val 7047"/>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1950978599"/>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依赖作业脚本模板</a:t>
            </a:r>
          </a:p>
        </p:txBody>
      </p:sp>
      <p:sp>
        <p:nvSpPr>
          <p:cNvPr id="16" name="对角圆角矩形 15"/>
          <p:cNvSpPr/>
          <p:nvPr/>
        </p:nvSpPr>
        <p:spPr bwMode="auto">
          <a:xfrm>
            <a:off x="870195" y="552765"/>
            <a:ext cx="11163374" cy="5567517"/>
          </a:xfrm>
          <a:prstGeom prst="round2DiagRect">
            <a:avLst>
              <a:gd name="adj1" fmla="val 7729"/>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以下几行为加载软件环境变量（注意：你在该任务里面需要用到的所有软件均需要添加到这个位置，务必根据实际情况按需添加或者删除）</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XXX</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Program </a:t>
            </a:r>
            <a:r>
              <a:rPr lang="en-US" altLang="zh-CN" dirty="0" err="1">
                <a:solidFill>
                  <a:srgbClr val="FF0000"/>
                </a:solidFill>
                <a:latin typeface="微软雅黑" panose="020B0503020204020204" pitchFamily="34" charset="-122"/>
                <a:ea typeface="微软雅黑" panose="020B0503020204020204" pitchFamily="34" charset="-122"/>
              </a:rPr>
              <a:t>excute</a:t>
            </a:r>
            <a:r>
              <a:rPr lang="en-US" altLang="zh-CN" dirty="0">
                <a:solidFill>
                  <a:srgbClr val="FF0000"/>
                </a:solidFill>
                <a:latin typeface="微软雅黑" panose="020B0503020204020204" pitchFamily="34" charset="-122"/>
                <a:ea typeface="微软雅黑" panose="020B0503020204020204" pitchFamily="34" charset="-122"/>
              </a:rPr>
              <a:t> Command  ##</a:t>
            </a:r>
            <a:r>
              <a:rPr lang="zh-CN" altLang="en-US" dirty="0">
                <a:solidFill>
                  <a:srgbClr val="FF0000"/>
                </a:solidFill>
                <a:latin typeface="微软雅黑" panose="020B0503020204020204" pitchFamily="34" charset="-122"/>
                <a:ea typeface="微软雅黑" panose="020B0503020204020204" pitchFamily="34" charset="-122"/>
              </a:rPr>
              <a:t>程序执行命令语句，每个软件的执行命令都是互不相同的，请自行查询你所需要使用到的软件程序执行的命令格式，务必根据实际情况修改。软件跑串行、单节点多和并行、多节点多核并行、多线程请参考你所用到的软件的使用说明。</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3920727572"/>
      </p:ext>
    </p:extLst>
  </p:cSld>
  <p:clrMapOvr>
    <a:overrideClrMapping bg1="lt1" tx1="dk1" bg2="lt2" tx2="dk2" accent1="accent1" accent2="accent2" accent3="accent3" accent4="accent4" accent5="accent5" accent6="accent6" hlink="hlink" folHlink="folHlink"/>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010037" y="106157"/>
            <a:ext cx="5983180"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798757" y="714845"/>
            <a:ext cx="10564639" cy="4762496"/>
          </a:xfrm>
          <a:prstGeom prst="round2DiagRect">
            <a:avLst>
              <a:gd name="adj1" fmla="val 9650"/>
              <a:gd name="adj2" fmla="val 6016"/>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cpu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定义作业名称为</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cpu</a:t>
            </a:r>
            <a:r>
              <a:rPr lang="en-US" altLang="zh-CN" dirty="0">
                <a:solidFill>
                  <a:srgbClr val="FF0000"/>
                </a:solidFill>
                <a:latin typeface="微软雅黑" panose="020B0503020204020204" pitchFamily="34" charset="-122"/>
                <a:ea typeface="微软雅黑" panose="020B0503020204020204" pitchFamily="34" charset="-122"/>
              </a:rPr>
              <a:t>-test </a:t>
            </a: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定义作业运行的分区为</a:t>
            </a:r>
            <a:r>
              <a:rPr lang="en-US" altLang="zh-CN" dirty="0">
                <a:solidFill>
                  <a:srgbClr val="FF0000"/>
                </a:solidFill>
                <a:latin typeface="微软雅黑" panose="020B0503020204020204" pitchFamily="34" charset="-122"/>
                <a:ea typeface="微软雅黑" panose="020B0503020204020204" pitchFamily="34" charset="-122"/>
              </a:rPr>
              <a:t>CU</a:t>
            </a: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2                             ##</a:t>
            </a:r>
            <a:r>
              <a:rPr lang="zh-CN" altLang="en-US" dirty="0">
                <a:solidFill>
                  <a:srgbClr val="FF0000"/>
                </a:solidFill>
                <a:latin typeface="微软雅黑" panose="020B0503020204020204" pitchFamily="34" charset="-122"/>
                <a:ea typeface="微软雅黑" panose="020B0503020204020204" pitchFamily="34" charset="-122"/>
              </a:rPr>
              <a:t>定义作业使用</a:t>
            </a: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个节点进行多节点并行计算</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24          ##</a:t>
            </a:r>
            <a:r>
              <a:rPr lang="zh-CN" altLang="en-US" dirty="0">
                <a:solidFill>
                  <a:srgbClr val="FF0000"/>
                </a:solidFill>
                <a:latin typeface="微软雅黑" panose="020B0503020204020204" pitchFamily="34" charset="-122"/>
                <a:ea typeface="微软雅黑" panose="020B0503020204020204" pitchFamily="34" charset="-122"/>
              </a:rPr>
              <a:t>定义作业在每个节点使用</a:t>
            </a:r>
            <a:r>
              <a:rPr lang="en-US" altLang="zh-CN" dirty="0">
                <a:solidFill>
                  <a:srgbClr val="FF0000"/>
                </a:solidFill>
                <a:latin typeface="微软雅黑" panose="020B0503020204020204" pitchFamily="34" charset="-122"/>
                <a:ea typeface="微软雅黑" panose="020B0503020204020204" pitchFamily="34" charset="-122"/>
              </a:rPr>
              <a:t>24</a:t>
            </a:r>
            <a:r>
              <a:rPr lang="zh-CN" altLang="en-US" dirty="0">
                <a:solidFill>
                  <a:srgbClr val="FF0000"/>
                </a:solidFill>
                <a:latin typeface="微软雅黑" panose="020B0503020204020204" pitchFamily="34" charset="-122"/>
                <a:ea typeface="微软雅黑" panose="020B0503020204020204" pitchFamily="34" charset="-122"/>
              </a:rPr>
              <a:t>个</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核心进行多核并行计算</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p:txBody>
      </p:sp>
    </p:spTree>
    <p:extLst>
      <p:ext uri="{BB962C8B-B14F-4D97-AF65-F5344CB8AC3E}">
        <p14:creationId xmlns:p14="http://schemas.microsoft.com/office/powerpoint/2010/main" val="37629292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870195" y="552766"/>
            <a:ext cx="11163374" cy="5646072"/>
          </a:xfrm>
          <a:prstGeom prst="round2DiagRect">
            <a:avLst>
              <a:gd name="adj1" fmla="val 6718"/>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以下按照</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在</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多节点多核并行计算的需求，添加所需要用到的</a:t>
            </a:r>
            <a:r>
              <a:rPr lang="en-US" altLang="zh-CN" dirty="0">
                <a:solidFill>
                  <a:srgbClr val="FF0000"/>
                </a:solidFill>
                <a:latin typeface="微软雅黑" panose="020B0503020204020204" pitchFamily="34" charset="-122"/>
                <a:ea typeface="微软雅黑" panose="020B0503020204020204" pitchFamily="34" charset="-122"/>
              </a:rPr>
              <a:t>intel</a:t>
            </a:r>
            <a:r>
              <a:rPr lang="zh-CN" altLang="en-US" dirty="0">
                <a:solidFill>
                  <a:srgbClr val="FF0000"/>
                </a:solidFill>
                <a:latin typeface="微软雅黑" panose="020B0503020204020204" pitchFamily="34" charset="-122"/>
                <a:ea typeface="微软雅黑" panose="020B0503020204020204" pitchFamily="34" charset="-122"/>
              </a:rPr>
              <a:t>以及</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两个软件环境变量</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#setting environment for intel2020</a:t>
            </a:r>
          </a:p>
          <a:p>
            <a:r>
              <a:rPr lang="en-US" altLang="zh-CN" dirty="0">
                <a:solidFill>
                  <a:srgbClr val="FF0000"/>
                </a:solidFill>
                <a:latin typeface="微软雅黑" panose="020B0503020204020204" pitchFamily="34" charset="-122"/>
                <a:ea typeface="微软雅黑" panose="020B0503020204020204" pitchFamily="34" charset="-122"/>
              </a:rPr>
              <a:t>module load intel/2020</a:t>
            </a: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#setting environment for vasp-5.4.4-intel2020</a:t>
            </a:r>
          </a:p>
          <a:p>
            <a:r>
              <a:rPr lang="en-US" altLang="zh-CN" dirty="0">
                <a:solidFill>
                  <a:srgbClr val="FF0000"/>
                </a:solidFill>
                <a:latin typeface="微软雅黑" panose="020B0503020204020204" pitchFamily="34" charset="-122"/>
                <a:ea typeface="微软雅黑" panose="020B0503020204020204" pitchFamily="34" charset="-122"/>
              </a:rPr>
              <a:t>module load  </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/5.4.4</a:t>
            </a:r>
          </a:p>
        </p:txBody>
      </p:sp>
    </p:spTree>
    <p:extLst>
      <p:ext uri="{BB962C8B-B14F-4D97-AF65-F5344CB8AC3E}">
        <p14:creationId xmlns:p14="http://schemas.microsoft.com/office/powerpoint/2010/main" val="2758566448"/>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5238302"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1053075" y="1155940"/>
            <a:ext cx="10187011" cy="322597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err="1">
                <a:solidFill>
                  <a:srgbClr val="FF0000"/>
                </a:solidFill>
                <a:latin typeface="微软雅黑" panose="020B0503020204020204" pitchFamily="34" charset="-122"/>
                <a:ea typeface="微软雅黑" panose="020B0503020204020204" pitchFamily="34" charset="-122"/>
              </a:rPr>
              <a:t>mpirun</a:t>
            </a:r>
            <a:r>
              <a:rPr lang="en-US" altLang="zh-CN" dirty="0">
                <a:solidFill>
                  <a:srgbClr val="FF0000"/>
                </a:solidFill>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machinefile</a:t>
            </a:r>
            <a:r>
              <a:rPr lang="en-US" altLang="zh-CN" dirty="0">
                <a:solidFill>
                  <a:srgbClr val="FF0000"/>
                </a:solidFill>
                <a:latin typeface="微软雅黑" panose="020B0503020204020204" pitchFamily="34" charset="-122"/>
                <a:ea typeface="微软雅黑" panose="020B0503020204020204" pitchFamily="34" charset="-122"/>
              </a:rPr>
              <a:t> $CURDIR/</a:t>
            </a:r>
            <a:r>
              <a:rPr lang="en-US" altLang="zh-CN" dirty="0" err="1">
                <a:solidFill>
                  <a:srgbClr val="FF0000"/>
                </a:solidFill>
                <a:latin typeface="微软雅黑" panose="020B0503020204020204" pitchFamily="34" charset="-122"/>
                <a:ea typeface="微软雅黑" panose="020B0503020204020204" pitchFamily="34" charset="-122"/>
              </a:rPr>
              <a:t>nodelist</a:t>
            </a:r>
            <a:r>
              <a:rPr lang="en-US" altLang="zh-CN" dirty="0">
                <a:solidFill>
                  <a:srgbClr val="FF0000"/>
                </a:solidFill>
                <a:latin typeface="微软雅黑" panose="020B0503020204020204" pitchFamily="34" charset="-122"/>
                <a:ea typeface="微软雅黑" panose="020B0503020204020204" pitchFamily="34" charset="-122"/>
              </a:rPr>
              <a:t>.$SLURM_JOB_ID -np $SLURM_NPROCS </a:t>
            </a:r>
            <a:r>
              <a:rPr lang="en-US" altLang="zh-CN" dirty="0" err="1">
                <a:solidFill>
                  <a:srgbClr val="FF0000"/>
                </a:solidFill>
                <a:latin typeface="微软雅黑" panose="020B0503020204020204" pitchFamily="34" charset="-122"/>
                <a:ea typeface="微软雅黑" panose="020B0503020204020204" pitchFamily="34" charset="-122"/>
              </a:rPr>
              <a:t>vasp_std</a:t>
            </a:r>
            <a:r>
              <a:rPr lang="en-US" altLang="zh-CN" dirty="0">
                <a:solidFill>
                  <a:srgbClr val="FF0000"/>
                </a:solidFill>
                <a:latin typeface="微软雅黑" panose="020B0503020204020204" pitchFamily="34" charset="-122"/>
                <a:ea typeface="微软雅黑" panose="020B0503020204020204" pitchFamily="34" charset="-122"/>
              </a:rPr>
              <a:t> &gt; ./log               ##</a:t>
            </a:r>
            <a:r>
              <a:rPr lang="zh-CN" altLang="en-US" dirty="0">
                <a:solidFill>
                  <a:srgbClr val="FF0000"/>
                </a:solidFill>
                <a:latin typeface="微软雅黑" panose="020B0503020204020204" pitchFamily="34" charset="-122"/>
                <a:ea typeface="微软雅黑" panose="020B0503020204020204" pitchFamily="34" charset="-122"/>
              </a:rPr>
              <a:t>该命令为</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软件基于</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跑多节点多核并行模式的命令格式，其中将程序计算结果重定向到</a:t>
            </a:r>
            <a:r>
              <a:rPr lang="en-US" altLang="zh-CN" dirty="0">
                <a:solidFill>
                  <a:srgbClr val="FF0000"/>
                </a:solidFill>
                <a:latin typeface="微软雅黑" panose="020B0503020204020204" pitchFamily="34" charset="-122"/>
                <a:ea typeface="微软雅黑" panose="020B0503020204020204" pitchFamily="34" charset="-122"/>
              </a:rPr>
              <a:t>log</a:t>
            </a:r>
            <a:r>
              <a:rPr lang="zh-CN" altLang="en-US" dirty="0">
                <a:solidFill>
                  <a:srgbClr val="FF0000"/>
                </a:solidFill>
                <a:latin typeface="微软雅黑" panose="020B0503020204020204" pitchFamily="34" charset="-122"/>
                <a:ea typeface="微软雅黑" panose="020B0503020204020204" pitchFamily="34" charset="-122"/>
              </a:rPr>
              <a:t>文件内。</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3692273914"/>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870195" y="605380"/>
            <a:ext cx="10789722" cy="5793114"/>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gpu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定义作业名称为</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gpu</a:t>
            </a:r>
            <a:r>
              <a:rPr lang="en-US" altLang="zh-CN" dirty="0">
                <a:solidFill>
                  <a:srgbClr val="FF0000"/>
                </a:solidFill>
                <a:latin typeface="微软雅黑" panose="020B0503020204020204" pitchFamily="34" charset="-122"/>
                <a:ea typeface="微软雅黑" panose="020B0503020204020204" pitchFamily="34" charset="-122"/>
              </a:rPr>
              <a:t>-test </a:t>
            </a: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定义作业运行的分区为</a:t>
            </a:r>
            <a:r>
              <a:rPr lang="en-US" altLang="zh-CN" dirty="0">
                <a:solidFill>
                  <a:srgbClr val="FF0000"/>
                </a:solidFill>
                <a:latin typeface="微软雅黑" panose="020B0503020204020204" pitchFamily="34" charset="-122"/>
                <a:ea typeface="微软雅黑" panose="020B0503020204020204" pitchFamily="34" charset="-122"/>
              </a:rPr>
              <a:t>CU</a:t>
            </a: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定义作业使用</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个节点进行并行计算</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16          ##</a:t>
            </a:r>
            <a:r>
              <a:rPr lang="zh-CN" altLang="en-US" dirty="0">
                <a:solidFill>
                  <a:srgbClr val="FF0000"/>
                </a:solidFill>
                <a:latin typeface="微软雅黑" panose="020B0503020204020204" pitchFamily="34" charset="-122"/>
                <a:ea typeface="微软雅黑" panose="020B0503020204020204" pitchFamily="34" charset="-122"/>
              </a:rPr>
              <a:t>定义作业在每个节点使用</a:t>
            </a:r>
            <a:r>
              <a:rPr lang="en-US" altLang="zh-CN" dirty="0">
                <a:solidFill>
                  <a:srgbClr val="FF0000"/>
                </a:solidFill>
                <a:latin typeface="微软雅黑" panose="020B0503020204020204" pitchFamily="34" charset="-122"/>
                <a:ea typeface="微软雅黑" panose="020B0503020204020204" pitchFamily="34" charset="-122"/>
              </a:rPr>
              <a:t>16</a:t>
            </a:r>
            <a:r>
              <a:rPr lang="zh-CN" altLang="en-US" dirty="0">
                <a:solidFill>
                  <a:srgbClr val="FF0000"/>
                </a:solidFill>
                <a:latin typeface="微软雅黑" panose="020B0503020204020204" pitchFamily="34" charset="-122"/>
                <a:ea typeface="微软雅黑" panose="020B0503020204020204" pitchFamily="34" charset="-122"/>
              </a:rPr>
              <a:t>个</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核心用于程序跑</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所需要的用到的</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开销，程序员自行定义跑该</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程序所需要用到的</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资源，按需修改改参数即可。</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gres</a:t>
            </a:r>
            <a:r>
              <a:rPr lang="en-US" altLang="zh-CN" dirty="0">
                <a:latin typeface="微软雅黑" panose="020B0503020204020204" pitchFamily="34" charset="-122"/>
                <a:ea typeface="微软雅黑" panose="020B0503020204020204" pitchFamily="34" charset="-122"/>
              </a:rPr>
              <a:t>=gpu:1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定义作业在每个节点所需要用到的</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卡数</a:t>
            </a:r>
            <a:r>
              <a:rPr lang="en-US" altLang="zh-CN" dirty="0">
                <a:solidFill>
                  <a:srgbClr val="FF0000"/>
                </a:solidFill>
                <a:latin typeface="微软雅黑" panose="020B0503020204020204" pitchFamily="34" charset="-122"/>
                <a:ea typeface="微软雅黑" panose="020B0503020204020204" pitchFamily="34" charset="-122"/>
              </a:rPr>
              <a:t> </a:t>
            </a: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a:p>
            <a:r>
              <a:rPr lang="en-US" altLang="zh-CN" dirty="0">
                <a:latin typeface="微软雅黑" panose="020B0503020204020204" pitchFamily="34" charset="-122"/>
                <a:ea typeface="微软雅黑" panose="020B0503020204020204" pitchFamily="34" charset="-122"/>
              </a:rPr>
              <a:t>echo $SLURM_GPUS</a:t>
            </a:r>
          </a:p>
        </p:txBody>
      </p:sp>
    </p:spTree>
    <p:extLst>
      <p:ext uri="{BB962C8B-B14F-4D97-AF65-F5344CB8AC3E}">
        <p14:creationId xmlns:p14="http://schemas.microsoft.com/office/powerpoint/2010/main" val="3659320238"/>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870195" y="605380"/>
            <a:ext cx="10789722" cy="5793114"/>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以下按照</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在</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多核并行计算的需求，添加所需要用到的</a:t>
            </a:r>
            <a:r>
              <a:rPr lang="en-US" altLang="zh-CN" dirty="0">
                <a:solidFill>
                  <a:srgbClr val="FF0000"/>
                </a:solidFill>
                <a:latin typeface="微软雅黑" panose="020B0503020204020204" pitchFamily="34" charset="-122"/>
                <a:ea typeface="微软雅黑" panose="020B0503020204020204" pitchFamily="34" charset="-122"/>
              </a:rPr>
              <a:t>intel</a:t>
            </a:r>
            <a:r>
              <a:rPr lang="zh-CN" altLang="en-US" dirty="0">
                <a:solidFill>
                  <a:srgbClr val="FF0000"/>
                </a:solidFill>
                <a:latin typeface="微软雅黑" panose="020B0503020204020204" pitchFamily="34" charset="-122"/>
                <a:ea typeface="微软雅黑" panose="020B0503020204020204" pitchFamily="34" charset="-122"/>
              </a:rPr>
              <a:t>以及</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和</a:t>
            </a:r>
            <a:r>
              <a:rPr lang="en-US" altLang="zh-CN" dirty="0" err="1">
                <a:solidFill>
                  <a:srgbClr val="FF0000"/>
                </a:solidFill>
                <a:latin typeface="微软雅黑" panose="020B0503020204020204" pitchFamily="34" charset="-122"/>
                <a:ea typeface="微软雅黑" panose="020B0503020204020204" pitchFamily="34" charset="-122"/>
              </a:rPr>
              <a:t>cuda</a:t>
            </a:r>
            <a:r>
              <a:rPr lang="zh-CN" altLang="en-US" dirty="0">
                <a:solidFill>
                  <a:srgbClr val="FF0000"/>
                </a:solidFill>
                <a:latin typeface="微软雅黑" panose="020B0503020204020204" pitchFamily="34" charset="-122"/>
                <a:ea typeface="微软雅黑" panose="020B0503020204020204" pitchFamily="34" charset="-122"/>
              </a:rPr>
              <a:t>三个软件环境变量</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#setting environment for intel2020</a:t>
            </a:r>
          </a:p>
          <a:p>
            <a:r>
              <a:rPr lang="en-US" altLang="zh-CN" dirty="0">
                <a:solidFill>
                  <a:srgbClr val="FF0000"/>
                </a:solidFill>
                <a:latin typeface="微软雅黑" panose="020B0503020204020204" pitchFamily="34" charset="-122"/>
                <a:ea typeface="微软雅黑" panose="020B0503020204020204" pitchFamily="34" charset="-122"/>
              </a:rPr>
              <a:t>module load intel-2020</a:t>
            </a: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#setting environment for vasp-5.4.4-gpu-intel2018</a:t>
            </a:r>
          </a:p>
          <a:p>
            <a:r>
              <a:rPr lang="en-US" altLang="zh-CN" dirty="0">
                <a:solidFill>
                  <a:srgbClr val="FF0000"/>
                </a:solidFill>
                <a:latin typeface="微软雅黑" panose="020B0503020204020204" pitchFamily="34" charset="-122"/>
                <a:ea typeface="微软雅黑" panose="020B0503020204020204" pitchFamily="34" charset="-122"/>
              </a:rPr>
              <a:t>module load </a:t>
            </a:r>
            <a:r>
              <a:rPr lang="en-US" altLang="zh-CN" dirty="0" err="1">
                <a:solidFill>
                  <a:srgbClr val="FF0000"/>
                </a:solidFill>
                <a:latin typeface="微软雅黑" panose="020B0503020204020204" pitchFamily="34" charset="-122"/>
                <a:ea typeface="微软雅黑" panose="020B0503020204020204" pitchFamily="34" charset="-122"/>
              </a:rPr>
              <a:t>vasp</a:t>
            </a:r>
            <a:r>
              <a:rPr lang="en-US" altLang="zh-CN" dirty="0">
                <a:solidFill>
                  <a:srgbClr val="FF0000"/>
                </a:solidFill>
                <a:latin typeface="微软雅黑" panose="020B0503020204020204" pitchFamily="34" charset="-122"/>
                <a:ea typeface="微软雅黑" panose="020B0503020204020204" pitchFamily="34" charset="-122"/>
              </a:rPr>
              <a:t>/5.4.4</a:t>
            </a:r>
          </a:p>
        </p:txBody>
      </p:sp>
    </p:spTree>
    <p:extLst>
      <p:ext uri="{BB962C8B-B14F-4D97-AF65-F5344CB8AC3E}">
        <p14:creationId xmlns:p14="http://schemas.microsoft.com/office/powerpoint/2010/main" val="1146018431"/>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vasp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多节点多核并行任务脚本</a:t>
            </a:r>
          </a:p>
        </p:txBody>
      </p:sp>
      <p:sp>
        <p:nvSpPr>
          <p:cNvPr id="16" name="对角圆角矩形 15"/>
          <p:cNvSpPr/>
          <p:nvPr/>
        </p:nvSpPr>
        <p:spPr bwMode="auto">
          <a:xfrm>
            <a:off x="977353" y="961622"/>
            <a:ext cx="10552771" cy="430270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solidFill>
                  <a:srgbClr val="FF0000"/>
                </a:solidFill>
                <a:latin typeface="微软雅黑" panose="020B0503020204020204" pitchFamily="34" charset="-122"/>
                <a:ea typeface="微软雅黑" panose="020B0503020204020204" pitchFamily="34" charset="-122"/>
              </a:rPr>
              <a:t>#setting environment for cuda-10.0</a:t>
            </a:r>
          </a:p>
          <a:p>
            <a:r>
              <a:rPr lang="en-US" altLang="zh-CN" dirty="0">
                <a:solidFill>
                  <a:srgbClr val="FF0000"/>
                </a:solidFill>
                <a:latin typeface="微软雅黑" panose="020B0503020204020204" pitchFamily="34" charset="-122"/>
                <a:ea typeface="微软雅黑" panose="020B0503020204020204" pitchFamily="34" charset="-122"/>
              </a:rPr>
              <a:t>export PATH=/</a:t>
            </a:r>
            <a:r>
              <a:rPr lang="en-US" altLang="zh-CN" dirty="0" err="1">
                <a:solidFill>
                  <a:srgbClr val="FF0000"/>
                </a:solidFill>
                <a:latin typeface="微软雅黑" panose="020B0503020204020204" pitchFamily="34" charset="-122"/>
                <a:ea typeface="微软雅黑" panose="020B0503020204020204" pitchFamily="34" charset="-122"/>
              </a:rPr>
              <a:t>usr</a:t>
            </a:r>
            <a:r>
              <a:rPr lang="en-US" altLang="zh-CN" dirty="0">
                <a:solidFill>
                  <a:srgbClr val="FF0000"/>
                </a:solidFill>
                <a:latin typeface="微软雅黑" panose="020B0503020204020204" pitchFamily="34" charset="-122"/>
                <a:ea typeface="微软雅黑" panose="020B0503020204020204" pitchFamily="34" charset="-122"/>
              </a:rPr>
              <a:t>/local/cuda-10.0/bin:$PATH</a:t>
            </a:r>
          </a:p>
          <a:p>
            <a:r>
              <a:rPr lang="en-US" altLang="zh-CN" dirty="0">
                <a:solidFill>
                  <a:srgbClr val="FF0000"/>
                </a:solidFill>
                <a:latin typeface="微软雅黑" panose="020B0503020204020204" pitchFamily="34" charset="-122"/>
                <a:ea typeface="微软雅黑" panose="020B0503020204020204" pitchFamily="34" charset="-122"/>
              </a:rPr>
              <a:t>export LD_LIBRARY_PATH=/</a:t>
            </a:r>
            <a:r>
              <a:rPr lang="en-US" altLang="zh-CN" dirty="0" err="1">
                <a:solidFill>
                  <a:srgbClr val="FF0000"/>
                </a:solidFill>
                <a:latin typeface="微软雅黑" panose="020B0503020204020204" pitchFamily="34" charset="-122"/>
                <a:ea typeface="微软雅黑" panose="020B0503020204020204" pitchFamily="34" charset="-122"/>
              </a:rPr>
              <a:t>usr</a:t>
            </a:r>
            <a:r>
              <a:rPr lang="en-US" altLang="zh-CN" dirty="0">
                <a:solidFill>
                  <a:srgbClr val="FF0000"/>
                </a:solidFill>
                <a:latin typeface="微软雅黑" panose="020B0503020204020204" pitchFamily="34" charset="-122"/>
                <a:ea typeface="微软雅黑" panose="020B0503020204020204" pitchFamily="34" charset="-122"/>
              </a:rPr>
              <a:t>/local/cuda-10.0/lib64:$LD_LIBRARY_PATH</a:t>
            </a:r>
          </a:p>
          <a:p>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sv-SE" altLang="zh-CN" dirty="0">
                <a:solidFill>
                  <a:srgbClr val="FF0000"/>
                </a:solidFill>
                <a:latin typeface="微软雅黑" panose="020B0503020204020204" pitchFamily="34" charset="-122"/>
                <a:ea typeface="微软雅黑" panose="020B0503020204020204" pitchFamily="34" charset="-122"/>
              </a:rPr>
              <a:t>mpirun -np $SLURM_GPUS vasp_gpu &gt; ./log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该命令为</a:t>
            </a:r>
            <a:r>
              <a:rPr lang="en-US" altLang="zh-CN" dirty="0" err="1">
                <a:solidFill>
                  <a:srgbClr val="FF0000"/>
                </a:solidFill>
                <a:latin typeface="微软雅黑" panose="020B0503020204020204" pitchFamily="34" charset="-122"/>
                <a:ea typeface="微软雅黑" panose="020B0503020204020204" pitchFamily="34" charset="-122"/>
              </a:rPr>
              <a:t>vasp</a:t>
            </a:r>
            <a:r>
              <a:rPr lang="zh-CN" altLang="en-US" dirty="0">
                <a:solidFill>
                  <a:srgbClr val="FF0000"/>
                </a:solidFill>
                <a:latin typeface="微软雅黑" panose="020B0503020204020204" pitchFamily="34" charset="-122"/>
                <a:ea typeface="微软雅黑" panose="020B0503020204020204" pitchFamily="34" charset="-122"/>
              </a:rPr>
              <a:t>软件基于</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跑多核并行模式的命令格式，其中将程序计算结果重定向到</a:t>
            </a:r>
            <a:r>
              <a:rPr lang="en-US" altLang="zh-CN" dirty="0">
                <a:solidFill>
                  <a:srgbClr val="FF0000"/>
                </a:solidFill>
                <a:latin typeface="微软雅黑" panose="020B0503020204020204" pitchFamily="34" charset="-122"/>
                <a:ea typeface="微软雅黑" panose="020B0503020204020204" pitchFamily="34" charset="-122"/>
              </a:rPr>
              <a:t>log</a:t>
            </a:r>
            <a:r>
              <a:rPr lang="zh-CN" altLang="en-US" dirty="0">
                <a:solidFill>
                  <a:srgbClr val="FF0000"/>
                </a:solidFill>
                <a:latin typeface="微软雅黑" panose="020B0503020204020204" pitchFamily="34" charset="-122"/>
                <a:ea typeface="微软雅黑" panose="020B0503020204020204" pitchFamily="34" charset="-122"/>
              </a:rPr>
              <a:t>文件内。</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662226321"/>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基于</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计算的</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python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单核串行作业脚本</a:t>
            </a:r>
          </a:p>
        </p:txBody>
      </p:sp>
      <p:sp>
        <p:nvSpPr>
          <p:cNvPr id="16" name="对角圆角矩形 15"/>
          <p:cNvSpPr/>
          <p:nvPr/>
        </p:nvSpPr>
        <p:spPr bwMode="auto">
          <a:xfrm>
            <a:off x="977353" y="961622"/>
            <a:ext cx="10552771" cy="487196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a:solidFill>
                  <a:srgbClr val="FF0000"/>
                </a:solidFill>
                <a:latin typeface="微软雅黑" panose="020B0503020204020204" pitchFamily="34" charset="-122"/>
                <a:ea typeface="微软雅黑" panose="020B0503020204020204" pitchFamily="34" charset="-122"/>
              </a:rPr>
              <a:t>python-</a:t>
            </a:r>
            <a:r>
              <a:rPr lang="en-US" altLang="zh-CN" dirty="0" err="1">
                <a:solidFill>
                  <a:srgbClr val="FF0000"/>
                </a:solidFill>
                <a:latin typeface="微软雅黑" panose="020B0503020204020204" pitchFamily="34" charset="-122"/>
                <a:ea typeface="微软雅黑" panose="020B0503020204020204" pitchFamily="34" charset="-122"/>
              </a:rPr>
              <a:t>cpu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module  load  python/3.9.6</a:t>
            </a: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python test.py</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09480222"/>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35946"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87857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使用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GPU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计算的</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python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单核串行作业脚本</a:t>
            </a:r>
          </a:p>
        </p:txBody>
      </p:sp>
      <p:sp>
        <p:nvSpPr>
          <p:cNvPr id="16" name="对角圆角矩形 15"/>
          <p:cNvSpPr/>
          <p:nvPr/>
        </p:nvSpPr>
        <p:spPr bwMode="auto">
          <a:xfrm>
            <a:off x="870195" y="904668"/>
            <a:ext cx="10642561" cy="5072737"/>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a:solidFill>
                  <a:srgbClr val="FF0000"/>
                </a:solidFill>
                <a:latin typeface="微软雅黑" panose="020B0503020204020204" pitchFamily="34" charset="-122"/>
                <a:ea typeface="微软雅黑" panose="020B0503020204020204" pitchFamily="34" charset="-122"/>
              </a:rPr>
              <a:t>python-</a:t>
            </a:r>
            <a:r>
              <a:rPr lang="en-US" altLang="zh-CN" dirty="0" err="1">
                <a:solidFill>
                  <a:srgbClr val="FF0000"/>
                </a:solidFill>
                <a:latin typeface="微软雅黑" panose="020B0503020204020204" pitchFamily="34" charset="-122"/>
                <a:ea typeface="微软雅黑" panose="020B0503020204020204" pitchFamily="34" charset="-122"/>
              </a:rPr>
              <a:t>gpu</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parallel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作业申请的每个节点使用的核心数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gres</a:t>
            </a:r>
            <a:r>
              <a:rPr lang="en-US" altLang="zh-CN" dirty="0">
                <a:latin typeface="微软雅黑" panose="020B0503020204020204" pitchFamily="34" charset="-122"/>
                <a:ea typeface="微软雅黑" panose="020B0503020204020204" pitchFamily="34" charset="-122"/>
              </a:rPr>
              <a:t>=gpu:1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作业申请的每个节点</a:t>
            </a:r>
            <a:r>
              <a:rPr lang="en-US" altLang="zh-CN" dirty="0">
                <a:solidFill>
                  <a:srgbClr val="FF0000"/>
                </a:solidFill>
                <a:latin typeface="微软雅黑" panose="020B0503020204020204" pitchFamily="34" charset="-122"/>
                <a:ea typeface="微软雅黑" panose="020B0503020204020204" pitchFamily="34" charset="-122"/>
              </a:rPr>
              <a:t>GPU</a:t>
            </a:r>
            <a:r>
              <a:rPr lang="zh-CN" altLang="en-US" dirty="0">
                <a:solidFill>
                  <a:srgbClr val="FF0000"/>
                </a:solidFill>
                <a:latin typeface="微软雅黑" panose="020B0503020204020204" pitchFamily="34" charset="-122"/>
                <a:ea typeface="微软雅黑" panose="020B0503020204020204" pitchFamily="34" charset="-122"/>
              </a:rPr>
              <a:t>卡数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export PATH=/</a:t>
            </a:r>
            <a:r>
              <a:rPr lang="en-US" altLang="zh-CN" dirty="0" err="1">
                <a:solidFill>
                  <a:srgbClr val="FF0000"/>
                </a:solidFill>
                <a:latin typeface="微软雅黑" panose="020B0503020204020204" pitchFamily="34" charset="-122"/>
                <a:ea typeface="微软雅黑" panose="020B0503020204020204" pitchFamily="34" charset="-122"/>
              </a:rPr>
              <a:t>usr</a:t>
            </a:r>
            <a:r>
              <a:rPr lang="en-US" altLang="zh-CN" dirty="0">
                <a:solidFill>
                  <a:srgbClr val="FF0000"/>
                </a:solidFill>
                <a:latin typeface="微软雅黑" panose="020B0503020204020204" pitchFamily="34" charset="-122"/>
                <a:ea typeface="微软雅黑" panose="020B0503020204020204" pitchFamily="34" charset="-122"/>
              </a:rPr>
              <a:t>/local/cuda-10.0/bin:$PATH</a:t>
            </a:r>
          </a:p>
          <a:p>
            <a:r>
              <a:rPr lang="en-US" altLang="zh-CN" dirty="0">
                <a:solidFill>
                  <a:srgbClr val="FF0000"/>
                </a:solidFill>
                <a:latin typeface="微软雅黑" panose="020B0503020204020204" pitchFamily="34" charset="-122"/>
                <a:ea typeface="微软雅黑" panose="020B0503020204020204" pitchFamily="34" charset="-122"/>
              </a:rPr>
              <a:t>export LD_LIBRARY_PATH=/</a:t>
            </a:r>
            <a:r>
              <a:rPr lang="en-US" altLang="zh-CN" dirty="0" err="1">
                <a:solidFill>
                  <a:srgbClr val="FF0000"/>
                </a:solidFill>
                <a:latin typeface="微软雅黑" panose="020B0503020204020204" pitchFamily="34" charset="-122"/>
                <a:ea typeface="微软雅黑" panose="020B0503020204020204" pitchFamily="34" charset="-122"/>
              </a:rPr>
              <a:t>usr</a:t>
            </a:r>
            <a:r>
              <a:rPr lang="en-US" altLang="zh-CN" dirty="0">
                <a:solidFill>
                  <a:srgbClr val="FF0000"/>
                </a:solidFill>
                <a:latin typeface="微软雅黑" panose="020B0503020204020204" pitchFamily="34" charset="-122"/>
                <a:ea typeface="微软雅黑" panose="020B0503020204020204" pitchFamily="34" charset="-122"/>
              </a:rPr>
              <a:t>/local/cuda-10.0/lib64:$LD_LIBRARY_PATH</a:t>
            </a:r>
          </a:p>
          <a:p>
            <a:endParaRPr lang="en-US" altLang="zh-CN"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dirty="0">
                <a:solidFill>
                  <a:srgbClr val="FF0000"/>
                </a:solidFill>
                <a:latin typeface="微软雅黑" panose="020B0503020204020204" pitchFamily="34" charset="-122"/>
                <a:ea typeface="微软雅黑" panose="020B0503020204020204" pitchFamily="34" charset="-122"/>
              </a:rPr>
              <a:t>python test.py</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5218286"/>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41314"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5286534"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使用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gaussian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单节点</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OpenMP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a:t>
            </a:r>
          </a:p>
        </p:txBody>
      </p:sp>
      <p:sp>
        <p:nvSpPr>
          <p:cNvPr id="16" name="对角圆角矩形 15"/>
          <p:cNvSpPr/>
          <p:nvPr/>
        </p:nvSpPr>
        <p:spPr bwMode="auto">
          <a:xfrm>
            <a:off x="870195" y="818746"/>
            <a:ext cx="10820057" cy="518852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#!/bin/bash</a:t>
            </a:r>
          </a:p>
          <a:p>
            <a:r>
              <a:rPr lang="en-US" altLang="zh-CN" dirty="0">
                <a:latin typeface="微软雅黑" panose="020B0503020204020204" pitchFamily="34" charset="-122"/>
                <a:ea typeface="微软雅黑" panose="020B0503020204020204" pitchFamily="34" charset="-122"/>
              </a:rPr>
              <a:t>#SBATCH --job-name=</a:t>
            </a:r>
            <a:r>
              <a:rPr lang="en-US" altLang="zh-CN" dirty="0" err="1">
                <a:solidFill>
                  <a:srgbClr val="FF0000"/>
                </a:solidFill>
                <a:latin typeface="微软雅黑" panose="020B0503020204020204" pitchFamily="34" charset="-122"/>
                <a:ea typeface="微软雅黑" panose="020B0503020204020204" pitchFamily="34" charset="-122"/>
              </a:rPr>
              <a:t>gaussian</a:t>
            </a:r>
            <a:r>
              <a:rPr lang="en-US" altLang="zh-CN" dirty="0">
                <a:solidFill>
                  <a:srgbClr val="FF0000"/>
                </a:solidFill>
                <a:latin typeface="微软雅黑" panose="020B0503020204020204" pitchFamily="34" charset="-122"/>
                <a:ea typeface="微软雅黑" panose="020B0503020204020204" pitchFamily="34" charset="-122"/>
              </a:rPr>
              <a:t>-test       ##</a:t>
            </a:r>
            <a:r>
              <a:rPr lang="zh-CN" altLang="en-US" dirty="0">
                <a:solidFill>
                  <a:srgbClr val="FF0000"/>
                </a:solidFill>
                <a:latin typeface="微软雅黑" panose="020B0503020204020204" pitchFamily="34" charset="-122"/>
                <a:ea typeface="微软雅黑" panose="020B0503020204020204" pitchFamily="34" charset="-122"/>
              </a:rPr>
              <a:t>作业名称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--partition=</a:t>
            </a:r>
            <a:r>
              <a:rPr lang="en-US" altLang="zh-CN" dirty="0">
                <a:solidFill>
                  <a:srgbClr val="FF0000"/>
                </a:solidFill>
                <a:latin typeface="微软雅黑" panose="020B0503020204020204" pitchFamily="34" charset="-122"/>
                <a:ea typeface="微软雅黑" panose="020B0503020204020204" pitchFamily="34" charset="-122"/>
              </a:rPr>
              <a:t>CU                         ##</a:t>
            </a:r>
            <a:r>
              <a:rPr lang="zh-CN" altLang="en-US" dirty="0">
                <a:solidFill>
                  <a:srgbClr val="FF0000"/>
                </a:solidFill>
                <a:latin typeface="微软雅黑" panose="020B0503020204020204" pitchFamily="34" charset="-122"/>
                <a:ea typeface="微软雅黑" panose="020B0503020204020204" pitchFamily="34" charset="-122"/>
              </a:rPr>
              <a:t>作业申请的分区名称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--nodes=</a:t>
            </a:r>
            <a:r>
              <a:rPr lang="en-US" altLang="zh-CN" dirty="0">
                <a:solidFill>
                  <a:srgbClr val="FF0000"/>
                </a:solidFill>
                <a:latin typeface="微软雅黑" panose="020B0503020204020204" pitchFamily="34" charset="-122"/>
                <a:ea typeface="微软雅黑" panose="020B0503020204020204" pitchFamily="34" charset="-122"/>
              </a:rPr>
              <a:t>1                                ##</a:t>
            </a:r>
            <a:r>
              <a:rPr lang="zh-CN" altLang="en-US" dirty="0">
                <a:solidFill>
                  <a:srgbClr val="FF0000"/>
                </a:solidFill>
                <a:latin typeface="微软雅黑" panose="020B0503020204020204" pitchFamily="34" charset="-122"/>
                <a:ea typeface="微软雅黑" panose="020B0503020204020204" pitchFamily="34" charset="-122"/>
              </a:rPr>
              <a:t>作业申请的节点数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a:t>
            </a:r>
            <a:r>
              <a:rPr lang="en-US" altLang="zh-CN" dirty="0" err="1">
                <a:latin typeface="微软雅黑" panose="020B0503020204020204" pitchFamily="34" charset="-122"/>
                <a:ea typeface="微软雅黑" panose="020B0503020204020204" pitchFamily="34" charset="-122"/>
              </a:rPr>
              <a:t>ntasks</a:t>
            </a:r>
            <a:r>
              <a:rPr lang="en-US" altLang="zh-CN" dirty="0">
                <a:latin typeface="微软雅黑" panose="020B0503020204020204" pitchFamily="34" charset="-122"/>
                <a:ea typeface="微软雅黑" panose="020B0503020204020204" pitchFamily="34" charset="-122"/>
              </a:rPr>
              <a:t>-per-node=</a:t>
            </a:r>
            <a:r>
              <a:rPr lang="en-US" altLang="zh-CN" dirty="0">
                <a:solidFill>
                  <a:srgbClr val="FF0000"/>
                </a:solidFill>
                <a:latin typeface="微软雅黑" panose="020B0503020204020204" pitchFamily="34" charset="-122"/>
                <a:ea typeface="微软雅黑" panose="020B0503020204020204" pitchFamily="34" charset="-122"/>
              </a:rPr>
              <a:t>32</a:t>
            </a:r>
            <a:r>
              <a:rPr lang="en-US" altLang="zh-CN" dirty="0">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作业申请的</a:t>
            </a:r>
            <a:r>
              <a:rPr lang="en-US" altLang="zh-CN" dirty="0" err="1">
                <a:solidFill>
                  <a:srgbClr val="FF0000"/>
                </a:solidFill>
                <a:latin typeface="微软雅黑" panose="020B0503020204020204" pitchFamily="34" charset="-122"/>
                <a:ea typeface="微软雅黑" panose="020B0503020204020204" pitchFamily="34" charset="-122"/>
              </a:rPr>
              <a:t>OpenMP</a:t>
            </a:r>
            <a:r>
              <a:rPr lang="zh-CN" altLang="en-US" dirty="0">
                <a:solidFill>
                  <a:srgbClr val="FF0000"/>
                </a:solidFill>
                <a:latin typeface="微软雅黑" panose="020B0503020204020204" pitchFamily="34" charset="-122"/>
                <a:ea typeface="微软雅黑" panose="020B0503020204020204" pitchFamily="34" charset="-122"/>
              </a:rPr>
              <a:t>所使用的线程数</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--error=%</a:t>
            </a:r>
            <a:r>
              <a:rPr lang="en-US" altLang="zh-CN" dirty="0" err="1">
                <a:latin typeface="微软雅黑" panose="020B0503020204020204" pitchFamily="34" charset="-122"/>
                <a:ea typeface="微软雅黑" panose="020B0503020204020204" pitchFamily="34" charset="-122"/>
              </a:rPr>
              <a:t>j.err</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#SBATCH --output=%</a:t>
            </a:r>
            <a:r>
              <a:rPr lang="en-US" altLang="zh-CN" dirty="0" err="1">
                <a:latin typeface="微软雅黑" panose="020B0503020204020204" pitchFamily="34" charset="-122"/>
                <a:ea typeface="微软雅黑" panose="020B0503020204020204" pitchFamily="34" charset="-122"/>
              </a:rPr>
              <a:t>j.out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CURDIR=`</a:t>
            </a:r>
            <a:r>
              <a:rPr lang="en-US" altLang="zh-CN" dirty="0" err="1">
                <a:latin typeface="微软雅黑" panose="020B0503020204020204" pitchFamily="34" charset="-122"/>
                <a:ea typeface="微软雅黑" panose="020B0503020204020204" pitchFamily="34" charset="-122"/>
              </a:rPr>
              <a:t>pwd</a:t>
            </a:r>
            <a:r>
              <a:rPr lang="en-US" altLang="zh-CN" dirty="0">
                <a:latin typeface="微软雅黑" panose="020B0503020204020204" pitchFamily="34" charset="-122"/>
                <a:ea typeface="微软雅黑" panose="020B0503020204020204" pitchFamily="34" charset="-122"/>
              </a:rPr>
              <a:t>`</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NODES=`</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hostnames $SLURM_JOB_NODELIST`</a:t>
            </a:r>
          </a:p>
          <a:p>
            <a:r>
              <a:rPr lang="en-US" altLang="zh-CN" dirty="0">
                <a:latin typeface="微软雅黑" panose="020B0503020204020204" pitchFamily="34" charset="-122"/>
                <a:ea typeface="微软雅黑" panose="020B0503020204020204" pitchFamily="34" charset="-122"/>
              </a:rPr>
              <a:t>for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in $NODES</a:t>
            </a:r>
          </a:p>
          <a:p>
            <a:r>
              <a:rPr lang="en-US" altLang="zh-CN" dirty="0">
                <a:latin typeface="微软雅黑" panose="020B0503020204020204" pitchFamily="34" charset="-122"/>
                <a:ea typeface="微软雅黑" panose="020B0503020204020204" pitchFamily="34" charset="-122"/>
              </a:rPr>
              <a:t>do</a:t>
            </a:r>
          </a:p>
          <a:p>
            <a:r>
              <a:rPr lang="en-US" altLang="zh-CN" dirty="0">
                <a:latin typeface="微软雅黑" panose="020B0503020204020204" pitchFamily="34" charset="-122"/>
                <a:ea typeface="微软雅黑" panose="020B0503020204020204" pitchFamily="34" charset="-122"/>
              </a:rPr>
              <a:t>echo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:$SLURM_NTASKS_PER_NODE" &gt;&gt;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a:p>
            <a:r>
              <a:rPr lang="en-US" altLang="zh-CN" dirty="0">
                <a:latin typeface="微软雅黑" panose="020B0503020204020204" pitchFamily="34" charset="-122"/>
                <a:ea typeface="微软雅黑" panose="020B0503020204020204" pitchFamily="34" charset="-122"/>
              </a:rPr>
              <a:t>done</a:t>
            </a:r>
          </a:p>
          <a:p>
            <a:r>
              <a:rPr lang="en-US" altLang="zh-CN" dirty="0">
                <a:latin typeface="微软雅黑" panose="020B0503020204020204" pitchFamily="34" charset="-122"/>
                <a:ea typeface="微软雅黑" panose="020B0503020204020204" pitchFamily="34" charset="-122"/>
              </a:rPr>
              <a:t>echo $SLURM_NPROCS</a:t>
            </a:r>
          </a:p>
        </p:txBody>
      </p:sp>
    </p:spTree>
    <p:extLst>
      <p:ext uri="{BB962C8B-B14F-4D97-AF65-F5344CB8AC3E}">
        <p14:creationId xmlns:p14="http://schemas.microsoft.com/office/powerpoint/2010/main" val="1642790743"/>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74003"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5286534"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使用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gaussian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单节点</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OpenMP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a:t>
            </a:r>
          </a:p>
        </p:txBody>
      </p:sp>
      <p:sp>
        <p:nvSpPr>
          <p:cNvPr id="16" name="对角圆角矩形 15"/>
          <p:cNvSpPr/>
          <p:nvPr/>
        </p:nvSpPr>
        <p:spPr bwMode="auto">
          <a:xfrm>
            <a:off x="870195" y="818746"/>
            <a:ext cx="10820057" cy="518852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latin typeface="微软雅黑" panose="020B0503020204020204" pitchFamily="34" charset="-122"/>
                <a:ea typeface="微软雅黑" panose="020B0503020204020204" pitchFamily="34" charset="-122"/>
              </a:rPr>
              <a:t>echo "process will start at : "</a:t>
            </a:r>
          </a:p>
          <a:p>
            <a:r>
              <a:rPr lang="en-US" altLang="zh-CN" dirty="0">
                <a:latin typeface="微软雅黑" panose="020B0503020204020204" pitchFamily="34" charset="-122"/>
                <a:ea typeface="微软雅黑" panose="020B0503020204020204" pitchFamily="34" charset="-122"/>
              </a:rPr>
              <a:t>date</a:t>
            </a:r>
          </a:p>
          <a:p>
            <a:r>
              <a:rPr lang="en-US" altLang="zh-CN" dirty="0">
                <a:latin typeface="微软雅黑" panose="020B0503020204020204" pitchFamily="34" charset="-122"/>
                <a:ea typeface="微软雅黑" panose="020B0503020204020204" pitchFamily="34" charset="-122"/>
              </a:rPr>
              <a:t>echo "++++++++++++++++++++++++++++++++++++++++"</a:t>
            </a: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以下为</a:t>
            </a:r>
            <a:r>
              <a:rPr lang="en-US" altLang="zh-CN" dirty="0" err="1">
                <a:solidFill>
                  <a:srgbClr val="FF0000"/>
                </a:solidFill>
                <a:latin typeface="微软雅黑" panose="020B0503020204020204" pitchFamily="34" charset="-122"/>
                <a:ea typeface="微软雅黑" panose="020B0503020204020204" pitchFamily="34" charset="-122"/>
              </a:rPr>
              <a:t>gaussian</a:t>
            </a:r>
            <a:r>
              <a:rPr lang="zh-CN" altLang="en-US" dirty="0">
                <a:solidFill>
                  <a:srgbClr val="FF0000"/>
                </a:solidFill>
                <a:latin typeface="微软雅黑" panose="020B0503020204020204" pitchFamily="34" charset="-122"/>
                <a:ea typeface="微软雅黑" panose="020B0503020204020204" pitchFamily="34" charset="-122"/>
              </a:rPr>
              <a:t>软件使用方法，添加</a:t>
            </a:r>
            <a:r>
              <a:rPr lang="en-US" altLang="zh-CN" dirty="0" err="1">
                <a:solidFill>
                  <a:srgbClr val="FF0000"/>
                </a:solidFill>
                <a:latin typeface="微软雅黑" panose="020B0503020204020204" pitchFamily="34" charset="-122"/>
                <a:ea typeface="微软雅黑" panose="020B0503020204020204" pitchFamily="34" charset="-122"/>
              </a:rPr>
              <a:t>gaussian</a:t>
            </a:r>
            <a:r>
              <a:rPr lang="zh-CN" altLang="en-US" dirty="0">
                <a:solidFill>
                  <a:srgbClr val="FF0000"/>
                </a:solidFill>
                <a:latin typeface="微软雅黑" panose="020B0503020204020204" pitchFamily="34" charset="-122"/>
                <a:ea typeface="微软雅黑" panose="020B0503020204020204" pitchFamily="34" charset="-122"/>
              </a:rPr>
              <a:t>软件的临时目录</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#create a scratch directory for Gaussian</a:t>
            </a:r>
          </a:p>
          <a:p>
            <a:r>
              <a:rPr lang="en-US" altLang="zh-CN" dirty="0">
                <a:latin typeface="微软雅黑" panose="020B0503020204020204" pitchFamily="34" charset="-122"/>
                <a:ea typeface="微软雅黑" panose="020B0503020204020204" pitchFamily="34" charset="-122"/>
              </a:rPr>
              <a:t>GAUSS_SCRDIR=$CURDIR/</a:t>
            </a:r>
            <a:r>
              <a:rPr lang="en-US" altLang="zh-CN" dirty="0" err="1">
                <a:latin typeface="微软雅黑" panose="020B0503020204020204" pitchFamily="34" charset="-122"/>
                <a:ea typeface="微软雅黑" panose="020B0503020204020204" pitchFamily="34" charset="-122"/>
              </a:rPr>
              <a:t>tmp</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mkdir</a:t>
            </a:r>
            <a:r>
              <a:rPr lang="en-US" altLang="zh-CN" dirty="0">
                <a:latin typeface="微软雅黑" panose="020B0503020204020204" pitchFamily="34" charset="-122"/>
                <a:ea typeface="微软雅黑" panose="020B0503020204020204" pitchFamily="34" charset="-122"/>
              </a:rPr>
              <a:t> -p $GAUSS_SCRDIR</a:t>
            </a:r>
          </a:p>
          <a:p>
            <a:r>
              <a:rPr lang="en-US" altLang="zh-CN" dirty="0">
                <a:latin typeface="微软雅黑" panose="020B0503020204020204" pitchFamily="34" charset="-122"/>
                <a:ea typeface="微软雅黑" panose="020B0503020204020204" pitchFamily="34" charset="-122"/>
              </a:rPr>
              <a:t>export GAUSS_SCRDIR</a:t>
            </a: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以下按照</a:t>
            </a:r>
            <a:r>
              <a:rPr lang="en-US" altLang="zh-CN" dirty="0" err="1">
                <a:solidFill>
                  <a:srgbClr val="FF0000"/>
                </a:solidFill>
                <a:latin typeface="微软雅黑" panose="020B0503020204020204" pitchFamily="34" charset="-122"/>
                <a:ea typeface="微软雅黑" panose="020B0503020204020204" pitchFamily="34" charset="-122"/>
              </a:rPr>
              <a:t>gaussian</a:t>
            </a:r>
            <a:r>
              <a:rPr lang="zh-CN" altLang="en-US" dirty="0">
                <a:solidFill>
                  <a:srgbClr val="FF0000"/>
                </a:solidFill>
                <a:latin typeface="微软雅黑" panose="020B0503020204020204" pitchFamily="34" charset="-122"/>
                <a:ea typeface="微软雅黑" panose="020B0503020204020204" pitchFamily="34" charset="-122"/>
              </a:rPr>
              <a:t>基于</a:t>
            </a:r>
            <a:r>
              <a:rPr lang="en-US" altLang="zh-CN" dirty="0">
                <a:solidFill>
                  <a:srgbClr val="FF0000"/>
                </a:solidFill>
                <a:latin typeface="微软雅黑" panose="020B0503020204020204" pitchFamily="34" charset="-122"/>
                <a:ea typeface="微软雅黑" panose="020B0503020204020204" pitchFamily="34" charset="-122"/>
              </a:rPr>
              <a:t>CPU</a:t>
            </a:r>
            <a:r>
              <a:rPr lang="zh-CN" altLang="en-US" dirty="0">
                <a:solidFill>
                  <a:srgbClr val="FF0000"/>
                </a:solidFill>
                <a:latin typeface="微软雅黑" panose="020B0503020204020204" pitchFamily="34" charset="-122"/>
                <a:ea typeface="微软雅黑" panose="020B0503020204020204" pitchFamily="34" charset="-122"/>
              </a:rPr>
              <a:t>单节点</a:t>
            </a:r>
            <a:r>
              <a:rPr lang="en-US" altLang="zh-CN" dirty="0" err="1">
                <a:solidFill>
                  <a:srgbClr val="FF0000"/>
                </a:solidFill>
                <a:latin typeface="微软雅黑" panose="020B0503020204020204" pitchFamily="34" charset="-122"/>
                <a:ea typeface="微软雅黑" panose="020B0503020204020204" pitchFamily="34" charset="-122"/>
              </a:rPr>
              <a:t>OpenMP</a:t>
            </a:r>
            <a:r>
              <a:rPr lang="zh-CN" altLang="en-US" dirty="0">
                <a:solidFill>
                  <a:srgbClr val="FF0000"/>
                </a:solidFill>
                <a:latin typeface="微软雅黑" panose="020B0503020204020204" pitchFamily="34" charset="-122"/>
                <a:ea typeface="微软雅黑" panose="020B0503020204020204" pitchFamily="34" charset="-122"/>
              </a:rPr>
              <a:t>计算的需求，添加所需要用到的</a:t>
            </a:r>
            <a:r>
              <a:rPr lang="en-US" altLang="zh-CN" dirty="0" err="1">
                <a:solidFill>
                  <a:srgbClr val="FF0000"/>
                </a:solidFill>
                <a:latin typeface="微软雅黑" panose="020B0503020204020204" pitchFamily="34" charset="-122"/>
                <a:ea typeface="微软雅黑" panose="020B0503020204020204" pitchFamily="34" charset="-122"/>
              </a:rPr>
              <a:t>gaussian</a:t>
            </a:r>
            <a:r>
              <a:rPr lang="zh-CN" altLang="en-US" dirty="0">
                <a:solidFill>
                  <a:srgbClr val="FF0000"/>
                </a:solidFill>
                <a:latin typeface="微软雅黑" panose="020B0503020204020204" pitchFamily="34" charset="-122"/>
                <a:ea typeface="微软雅黑" panose="020B0503020204020204" pitchFamily="34" charset="-122"/>
              </a:rPr>
              <a:t>软件环境变量</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 setup environment for Gaussian</a:t>
            </a:r>
          </a:p>
          <a:p>
            <a:r>
              <a:rPr lang="en-US" altLang="zh-CN" dirty="0">
                <a:solidFill>
                  <a:srgbClr val="FF0000"/>
                </a:solidFill>
                <a:latin typeface="微软雅黑" panose="020B0503020204020204" pitchFamily="34" charset="-122"/>
                <a:ea typeface="微软雅黑" panose="020B0503020204020204" pitchFamily="34" charset="-122"/>
              </a:rPr>
              <a:t>export g09root=/</a:t>
            </a:r>
            <a:r>
              <a:rPr lang="en-US" altLang="zh-CN" dirty="0" err="1">
                <a:solidFill>
                  <a:srgbClr val="FF0000"/>
                </a:solidFill>
                <a:latin typeface="微软雅黑" panose="020B0503020204020204" pitchFamily="34" charset="-122"/>
                <a:ea typeface="微软雅黑" panose="020B0503020204020204" pitchFamily="34" charset="-122"/>
              </a:rPr>
              <a:t>gpfs</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err="1">
                <a:solidFill>
                  <a:srgbClr val="FF0000"/>
                </a:solidFill>
                <a:latin typeface="微软雅黑" panose="020B0503020204020204" pitchFamily="34" charset="-122"/>
                <a:ea typeface="微软雅黑" panose="020B0503020204020204" pitchFamily="34" charset="-122"/>
              </a:rPr>
              <a:t>hpc</a:t>
            </a:r>
            <a:r>
              <a:rPr lang="en-US" altLang="zh-CN" dirty="0">
                <a:solidFill>
                  <a:srgbClr val="FF0000"/>
                </a:solidFill>
                <a:latin typeface="微软雅黑" panose="020B0503020204020204" pitchFamily="34" charset="-122"/>
                <a:ea typeface="微软雅黑" panose="020B0503020204020204" pitchFamily="34" charset="-122"/>
              </a:rPr>
              <a:t>/software/gaussian       #</a:t>
            </a:r>
            <a:r>
              <a:rPr lang="zh-CN" altLang="en-US" dirty="0">
                <a:solidFill>
                  <a:srgbClr val="FF0000"/>
                </a:solidFill>
                <a:latin typeface="微软雅黑" panose="020B0503020204020204" pitchFamily="34" charset="-122"/>
                <a:ea typeface="微软雅黑" panose="020B0503020204020204" pitchFamily="34" charset="-122"/>
              </a:rPr>
              <a:t>定义高斯</a:t>
            </a:r>
            <a:r>
              <a:rPr lang="en-US" altLang="zh-CN" dirty="0">
                <a:solidFill>
                  <a:srgbClr val="FF0000"/>
                </a:solidFill>
                <a:latin typeface="微软雅黑" panose="020B0503020204020204" pitchFamily="34" charset="-122"/>
                <a:ea typeface="微软雅黑" panose="020B0503020204020204" pitchFamily="34" charset="-122"/>
              </a:rPr>
              <a:t>09</a:t>
            </a:r>
            <a:r>
              <a:rPr lang="zh-CN" altLang="en-US" dirty="0">
                <a:solidFill>
                  <a:srgbClr val="FF0000"/>
                </a:solidFill>
                <a:latin typeface="微软雅黑" panose="020B0503020204020204" pitchFamily="34" charset="-122"/>
                <a:ea typeface="微软雅黑" panose="020B0503020204020204" pitchFamily="34" charset="-122"/>
              </a:rPr>
              <a:t>软件</a:t>
            </a:r>
            <a:r>
              <a:rPr lang="en-US" altLang="zh-CN" dirty="0" err="1">
                <a:solidFill>
                  <a:srgbClr val="FF0000"/>
                </a:solidFill>
                <a:latin typeface="微软雅黑" panose="020B0503020204020204" pitchFamily="34" charset="-122"/>
                <a:ea typeface="微软雅黑" panose="020B0503020204020204" pitchFamily="34" charset="-122"/>
              </a:rPr>
              <a:t>gpfs</a:t>
            </a:r>
            <a:r>
              <a:rPr lang="zh-CN" altLang="en-US" dirty="0">
                <a:solidFill>
                  <a:srgbClr val="FF0000"/>
                </a:solidFill>
                <a:latin typeface="微软雅黑" panose="020B0503020204020204" pitchFamily="34" charset="-122"/>
                <a:ea typeface="微软雅黑" panose="020B0503020204020204" pitchFamily="34" charset="-122"/>
              </a:rPr>
              <a:t>目录</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source $g09root/g09/</a:t>
            </a:r>
            <a:r>
              <a:rPr lang="en-US" altLang="zh-CN" dirty="0" err="1">
                <a:solidFill>
                  <a:srgbClr val="FF0000"/>
                </a:solidFill>
                <a:latin typeface="微软雅黑" panose="020B0503020204020204" pitchFamily="34" charset="-122"/>
                <a:ea typeface="微软雅黑" panose="020B0503020204020204" pitchFamily="34" charset="-122"/>
              </a:rPr>
              <a:t>bsd</a:t>
            </a:r>
            <a:r>
              <a:rPr lang="en-US" altLang="zh-CN" dirty="0">
                <a:solidFill>
                  <a:srgbClr val="FF0000"/>
                </a:solidFill>
                <a:latin typeface="微软雅黑" panose="020B0503020204020204" pitchFamily="34" charset="-122"/>
                <a:ea typeface="微软雅黑" panose="020B0503020204020204" pitchFamily="34" charset="-122"/>
              </a:rPr>
              <a:t>/g09.profile                          #</a:t>
            </a:r>
            <a:r>
              <a:rPr lang="zh-CN" altLang="en-US" dirty="0">
                <a:solidFill>
                  <a:srgbClr val="FF0000"/>
                </a:solidFill>
                <a:latin typeface="微软雅黑" panose="020B0503020204020204" pitchFamily="34" charset="-122"/>
                <a:ea typeface="微软雅黑" panose="020B0503020204020204" pitchFamily="34" charset="-122"/>
              </a:rPr>
              <a:t>定义高斯</a:t>
            </a:r>
            <a:r>
              <a:rPr lang="en-US" altLang="zh-CN" dirty="0">
                <a:solidFill>
                  <a:srgbClr val="FF0000"/>
                </a:solidFill>
                <a:latin typeface="微软雅黑" panose="020B0503020204020204" pitchFamily="34" charset="-122"/>
                <a:ea typeface="微软雅黑" panose="020B0503020204020204" pitchFamily="34" charset="-122"/>
              </a:rPr>
              <a:t>09</a:t>
            </a:r>
            <a:r>
              <a:rPr lang="zh-CN" altLang="en-US" dirty="0">
                <a:solidFill>
                  <a:srgbClr val="FF0000"/>
                </a:solidFill>
                <a:latin typeface="微软雅黑" panose="020B0503020204020204" pitchFamily="34" charset="-122"/>
                <a:ea typeface="微软雅黑" panose="020B0503020204020204" pitchFamily="34" charset="-122"/>
              </a:rPr>
              <a:t>软件的环境变量</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3222260"/>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8" y="-1"/>
                <a:ext cx="545765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5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a:t>
                </a: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shell</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使用介绍</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5286534"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Slurm</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作业模板介绍</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使用</a:t>
            </a:r>
            <a:r>
              <a:rPr lang="en-US" altLang="zh-CN"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CPU</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计算的</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gaussian</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单节点</a:t>
            </a:r>
            <a:r>
              <a:rPr lang="en-US" altLang="zh-CN" sz="1896" dirty="0" err="1">
                <a:solidFill>
                  <a:srgbClr val="0070C0"/>
                </a:solidFill>
                <a:latin typeface="微软雅黑" panose="020B0503020204020204" pitchFamily="34" charset="-122"/>
                <a:ea typeface="微软雅黑" panose="020B0503020204020204" pitchFamily="34" charset="-122"/>
                <a:sym typeface="宋体" panose="02010600030101010101" pitchFamily="2" charset="-122"/>
              </a:rPr>
              <a:t>OpenMP</a:t>
            </a:r>
            <a:r>
              <a:rPr lang="zh-CN" altLang="en-US" sz="1896" dirty="0">
                <a:solidFill>
                  <a:srgbClr val="0070C0"/>
                </a:solidFill>
                <a:latin typeface="微软雅黑" panose="020B0503020204020204" pitchFamily="34" charset="-122"/>
                <a:ea typeface="微软雅黑" panose="020B0503020204020204" pitchFamily="34" charset="-122"/>
                <a:sym typeface="宋体" panose="02010600030101010101" pitchFamily="2" charset="-122"/>
              </a:rPr>
              <a:t>作业脚本</a:t>
            </a:r>
          </a:p>
        </p:txBody>
      </p:sp>
      <p:sp>
        <p:nvSpPr>
          <p:cNvPr id="16" name="对角圆角矩形 15"/>
          <p:cNvSpPr/>
          <p:nvPr/>
        </p:nvSpPr>
        <p:spPr bwMode="auto">
          <a:xfrm>
            <a:off x="870195" y="818746"/>
            <a:ext cx="10820057" cy="518852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该部分命令为</a:t>
            </a:r>
            <a:r>
              <a:rPr lang="en-US" altLang="zh-CN" dirty="0" err="1">
                <a:solidFill>
                  <a:srgbClr val="FF0000"/>
                </a:solidFill>
                <a:latin typeface="微软雅黑" panose="020B0503020204020204" pitchFamily="34" charset="-122"/>
                <a:ea typeface="微软雅黑" panose="020B0503020204020204" pitchFamily="34" charset="-122"/>
              </a:rPr>
              <a:t>gaussian</a:t>
            </a:r>
            <a:r>
              <a:rPr lang="zh-CN" altLang="en-US" dirty="0">
                <a:solidFill>
                  <a:srgbClr val="FF0000"/>
                </a:solidFill>
                <a:latin typeface="微软雅黑" panose="020B0503020204020204" pitchFamily="34" charset="-122"/>
                <a:ea typeface="微软雅黑" panose="020B0503020204020204" pitchFamily="34" charset="-122"/>
              </a:rPr>
              <a:t>跑单节点</a:t>
            </a:r>
            <a:r>
              <a:rPr lang="en-US" altLang="zh-CN" dirty="0" err="1">
                <a:solidFill>
                  <a:srgbClr val="FF0000"/>
                </a:solidFill>
                <a:latin typeface="微软雅黑" panose="020B0503020204020204" pitchFamily="34" charset="-122"/>
                <a:ea typeface="微软雅黑" panose="020B0503020204020204" pitchFamily="34" charset="-122"/>
              </a:rPr>
              <a:t>OpenMP</a:t>
            </a:r>
            <a:r>
              <a:rPr lang="zh-CN" altLang="en-US" dirty="0">
                <a:solidFill>
                  <a:srgbClr val="FF0000"/>
                </a:solidFill>
                <a:latin typeface="微软雅黑" panose="020B0503020204020204" pitchFamily="34" charset="-122"/>
                <a:ea typeface="微软雅黑" panose="020B0503020204020204" pitchFamily="34" charset="-122"/>
              </a:rPr>
              <a:t>模式的命令格式。</a:t>
            </a:r>
            <a:endParaRPr lang="en-US" altLang="zh-CN" dirty="0">
              <a:solidFill>
                <a:srgbClr val="FF0000"/>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#Run a Gaussian command file</a:t>
            </a:r>
          </a:p>
          <a:p>
            <a:r>
              <a:rPr lang="en-US" altLang="zh-CN" dirty="0">
                <a:solidFill>
                  <a:srgbClr val="FF0000"/>
                </a:solidFill>
                <a:latin typeface="微软雅黑" panose="020B0503020204020204" pitchFamily="34" charset="-122"/>
                <a:ea typeface="微软雅黑" panose="020B0503020204020204" pitchFamily="34" charset="-122"/>
              </a:rPr>
              <a:t>echo "Starting Gaussian Program </a:t>
            </a:r>
            <a:r>
              <a:rPr lang="en-US" altLang="zh-CN" dirty="0" err="1">
                <a:solidFill>
                  <a:srgbClr val="FF0000"/>
                </a:solidFill>
                <a:latin typeface="微软雅黑" panose="020B0503020204020204" pitchFamily="34" charset="-122"/>
                <a:ea typeface="微软雅黑" panose="020B0503020204020204" pitchFamily="34" charset="-122"/>
              </a:rPr>
              <a:t>at"`date</a:t>
            </a:r>
            <a:r>
              <a:rPr lang="en-US" altLang="zh-CN" dirty="0">
                <a:solidFill>
                  <a:srgbClr val="FF0000"/>
                </a:solidFill>
                <a:latin typeface="微软雅黑" panose="020B0503020204020204" pitchFamily="34" charset="-122"/>
                <a:ea typeface="微软雅黑" panose="020B0503020204020204" pitchFamily="34" charset="-122"/>
              </a:rPr>
              <a:t>`</a:t>
            </a:r>
          </a:p>
          <a:p>
            <a:r>
              <a:rPr lang="en-US" altLang="zh-CN" dirty="0">
                <a:solidFill>
                  <a:srgbClr val="FF0000"/>
                </a:solidFill>
                <a:latin typeface="微软雅黑" panose="020B0503020204020204" pitchFamily="34" charset="-122"/>
                <a:ea typeface="微软雅黑" panose="020B0503020204020204" pitchFamily="34" charset="-122"/>
              </a:rPr>
              <a:t>for </a:t>
            </a:r>
            <a:r>
              <a:rPr lang="en-US" altLang="zh-CN" dirty="0" err="1">
                <a:solidFill>
                  <a:srgbClr val="FF0000"/>
                </a:solidFill>
                <a:latin typeface="微软雅黑" panose="020B0503020204020204" pitchFamily="34" charset="-122"/>
                <a:ea typeface="微软雅黑" panose="020B0503020204020204" pitchFamily="34" charset="-122"/>
              </a:rPr>
              <a:t>i</a:t>
            </a:r>
            <a:r>
              <a:rPr lang="en-US" altLang="zh-CN" dirty="0">
                <a:solidFill>
                  <a:srgbClr val="FF0000"/>
                </a:solidFill>
                <a:latin typeface="微软雅黑" panose="020B0503020204020204" pitchFamily="34" charset="-122"/>
                <a:ea typeface="微软雅黑" panose="020B0503020204020204" pitchFamily="34" charset="-122"/>
              </a:rPr>
              <a:t> in `ls *.</a:t>
            </a:r>
            <a:r>
              <a:rPr lang="en-US" altLang="zh-CN" dirty="0" err="1">
                <a:solidFill>
                  <a:srgbClr val="FF0000"/>
                </a:solidFill>
                <a:latin typeface="微软雅黑" panose="020B0503020204020204" pitchFamily="34" charset="-122"/>
                <a:ea typeface="微软雅黑" panose="020B0503020204020204" pitchFamily="34" charset="-122"/>
              </a:rPr>
              <a:t>gjf</a:t>
            </a:r>
            <a:r>
              <a:rPr lang="en-US" altLang="zh-CN" dirty="0">
                <a:solidFill>
                  <a:srgbClr val="FF0000"/>
                </a:solidFill>
                <a:latin typeface="微软雅黑" panose="020B0503020204020204" pitchFamily="34" charset="-122"/>
                <a:ea typeface="微软雅黑" panose="020B0503020204020204" pitchFamily="34" charset="-122"/>
              </a:rPr>
              <a:t>`</a:t>
            </a:r>
          </a:p>
          <a:p>
            <a:r>
              <a:rPr lang="en-US" altLang="zh-CN" dirty="0">
                <a:solidFill>
                  <a:srgbClr val="FF0000"/>
                </a:solidFill>
                <a:latin typeface="微软雅黑" panose="020B0503020204020204" pitchFamily="34" charset="-122"/>
                <a:ea typeface="微软雅黑" panose="020B0503020204020204" pitchFamily="34" charset="-122"/>
              </a:rPr>
              <a:t>do</a:t>
            </a:r>
          </a:p>
          <a:p>
            <a:r>
              <a:rPr lang="en-US" altLang="zh-CN" dirty="0">
                <a:solidFill>
                  <a:srgbClr val="FF0000"/>
                </a:solidFill>
                <a:latin typeface="微软雅黑" panose="020B0503020204020204" pitchFamily="34" charset="-122"/>
                <a:ea typeface="微软雅黑" panose="020B0503020204020204" pitchFamily="34" charset="-122"/>
              </a:rPr>
              <a:t>   g09 $</a:t>
            </a:r>
            <a:r>
              <a:rPr lang="en-US" altLang="zh-CN" dirty="0" err="1">
                <a:solidFill>
                  <a:srgbClr val="FF0000"/>
                </a:solidFill>
                <a:latin typeface="微软雅黑" panose="020B0503020204020204" pitchFamily="34" charset="-122"/>
                <a:ea typeface="微软雅黑" panose="020B0503020204020204" pitchFamily="34" charset="-122"/>
              </a:rPr>
              <a:t>i</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   name=`</a:t>
            </a:r>
            <a:r>
              <a:rPr lang="en-US" altLang="zh-CN" dirty="0" err="1">
                <a:solidFill>
                  <a:srgbClr val="FF0000"/>
                </a:solidFill>
                <a:latin typeface="微软雅黑" panose="020B0503020204020204" pitchFamily="34" charset="-122"/>
                <a:ea typeface="微软雅黑" panose="020B0503020204020204" pitchFamily="34" charset="-122"/>
              </a:rPr>
              <a:t>basename</a:t>
            </a:r>
            <a:r>
              <a:rPr lang="en-US" altLang="zh-CN" dirty="0">
                <a:solidFill>
                  <a:srgbClr val="FF0000"/>
                </a:solidFill>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i</a:t>
            </a:r>
            <a:r>
              <a:rPr lang="en-US" altLang="zh-CN" dirty="0">
                <a:solidFill>
                  <a:srgbClr val="FF0000"/>
                </a:solidFill>
                <a:latin typeface="微软雅黑" panose="020B0503020204020204" pitchFamily="34" charset="-122"/>
                <a:ea typeface="微软雅黑" panose="020B0503020204020204" pitchFamily="34" charset="-122"/>
              </a:rPr>
              <a:t>| </a:t>
            </a:r>
            <a:r>
              <a:rPr lang="en-US" altLang="zh-CN" dirty="0" err="1">
                <a:solidFill>
                  <a:srgbClr val="FF0000"/>
                </a:solidFill>
                <a:latin typeface="微软雅黑" panose="020B0503020204020204" pitchFamily="34" charset="-122"/>
                <a:ea typeface="微软雅黑" panose="020B0503020204020204" pitchFamily="34" charset="-122"/>
              </a:rPr>
              <a:t>awk</a:t>
            </a:r>
            <a:r>
              <a:rPr lang="en-US" altLang="zh-CN" dirty="0">
                <a:solidFill>
                  <a:srgbClr val="FF0000"/>
                </a:solidFill>
                <a:latin typeface="微软雅黑" panose="020B0503020204020204" pitchFamily="34" charset="-122"/>
                <a:ea typeface="微软雅黑" panose="020B0503020204020204" pitchFamily="34" charset="-122"/>
              </a:rPr>
              <a:t> -F "." '{print $1}'`</a:t>
            </a:r>
          </a:p>
          <a:p>
            <a:r>
              <a:rPr lang="en-US" altLang="zh-CN" dirty="0">
                <a:solidFill>
                  <a:srgbClr val="FF0000"/>
                </a:solidFill>
                <a:latin typeface="微软雅黑" panose="020B0503020204020204" pitchFamily="34" charset="-122"/>
                <a:ea typeface="微软雅黑" panose="020B0503020204020204" pitchFamily="34" charset="-122"/>
              </a:rPr>
              <a:t>done</a:t>
            </a:r>
          </a:p>
          <a:p>
            <a:r>
              <a:rPr lang="en-US" altLang="zh-CN" dirty="0">
                <a:solidFill>
                  <a:srgbClr val="FF0000"/>
                </a:solidFill>
                <a:latin typeface="微软雅黑" panose="020B0503020204020204" pitchFamily="34" charset="-122"/>
                <a:ea typeface="微软雅黑" panose="020B0503020204020204" pitchFamily="34" charset="-122"/>
              </a:rPr>
              <a:t>echo "Gaussian Program Finished </a:t>
            </a:r>
            <a:r>
              <a:rPr lang="en-US" altLang="zh-CN" dirty="0" err="1">
                <a:solidFill>
                  <a:srgbClr val="FF0000"/>
                </a:solidFill>
                <a:latin typeface="微软雅黑" panose="020B0503020204020204" pitchFamily="34" charset="-122"/>
                <a:ea typeface="微软雅黑" panose="020B0503020204020204" pitchFamily="34" charset="-122"/>
              </a:rPr>
              <a:t>at"`date</a:t>
            </a:r>
            <a:r>
              <a:rPr lang="en-US" altLang="zh-CN" dirty="0">
                <a:solidFill>
                  <a:srgbClr val="FF0000"/>
                </a:solidFill>
                <a:latin typeface="微软雅黑" panose="020B0503020204020204" pitchFamily="34" charset="-122"/>
                <a:ea typeface="微软雅黑" panose="020B0503020204020204" pitchFamily="34" charset="-122"/>
              </a:rPr>
              <a:t>`</a:t>
            </a:r>
          </a:p>
          <a:p>
            <a:r>
              <a:rPr lang="en-US" altLang="zh-CN" dirty="0">
                <a:solidFill>
                  <a:srgbClr val="FF0000"/>
                </a:solidFill>
                <a:latin typeface="微软雅黑" panose="020B0503020204020204" pitchFamily="34" charset="-122"/>
                <a:ea typeface="微软雅黑" panose="020B0503020204020204" pitchFamily="34" charset="-122"/>
              </a:rPr>
              <a:t>echo "Removing scratch files ...."</a:t>
            </a: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echo "++++++++++++++++++++++++++++++++++++++++"</a:t>
            </a:r>
          </a:p>
          <a:p>
            <a:r>
              <a:rPr lang="en-US" altLang="zh-CN" dirty="0">
                <a:latin typeface="微软雅黑" panose="020B0503020204020204" pitchFamily="34" charset="-122"/>
                <a:ea typeface="微软雅黑" panose="020B0503020204020204" pitchFamily="34" charset="-122"/>
              </a:rPr>
              <a:t>echo "process will sleep 30s"</a:t>
            </a:r>
          </a:p>
          <a:p>
            <a:r>
              <a:rPr lang="en-US" altLang="zh-CN" dirty="0">
                <a:latin typeface="微软雅黑" panose="020B0503020204020204" pitchFamily="34" charset="-122"/>
                <a:ea typeface="微软雅黑" panose="020B0503020204020204" pitchFamily="34" charset="-122"/>
              </a:rPr>
              <a:t>sleep 30</a:t>
            </a:r>
          </a:p>
          <a:p>
            <a:r>
              <a:rPr lang="en-US" altLang="zh-CN" dirty="0">
                <a:latin typeface="微软雅黑" panose="020B0503020204020204" pitchFamily="34" charset="-122"/>
                <a:ea typeface="微软雅黑" panose="020B0503020204020204" pitchFamily="34" charset="-122"/>
              </a:rPr>
              <a:t>echo "process end at : "</a:t>
            </a:r>
          </a:p>
          <a:p>
            <a:r>
              <a:rPr lang="en-US" altLang="zh-CN" dirty="0">
                <a:latin typeface="微软雅黑" panose="020B0503020204020204" pitchFamily="34" charset="-122"/>
                <a:ea typeface="微软雅黑" panose="020B0503020204020204" pitchFamily="34" charset="-122"/>
              </a:rPr>
              <a:t>date</a:t>
            </a:r>
          </a:p>
          <a:p>
            <a:r>
              <a:rPr lang="en-US" altLang="zh-CN" dirty="0" err="1">
                <a:latin typeface="微软雅黑" panose="020B0503020204020204" pitchFamily="34" charset="-122"/>
                <a:ea typeface="微软雅黑" panose="020B0503020204020204" pitchFamily="34" charset="-122"/>
              </a:rPr>
              <a:t>rm</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rf</a:t>
            </a:r>
            <a:r>
              <a:rPr lang="en-US" altLang="zh-CN" dirty="0">
                <a:latin typeface="微软雅黑" panose="020B0503020204020204" pitchFamily="34" charset="-122"/>
                <a:ea typeface="微软雅黑" panose="020B0503020204020204" pitchFamily="34" charset="-122"/>
              </a:rPr>
              <a:t> $CURDIR/</a:t>
            </a:r>
            <a:r>
              <a:rPr lang="en-US" altLang="zh-CN" dirty="0" err="1">
                <a:latin typeface="微软雅黑" panose="020B0503020204020204" pitchFamily="34" charset="-122"/>
                <a:ea typeface="微软雅黑" panose="020B0503020204020204" pitchFamily="34" charset="-122"/>
              </a:rPr>
              <a:t>nodelist</a:t>
            </a:r>
            <a:r>
              <a:rPr lang="en-US" altLang="zh-CN" dirty="0">
                <a:latin typeface="微软雅黑" panose="020B0503020204020204" pitchFamily="34" charset="-122"/>
                <a:ea typeface="微软雅黑" panose="020B0503020204020204" pitchFamily="34" charset="-122"/>
              </a:rPr>
              <a:t>.$SLURM_JOB_ID</a:t>
            </a:r>
          </a:p>
        </p:txBody>
      </p:sp>
    </p:spTree>
    <p:extLst>
      <p:ext uri="{BB962C8B-B14F-4D97-AF65-F5344CB8AC3E}">
        <p14:creationId xmlns:p14="http://schemas.microsoft.com/office/powerpoint/2010/main" val="955347430"/>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4997537" y="3380665"/>
            <a:ext cx="6238347" cy="648051"/>
          </a:xfrm>
        </p:spPr>
        <p:txBody>
          <a:bodyPr/>
          <a:lstStyle/>
          <a:p>
            <a:pPr algn="l" defTabSz="867034" fontAlgn="auto">
              <a:spcBef>
                <a:spcPts val="0"/>
              </a:spcBef>
              <a:spcAft>
                <a:spcPts val="0"/>
              </a:spcAft>
              <a:defRPr/>
            </a:pPr>
            <a:r>
              <a:rPr lang="zh-CN" altLang="en-US" sz="4000" b="1" dirty="0">
                <a:solidFill>
                  <a:prstClr val="black">
                    <a:lumMod val="75000"/>
                    <a:lumOff val="25000"/>
                  </a:prstClr>
                </a:solidFill>
                <a:sym typeface="SF Orson Casual Heavy" panose="00000400000000000000" pitchFamily="2" charset="0"/>
              </a:rPr>
              <a:t>集群使用和故障报修</a:t>
            </a: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6</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Tree>
    <p:extLst>
      <p:ext uri="{BB962C8B-B14F-4D97-AF65-F5344CB8AC3E}">
        <p14:creationId xmlns:p14="http://schemas.microsoft.com/office/powerpoint/2010/main" val="2376638857"/>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6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集群使用和故障报修</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8" name="对角圆角矩形 17"/>
          <p:cNvSpPr/>
          <p:nvPr/>
        </p:nvSpPr>
        <p:spPr bwMode="auto">
          <a:xfrm>
            <a:off x="977353" y="676824"/>
            <a:ext cx="10553870" cy="3792739"/>
          </a:xfrm>
          <a:prstGeom prst="round2DiagRect">
            <a:avLst>
              <a:gd name="adj1" fmla="val 5646"/>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latin typeface="微软雅黑" panose="020B0503020204020204" pitchFamily="34" charset="-122"/>
                <a:ea typeface="微软雅黑" panose="020B0503020204020204" pitchFamily="34" charset="-122"/>
              </a:rPr>
              <a:t>一、开机步骤说明：</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确认动力配电柜中各空开都已开启</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然后将机房内精密空调打开，待机房内温湿度环境稳定后再执行下一步操作；</a:t>
            </a:r>
          </a:p>
          <a:p>
            <a:r>
              <a:rPr lang="en-US" altLang="zh-CN" dirty="0">
                <a:latin typeface="微软雅黑" panose="020B0503020204020204" pitchFamily="34" charset="-122"/>
                <a:ea typeface="微软雅黑" panose="020B0503020204020204" pitchFamily="34" charset="-122"/>
              </a:rPr>
              <a:t>2.</a:t>
            </a:r>
            <a:r>
              <a:rPr lang="zh-CN" altLang="zh-CN" dirty="0">
                <a:latin typeface="微软雅黑" panose="020B0503020204020204" pitchFamily="34" charset="-122"/>
                <a:ea typeface="微软雅黑" panose="020B0503020204020204" pitchFamily="34" charset="-122"/>
              </a:rPr>
              <a:t>千兆和</a:t>
            </a:r>
            <a:r>
              <a:rPr lang="en-US" altLang="zh-CN" dirty="0">
                <a:latin typeface="微软雅黑" panose="020B0503020204020204" pitchFamily="34" charset="-122"/>
                <a:ea typeface="微软雅黑" panose="020B0503020204020204" pitchFamily="34" charset="-122"/>
              </a:rPr>
              <a:t>IB</a:t>
            </a:r>
            <a:r>
              <a:rPr lang="zh-CN" altLang="zh-CN" dirty="0">
                <a:latin typeface="微软雅黑" panose="020B0503020204020204" pitchFamily="34" charset="-122"/>
                <a:ea typeface="微软雅黑" panose="020B0503020204020204" pitchFamily="34" charset="-122"/>
              </a:rPr>
              <a:t>交换机</a:t>
            </a:r>
            <a:r>
              <a:rPr lang="zh-CN" altLang="en-US" dirty="0">
                <a:latin typeface="微软雅黑" panose="020B0503020204020204" pitchFamily="34" charset="-122"/>
                <a:ea typeface="微软雅黑" panose="020B0503020204020204" pitchFamily="34" charset="-122"/>
              </a:rPr>
              <a:t>加电</a:t>
            </a:r>
            <a:r>
              <a:rPr lang="zh-CN" altLang="zh-CN" dirty="0">
                <a:latin typeface="微软雅黑" panose="020B0503020204020204" pitchFamily="34" charset="-122"/>
                <a:ea typeface="微软雅黑" panose="020B0503020204020204" pitchFamily="34" charset="-122"/>
              </a:rPr>
              <a:t>，等待约五分钟，</a:t>
            </a:r>
            <a:r>
              <a:rPr lang="zh-CN" altLang="en-US" dirty="0">
                <a:latin typeface="微软雅黑" panose="020B0503020204020204" pitchFamily="34" charset="-122"/>
                <a:ea typeface="微软雅黑" panose="020B0503020204020204" pitchFamily="34" charset="-122"/>
              </a:rPr>
              <a:t>等待</a:t>
            </a:r>
            <a:r>
              <a:rPr lang="zh-CN" altLang="zh-CN" dirty="0">
                <a:latin typeface="微软雅黑" panose="020B0503020204020204" pitchFamily="34" charset="-122"/>
                <a:ea typeface="微软雅黑" panose="020B0503020204020204" pitchFamily="34" charset="-122"/>
              </a:rPr>
              <a:t>交换机初始化完成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开启</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台存储节点</a:t>
            </a:r>
            <a:r>
              <a:rPr lang="en-US" altLang="zh-CN" dirty="0">
                <a:latin typeface="微软雅黑" panose="020B0503020204020204" pitchFamily="34" charset="-122"/>
                <a:ea typeface="微软雅黑" panose="020B0503020204020204" pitchFamily="34" charset="-122"/>
              </a:rPr>
              <a:t>inspur01-inspur03</a:t>
            </a:r>
            <a:r>
              <a:rPr lang="zh-CN" altLang="en-US" dirty="0">
                <a:latin typeface="微软雅黑" panose="020B0503020204020204" pitchFamily="34" charset="-122"/>
                <a:ea typeface="微软雅黑" panose="020B0503020204020204" pitchFamily="34" charset="-122"/>
              </a:rPr>
              <a:t>，等待</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分钟</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4.HPC</a:t>
            </a:r>
            <a:r>
              <a:rPr lang="zh-CN" altLang="zh-CN" dirty="0">
                <a:latin typeface="微软雅黑" panose="020B0503020204020204" pitchFamily="34" charset="-122"/>
                <a:ea typeface="微软雅黑" panose="020B0503020204020204" pitchFamily="34" charset="-122"/>
              </a:rPr>
              <a:t>集群管理节点</a:t>
            </a:r>
            <a:r>
              <a:rPr lang="en-US" altLang="zh-CN" dirty="0">
                <a:latin typeface="微软雅黑" panose="020B0503020204020204" pitchFamily="34" charset="-122"/>
                <a:ea typeface="微软雅黑" panose="020B0503020204020204" pitchFamily="34" charset="-122"/>
              </a:rPr>
              <a:t>mu01</a:t>
            </a:r>
            <a:r>
              <a:rPr lang="zh-CN" altLang="en-US" dirty="0">
                <a:latin typeface="微软雅黑" panose="020B0503020204020204" pitchFamily="34" charset="-122"/>
                <a:ea typeface="微软雅黑" panose="020B0503020204020204" pitchFamily="34" charset="-122"/>
              </a:rPr>
              <a:t>开机</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5.</a:t>
            </a:r>
            <a:r>
              <a:rPr lang="zh-CN" altLang="zh-CN" dirty="0">
                <a:latin typeface="微软雅黑" panose="020B0503020204020204" pitchFamily="34" charset="-122"/>
                <a:ea typeface="微软雅黑" panose="020B0503020204020204" pitchFamily="34" charset="-122"/>
              </a:rPr>
              <a:t>所有</a:t>
            </a:r>
            <a:r>
              <a:rPr lang="zh-CN" altLang="en-US" dirty="0">
                <a:latin typeface="微软雅黑" panose="020B0503020204020204" pitchFamily="34" charset="-122"/>
                <a:ea typeface="微软雅黑" panose="020B0503020204020204" pitchFamily="34" charset="-122"/>
              </a:rPr>
              <a:t>剩余</a:t>
            </a:r>
            <a:r>
              <a:rPr lang="zh-CN" altLang="zh-CN" dirty="0">
                <a:latin typeface="微软雅黑" panose="020B0503020204020204" pitchFamily="34" charset="-122"/>
                <a:ea typeface="微软雅黑" panose="020B0503020204020204" pitchFamily="34" charset="-122"/>
              </a:rPr>
              <a:t>节点（</a:t>
            </a:r>
            <a:r>
              <a:rPr lang="en-US" altLang="zh-CN" dirty="0">
                <a:latin typeface="微软雅黑" panose="020B0503020204020204" pitchFamily="34" charset="-122"/>
                <a:ea typeface="微软雅黑" panose="020B0503020204020204" pitchFamily="34" charset="-122"/>
              </a:rPr>
              <a:t>login01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cu01~cu08</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fat01-fat03</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检查所有节点</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服务及</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gpfs</a:t>
            </a:r>
            <a:r>
              <a:rPr lang="zh-CN" altLang="en-US" dirty="0">
                <a:latin typeface="微软雅黑" panose="020B0503020204020204" pitchFamily="34" charset="-122"/>
                <a:ea typeface="微软雅黑" panose="020B0503020204020204" pitchFamily="34" charset="-122"/>
              </a:rPr>
              <a:t>目录存储挂载是否正常</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7. </a:t>
            </a:r>
            <a:r>
              <a:rPr lang="zh-CN" altLang="zh-CN" dirty="0">
                <a:latin typeface="微软雅黑" panose="020B0503020204020204" pitchFamily="34" charset="-122"/>
                <a:ea typeface="微软雅黑" panose="020B0503020204020204" pitchFamily="34" charset="-122"/>
              </a:rPr>
              <a:t>至此，集群开启完毕。</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详细步骤参考集群开关机文档</a:t>
            </a:r>
            <a:endParaRPr lang="zh-CN" altLang="zh-CN" dirty="0">
              <a:latin typeface="微软雅黑" panose="020B0503020204020204" pitchFamily="34" charset="-122"/>
              <a:ea typeface="微软雅黑" panose="020B0503020204020204" pitchFamily="34" charset="-122"/>
            </a:endParaRPr>
          </a:p>
        </p:txBody>
      </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开机步骤说明</a:t>
            </a:r>
            <a:endParaRPr lang="zh-CN" altLang="en-US" sz="1896" dirty="0">
              <a:solidFill>
                <a:schemeClr val="accent2"/>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aphicFrame>
        <p:nvGraphicFramePr>
          <p:cNvPr id="17" name="图示 16"/>
          <p:cNvGraphicFramePr/>
          <p:nvPr>
            <p:extLst>
              <p:ext uri="{D42A27DB-BD31-4B8C-83A1-F6EECF244321}">
                <p14:modId xmlns:p14="http://schemas.microsoft.com/office/powerpoint/2010/main" val="863911952"/>
              </p:ext>
            </p:extLst>
          </p:nvPr>
        </p:nvGraphicFramePr>
        <p:xfrm>
          <a:off x="977353" y="4712291"/>
          <a:ext cx="11004037" cy="1330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文本框 19"/>
          <p:cNvSpPr txBox="1"/>
          <p:nvPr/>
        </p:nvSpPr>
        <p:spPr>
          <a:xfrm>
            <a:off x="798757" y="4570649"/>
            <a:ext cx="1611102" cy="369332"/>
          </a:xfrm>
          <a:prstGeom prst="rect">
            <a:avLst/>
          </a:prstGeom>
          <a:solidFill>
            <a:srgbClr val="0070C0"/>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开机步骤说明</a:t>
            </a:r>
          </a:p>
        </p:txBody>
      </p:sp>
    </p:spTree>
    <p:extLst>
      <p:ext uri="{BB962C8B-B14F-4D97-AF65-F5344CB8AC3E}">
        <p14:creationId xmlns:p14="http://schemas.microsoft.com/office/powerpoint/2010/main" val="2982575433"/>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6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集群使用和故障报修</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8" name="对角圆角矩形 17"/>
          <p:cNvSpPr/>
          <p:nvPr/>
        </p:nvSpPr>
        <p:spPr bwMode="auto">
          <a:xfrm>
            <a:off x="798758" y="637417"/>
            <a:ext cx="9583274" cy="3894995"/>
          </a:xfrm>
          <a:prstGeom prst="round2DiagRect">
            <a:avLst>
              <a:gd name="adj1" fmla="val 8279"/>
              <a:gd name="adj2" fmla="val 0"/>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14000"/>
              </a:lnSpc>
            </a:pPr>
            <a:r>
              <a:rPr lang="zh-CN" altLang="en-US" dirty="0">
                <a:latin typeface="微软雅黑" panose="020B0503020204020204" pitchFamily="34" charset="-122"/>
                <a:ea typeface="微软雅黑" panose="020B0503020204020204" pitchFamily="34" charset="-122"/>
              </a:rPr>
              <a:t>一、关机步骤说明：</a:t>
            </a:r>
            <a:endParaRPr lang="en-US" altLang="zh-CN" dirty="0">
              <a:latin typeface="微软雅黑" panose="020B0503020204020204" pitchFamily="34" charset="-122"/>
              <a:ea typeface="微软雅黑" panose="020B0503020204020204" pitchFamily="34" charset="-122"/>
            </a:endParaRPr>
          </a:p>
          <a:p>
            <a:pPr marL="342900" indent="-342900">
              <a:lnSpc>
                <a:spcPct val="114000"/>
              </a:lnSpc>
              <a:buAutoNum type="arabicPeriod"/>
            </a:pPr>
            <a:r>
              <a:rPr lang="zh-CN" altLang="en-US" dirty="0">
                <a:latin typeface="微软雅黑" panose="020B0503020204020204" pitchFamily="34" charset="-122"/>
                <a:ea typeface="微软雅黑" panose="020B0503020204020204" pitchFamily="34" charset="-122"/>
              </a:rPr>
              <a:t>确认集群中</a:t>
            </a:r>
            <a:r>
              <a:rPr lang="zh-CN" altLang="en-US" dirty="0">
                <a:solidFill>
                  <a:srgbClr val="FF0000"/>
                </a:solidFill>
                <a:latin typeface="微软雅黑" panose="020B0503020204020204" pitchFamily="34" charset="-122"/>
                <a:ea typeface="微软雅黑" panose="020B0503020204020204" pitchFamily="34" charset="-122"/>
              </a:rPr>
              <a:t>无</a:t>
            </a:r>
            <a:r>
              <a:rPr lang="zh-CN" altLang="en-US" dirty="0">
                <a:latin typeface="微软雅黑" panose="020B0503020204020204" pitchFamily="34" charset="-122"/>
                <a:ea typeface="微软雅黑" panose="020B0503020204020204" pitchFamily="34" charset="-122"/>
              </a:rPr>
              <a:t>作业在运行，首先停止存储服务并关机</a:t>
            </a:r>
            <a:endParaRPr lang="en-US" altLang="zh-CN" dirty="0">
              <a:latin typeface="微软雅黑" panose="020B0503020204020204" pitchFamily="34" charset="-122"/>
              <a:ea typeface="微软雅黑" panose="020B0503020204020204" pitchFamily="34" charset="-122"/>
            </a:endParaRPr>
          </a:p>
          <a:p>
            <a:pPr>
              <a:lnSpc>
                <a:spcPct val="114000"/>
              </a:lnSpc>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root</a:t>
            </a:r>
            <a:r>
              <a:rPr lang="zh-CN" altLang="en-US" dirty="0">
                <a:latin typeface="微软雅黑" panose="020B0503020204020204" pitchFamily="34" charset="-122"/>
                <a:ea typeface="微软雅黑" panose="020B0503020204020204" pitchFamily="34" charset="-122"/>
              </a:rPr>
              <a:t>账号在</a:t>
            </a:r>
            <a:r>
              <a:rPr lang="en-US" altLang="zh-CN" dirty="0">
                <a:latin typeface="微软雅黑" panose="020B0503020204020204" pitchFamily="34" charset="-122"/>
                <a:ea typeface="微软雅黑" panose="020B0503020204020204" pitchFamily="34" charset="-122"/>
              </a:rPr>
              <a:t>mu01</a:t>
            </a:r>
            <a:r>
              <a:rPr lang="zh-CN" altLang="en-US" dirty="0">
                <a:latin typeface="微软雅黑" panose="020B0503020204020204" pitchFamily="34" charset="-122"/>
                <a:ea typeface="微软雅黑" panose="020B0503020204020204" pitchFamily="34" charset="-122"/>
              </a:rPr>
              <a:t>上执行</a:t>
            </a:r>
            <a:r>
              <a:rPr lang="en-US" altLang="zh-CN" dirty="0">
                <a:latin typeface="微软雅黑" panose="020B0503020204020204" pitchFamily="34" charset="-122"/>
                <a:ea typeface="微软雅黑" panose="020B0503020204020204" pitchFamily="34" charset="-122"/>
              </a:rPr>
              <a:t>:</a:t>
            </a:r>
          </a:p>
          <a:p>
            <a:pPr>
              <a:lnSpc>
                <a:spcPct val="114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pdsh</a:t>
            </a:r>
            <a:r>
              <a:rPr lang="en-US" altLang="zh-CN" dirty="0">
                <a:latin typeface="微软雅黑" panose="020B0503020204020204" pitchFamily="34" charset="-122"/>
                <a:ea typeface="微软雅黑" panose="020B0503020204020204" pitchFamily="34" charset="-122"/>
              </a:rPr>
              <a:t> -a  shutdown  -h now</a:t>
            </a:r>
          </a:p>
          <a:p>
            <a:pPr>
              <a:lnSpc>
                <a:spcPct val="114000"/>
              </a:lnSpc>
            </a:pPr>
            <a:r>
              <a:rPr lang="zh-CN" altLang="en-US" dirty="0">
                <a:latin typeface="微软雅黑" panose="020B0503020204020204" pitchFamily="34" charset="-122"/>
                <a:ea typeface="微软雅黑" panose="020B0503020204020204" pitchFamily="34" charset="-122"/>
              </a:rPr>
              <a:t>   关闭所有的计算节点</a:t>
            </a:r>
            <a:endParaRPr lang="en-US" altLang="zh-CN" dirty="0">
              <a:latin typeface="微软雅黑" panose="020B0503020204020204" pitchFamily="34" charset="-122"/>
              <a:ea typeface="微软雅黑" panose="020B0503020204020204" pitchFamily="34" charset="-122"/>
            </a:endParaRPr>
          </a:p>
          <a:p>
            <a:pPr>
              <a:lnSpc>
                <a:spcPct val="114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 使用</a:t>
            </a:r>
            <a:r>
              <a:rPr lang="en-US" altLang="zh-CN" dirty="0">
                <a:latin typeface="微软雅黑" panose="020B0503020204020204" pitchFamily="34" charset="-122"/>
                <a:ea typeface="微软雅黑" panose="020B0503020204020204" pitchFamily="34" charset="-122"/>
              </a:rPr>
              <a:t>root</a:t>
            </a:r>
            <a:r>
              <a:rPr lang="zh-CN" altLang="en-US" dirty="0">
                <a:latin typeface="微软雅黑" panose="020B0503020204020204" pitchFamily="34" charset="-122"/>
                <a:ea typeface="微软雅黑" panose="020B0503020204020204" pitchFamily="34" charset="-122"/>
              </a:rPr>
              <a:t>账号在管理节点卸载</a:t>
            </a:r>
            <a:r>
              <a:rPr lang="en-US" altLang="zh-CN" dirty="0">
                <a:latin typeface="微软雅黑" panose="020B0503020204020204" pitchFamily="34" charset="-122"/>
                <a:ea typeface="微软雅黑" panose="020B0503020204020204" pitchFamily="34" charset="-122"/>
              </a:rPr>
              <a:t>/home</a:t>
            </a:r>
            <a:r>
              <a:rPr lang="zh-CN" altLang="en-US" dirty="0">
                <a:latin typeface="微软雅黑" panose="020B0503020204020204" pitchFamily="34" charset="-122"/>
                <a:ea typeface="微软雅黑" panose="020B0503020204020204" pitchFamily="34" charset="-122"/>
              </a:rPr>
              <a:t>目录：</a:t>
            </a:r>
            <a:endParaRPr lang="en-US" altLang="zh-CN" dirty="0">
              <a:latin typeface="微软雅黑" panose="020B0503020204020204" pitchFamily="34" charset="-122"/>
              <a:ea typeface="微软雅黑" panose="020B0503020204020204" pitchFamily="34" charset="-122"/>
            </a:endParaRPr>
          </a:p>
          <a:p>
            <a:pPr>
              <a:lnSpc>
                <a:spcPct val="114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umount</a:t>
            </a:r>
            <a:r>
              <a:rPr lang="en-US" altLang="zh-CN" dirty="0">
                <a:latin typeface="微软雅黑" panose="020B0503020204020204" pitchFamily="34" charset="-122"/>
                <a:ea typeface="微软雅黑" panose="020B0503020204020204" pitchFamily="34" charset="-122"/>
              </a:rPr>
              <a:t> -l /home</a:t>
            </a:r>
          </a:p>
          <a:p>
            <a:pPr>
              <a:lnSpc>
                <a:spcPct val="114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在管理节点执行以下命令关闭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台存储节点</a:t>
            </a:r>
            <a:endParaRPr lang="en-US" altLang="zh-CN" dirty="0">
              <a:latin typeface="微软雅黑" panose="020B0503020204020204" pitchFamily="34" charset="-122"/>
              <a:ea typeface="微软雅黑" panose="020B0503020204020204" pitchFamily="34" charset="-122"/>
            </a:endParaRPr>
          </a:p>
          <a:p>
            <a:pPr>
              <a:lnSpc>
                <a:spcPct val="114000"/>
              </a:lnSpc>
            </a:pPr>
            <a:r>
              <a:rPr lang="en-US" altLang="zh-CN" dirty="0">
                <a:latin typeface="微软雅黑" panose="020B0503020204020204" pitchFamily="34" charset="-122"/>
                <a:ea typeface="微软雅黑" panose="020B0503020204020204" pitchFamily="34" charset="-122"/>
              </a:rPr>
              <a:t>   ssh inspur01  shutdown -h now</a:t>
            </a:r>
          </a:p>
          <a:p>
            <a:pPr>
              <a:lnSpc>
                <a:spcPct val="114000"/>
              </a:lnSpc>
            </a:pPr>
            <a:r>
              <a:rPr lang="en-US" altLang="zh-CN" dirty="0">
                <a:latin typeface="微软雅黑" panose="020B0503020204020204" pitchFamily="34" charset="-122"/>
                <a:ea typeface="微软雅黑" panose="020B0503020204020204" pitchFamily="34" charset="-122"/>
              </a:rPr>
              <a:t>   ssh inspur02  shutdown -h now</a:t>
            </a:r>
          </a:p>
          <a:p>
            <a:pPr>
              <a:lnSpc>
                <a:spcPct val="114000"/>
              </a:lnSpc>
            </a:pPr>
            <a:r>
              <a:rPr lang="en-US" altLang="zh-CN" dirty="0">
                <a:latin typeface="微软雅黑" panose="020B0503020204020204" pitchFamily="34" charset="-122"/>
                <a:ea typeface="微软雅黑" panose="020B0503020204020204" pitchFamily="34" charset="-122"/>
              </a:rPr>
              <a:t>   ssh inspur03  shutdown -h now</a:t>
            </a:r>
          </a:p>
          <a:p>
            <a:pPr>
              <a:lnSpc>
                <a:spcPct val="114000"/>
              </a:lnSpc>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在管理节点执行</a:t>
            </a:r>
            <a:r>
              <a:rPr lang="en-US" altLang="zh-CN" dirty="0">
                <a:latin typeface="微软雅黑" panose="020B0503020204020204" pitchFamily="34" charset="-122"/>
                <a:ea typeface="微软雅黑" panose="020B0503020204020204" pitchFamily="34" charset="-122"/>
              </a:rPr>
              <a:t>shutdown -h now</a:t>
            </a:r>
            <a:r>
              <a:rPr lang="zh-CN" altLang="en-US" dirty="0">
                <a:latin typeface="微软雅黑" panose="020B0503020204020204" pitchFamily="34" charset="-122"/>
                <a:ea typeface="微软雅黑" panose="020B0503020204020204" pitchFamily="34" charset="-122"/>
              </a:rPr>
              <a:t>关闭管理节点</a:t>
            </a:r>
            <a:endParaRPr lang="en-US" altLang="zh-CN" dirty="0">
              <a:latin typeface="微软雅黑" panose="020B0503020204020204" pitchFamily="34" charset="-122"/>
              <a:ea typeface="微软雅黑" panose="020B0503020204020204" pitchFamily="34" charset="-122"/>
            </a:endParaRPr>
          </a:p>
        </p:txBody>
      </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关机步骤说明</a:t>
            </a:r>
          </a:p>
        </p:txBody>
      </p:sp>
      <p:graphicFrame>
        <p:nvGraphicFramePr>
          <p:cNvPr id="16" name="图示 15"/>
          <p:cNvGraphicFramePr/>
          <p:nvPr>
            <p:extLst>
              <p:ext uri="{D42A27DB-BD31-4B8C-83A1-F6EECF244321}">
                <p14:modId xmlns:p14="http://schemas.microsoft.com/office/powerpoint/2010/main" val="1796391811"/>
              </p:ext>
            </p:extLst>
          </p:nvPr>
        </p:nvGraphicFramePr>
        <p:xfrm>
          <a:off x="798757" y="5058586"/>
          <a:ext cx="11004037" cy="1159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文本框 16"/>
          <p:cNvSpPr txBox="1"/>
          <p:nvPr/>
        </p:nvSpPr>
        <p:spPr>
          <a:xfrm>
            <a:off x="798757" y="4660804"/>
            <a:ext cx="1611102" cy="369332"/>
          </a:xfrm>
          <a:prstGeom prst="rect">
            <a:avLst/>
          </a:prstGeom>
          <a:solidFill>
            <a:srgbClr val="0070C0"/>
          </a:solid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关机步骤说明</a:t>
            </a:r>
          </a:p>
        </p:txBody>
      </p:sp>
    </p:spTree>
    <p:extLst>
      <p:ext uri="{BB962C8B-B14F-4D97-AF65-F5344CB8AC3E}">
        <p14:creationId xmlns:p14="http://schemas.microsoft.com/office/powerpoint/2010/main" val="993157616"/>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6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集群使用和故障报修</a:t>
                </a:r>
                <a:endPar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故障报修</a:t>
            </a:r>
            <a:endParaRPr lang="zh-CN" altLang="en-US" sz="1896" dirty="0">
              <a:solidFill>
                <a:srgbClr val="FF0000"/>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17" name="对角圆角矩形 16"/>
          <p:cNvSpPr/>
          <p:nvPr/>
        </p:nvSpPr>
        <p:spPr bwMode="auto">
          <a:xfrm>
            <a:off x="1049285" y="1360131"/>
            <a:ext cx="10071171" cy="339250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r>
              <a:rPr lang="zh-CN" altLang="en-US" dirty="0">
                <a:latin typeface="微软雅黑" panose="020B0503020204020204" pitchFamily="34" charset="-122"/>
                <a:ea typeface="微软雅黑" panose="020B0503020204020204" pitchFamily="34" charset="-122"/>
              </a:rPr>
              <a:t>设备故障报修方式：</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）通过微信公众号“浪潮专家服务”，选择自助服务</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自助报修，输入序列号进行报修</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）拨打浪潮</a:t>
            </a:r>
            <a:r>
              <a:rPr lang="en-US" altLang="zh-CN" dirty="0">
                <a:latin typeface="微软雅黑" panose="020B0503020204020204" pitchFamily="34" charset="-122"/>
                <a:ea typeface="微软雅黑" panose="020B0503020204020204" pitchFamily="34" charset="-122"/>
              </a:rPr>
              <a:t>400</a:t>
            </a:r>
            <a:r>
              <a:rPr lang="zh-CN" altLang="en-US" dirty="0">
                <a:latin typeface="微软雅黑" panose="020B0503020204020204" pitchFamily="34" charset="-122"/>
                <a:ea typeface="微软雅黑" panose="020B0503020204020204" pitchFamily="34" charset="-122"/>
              </a:rPr>
              <a:t>电话</a:t>
            </a:r>
            <a:r>
              <a:rPr lang="en-US" altLang="zh-CN" dirty="0">
                <a:latin typeface="微软雅黑" panose="020B0503020204020204" pitchFamily="34" charset="-122"/>
                <a:ea typeface="微软雅黑" panose="020B0503020204020204" pitchFamily="34" charset="-122"/>
              </a:rPr>
              <a:t>4008600011</a:t>
            </a:r>
            <a:r>
              <a:rPr lang="zh-CN" altLang="en-US" dirty="0">
                <a:latin typeface="微软雅黑" panose="020B0503020204020204" pitchFamily="34" charset="-122"/>
                <a:ea typeface="微软雅黑" panose="020B0503020204020204" pitchFamily="34" charset="-122"/>
              </a:rPr>
              <a:t>，提供故障现象和设备序列号进行报修</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如果发生集群系统使用故障，或无法判定是硬件故障还是软件故障时，除以上两种报修方式外，可直接联系实施工程师获取售后支持</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6342684"/>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idx="4294967295"/>
          </p:nvPr>
        </p:nvSpPr>
        <p:spPr>
          <a:xfrm>
            <a:off x="5138214" y="3540739"/>
            <a:ext cx="5989331" cy="648051"/>
          </a:xfrm>
        </p:spPr>
        <p:txBody>
          <a:bodyPr/>
          <a:lstStyle/>
          <a:p>
            <a:pPr algn="l" fontAlgn="auto">
              <a:spcBef>
                <a:spcPts val="0"/>
              </a:spcBef>
              <a:spcAft>
                <a:spcPts val="0"/>
              </a:spcAft>
              <a:defRPr/>
            </a:pPr>
            <a:r>
              <a:rPr lang="zh-CN" altLang="en-US" sz="4000" dirty="0"/>
              <a:t>常见问题解答</a:t>
            </a:r>
            <a:endParaRPr lang="zh-CN" altLang="en-US" sz="3793" b="1" dirty="0">
              <a:solidFill>
                <a:schemeClr val="tx1">
                  <a:lumMod val="75000"/>
                  <a:lumOff val="25000"/>
                </a:schemeClr>
              </a:solidFill>
              <a:sym typeface="SF Orson Casual Heavy" panose="00000400000000000000" pitchFamily="2" charset="0"/>
            </a:endParaRPr>
          </a:p>
        </p:txBody>
      </p:sp>
      <p:grpSp>
        <p:nvGrpSpPr>
          <p:cNvPr id="20" name="组合 19"/>
          <p:cNvGrpSpPr/>
          <p:nvPr/>
        </p:nvGrpSpPr>
        <p:grpSpPr>
          <a:xfrm>
            <a:off x="838594" y="1989492"/>
            <a:ext cx="1357322" cy="1500198"/>
            <a:chOff x="1837124" y="1808150"/>
            <a:chExt cx="1431472" cy="1582153"/>
          </a:xfrm>
        </p:grpSpPr>
        <p:sp>
          <p:nvSpPr>
            <p:cNvPr id="21" name="圆角矩形 20"/>
            <p:cNvSpPr/>
            <p:nvPr/>
          </p:nvSpPr>
          <p:spPr bwMode="auto">
            <a:xfrm>
              <a:off x="1837124" y="2636897"/>
              <a:ext cx="753406" cy="753406"/>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2" name="圆角矩形 21"/>
            <p:cNvSpPr/>
            <p:nvPr/>
          </p:nvSpPr>
          <p:spPr bwMode="auto">
            <a:xfrm>
              <a:off x="2590530" y="1808150"/>
              <a:ext cx="678066" cy="678066"/>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3" name="圆角矩形 22"/>
            <p:cNvSpPr/>
            <p:nvPr/>
          </p:nvSpPr>
          <p:spPr bwMode="auto">
            <a:xfrm>
              <a:off x="2289168" y="2335534"/>
              <a:ext cx="527384" cy="52738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24" name="圆角矩形 23"/>
          <p:cNvSpPr/>
          <p:nvPr/>
        </p:nvSpPr>
        <p:spPr bwMode="auto">
          <a:xfrm>
            <a:off x="3372163" y="4346946"/>
            <a:ext cx="357190" cy="357190"/>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5" name="圆角矩形 24"/>
          <p:cNvSpPr/>
          <p:nvPr/>
        </p:nvSpPr>
        <p:spPr bwMode="auto">
          <a:xfrm>
            <a:off x="1124346" y="4489822"/>
            <a:ext cx="928694" cy="928694"/>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26" name="组合 25"/>
          <p:cNvGrpSpPr/>
          <p:nvPr/>
        </p:nvGrpSpPr>
        <p:grpSpPr>
          <a:xfrm>
            <a:off x="2794552" y="4789472"/>
            <a:ext cx="1143009" cy="1143008"/>
            <a:chOff x="4172683" y="4897116"/>
            <a:chExt cx="1205451" cy="1205450"/>
          </a:xfrm>
        </p:grpSpPr>
        <p:sp>
          <p:nvSpPr>
            <p:cNvPr id="27" name="圆角矩形 26"/>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8" name="圆角矩形 27"/>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29" name="圆角矩形 28"/>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grpSp>
        <p:nvGrpSpPr>
          <p:cNvPr id="30" name="组合 29"/>
          <p:cNvGrpSpPr/>
          <p:nvPr/>
        </p:nvGrpSpPr>
        <p:grpSpPr>
          <a:xfrm>
            <a:off x="2943534" y="970992"/>
            <a:ext cx="3051937" cy="2090070"/>
            <a:chOff x="4474046" y="734010"/>
            <a:chExt cx="3218663" cy="2204250"/>
          </a:xfrm>
        </p:grpSpPr>
        <p:sp>
          <p:nvSpPr>
            <p:cNvPr id="31" name="圆角矩形 30"/>
            <p:cNvSpPr/>
            <p:nvPr/>
          </p:nvSpPr>
          <p:spPr bwMode="auto">
            <a:xfrm>
              <a:off x="4474046" y="2034172"/>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2" name="圆角矩形 31"/>
            <p:cNvSpPr/>
            <p:nvPr/>
          </p:nvSpPr>
          <p:spPr bwMode="auto">
            <a:xfrm>
              <a:off x="5726609" y="1636102"/>
              <a:ext cx="511081" cy="511081"/>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3" name="圆角矩形 32"/>
            <p:cNvSpPr/>
            <p:nvPr/>
          </p:nvSpPr>
          <p:spPr bwMode="auto">
            <a:xfrm>
              <a:off x="5812334" y="880021"/>
              <a:ext cx="324187" cy="324187"/>
            </a:xfrm>
            <a:prstGeom prst="roundRect">
              <a:avLst>
                <a:gd name="adj" fmla="val 6712"/>
              </a:avLst>
            </a:prstGeom>
            <a:solidFill>
              <a:srgbClr val="0070C0"/>
            </a:solidFill>
            <a:ln w="9525" cap="flat" cmpd="sng" algn="ctr">
              <a:gradFill flip="none" rotWithShape="1">
                <a:gsLst>
                  <a:gs pos="0">
                    <a:srgbClr val="0070C0"/>
                  </a:gs>
                  <a:gs pos="50000">
                    <a:srgbClr val="00B0F0"/>
                  </a:gs>
                </a:gsLst>
                <a:lin ang="18900000" scaled="1"/>
                <a:tileRect/>
              </a:gradFill>
              <a:prstDash val="solid"/>
              <a:round/>
              <a:headEnd type="none" w="med" len="med"/>
              <a:tailEnd type="none" w="med" len="med"/>
            </a:ln>
            <a:effectLst>
              <a:outerShdw blurRad="368300" dist="101600" dir="9000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圆角矩形 33"/>
            <p:cNvSpPr/>
            <p:nvPr/>
          </p:nvSpPr>
          <p:spPr bwMode="auto">
            <a:xfrm>
              <a:off x="6154815" y="1351166"/>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圆角矩形 34"/>
            <p:cNvSpPr/>
            <p:nvPr/>
          </p:nvSpPr>
          <p:spPr bwMode="auto">
            <a:xfrm>
              <a:off x="6788621" y="734010"/>
              <a:ext cx="904088" cy="904088"/>
            </a:xfrm>
            <a:prstGeom prst="roundRect">
              <a:avLst>
                <a:gd name="adj" fmla="val 6712"/>
              </a:avLst>
            </a:prstGeom>
            <a:solidFill>
              <a:schemeClr val="tx1">
                <a:lumMod val="65000"/>
                <a:lumOff val="35000"/>
              </a:schemeClr>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endParaRPr lang="zh-CN" altLang="en-US" sz="2400" b="1" dirty="0">
                <a:solidFill>
                  <a:schemeClr val="bg1"/>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6" name="对角圆角矩形 35"/>
          <p:cNvSpPr/>
          <p:nvPr/>
        </p:nvSpPr>
        <p:spPr bwMode="auto">
          <a:xfrm>
            <a:off x="1657650" y="2971789"/>
            <a:ext cx="1916615" cy="178595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a:lnSpc>
                <a:spcPct val="130000"/>
              </a:lnSpc>
            </a:pPr>
            <a:r>
              <a:rPr lang="en-US" altLang="zh-CN"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rPr>
              <a:t>7</a:t>
            </a:r>
            <a:endParaRPr lang="zh-CN" altLang="en-US" sz="6599" b="1" dirty="0">
              <a:solidFill>
                <a:srgbClr val="0070C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7" name="文本框 36"/>
          <p:cNvSpPr txBox="1"/>
          <p:nvPr/>
        </p:nvSpPr>
        <p:spPr>
          <a:xfrm>
            <a:off x="5138811" y="6444851"/>
            <a:ext cx="1892119" cy="267446"/>
          </a:xfrm>
          <a:prstGeom prst="rect">
            <a:avLst/>
          </a:prstGeom>
          <a:noFill/>
        </p:spPr>
        <p:txBody>
          <a:bodyPr wrap="square" rtlCol="0">
            <a:spAutoFit/>
          </a:bodyPr>
          <a:lstStyle/>
          <a:p>
            <a:pPr algn="ctr">
              <a:spcBef>
                <a:spcPts val="569"/>
              </a:spcBef>
              <a:spcAft>
                <a:spcPts val="569"/>
              </a:spcAft>
            </a:pPr>
            <a:r>
              <a:rPr kumimoji="1" lang="en-US" altLang="zh-CN" sz="1138" dirty="0">
                <a:solidFill>
                  <a:schemeClr val="bg1">
                    <a:lumMod val="50000"/>
                  </a:schemeClr>
                </a:solidFill>
                <a:latin typeface="微软雅黑" pitchFamily="34" charset="-122"/>
                <a:ea typeface="微软雅黑" pitchFamily="34" charset="-122"/>
              </a:rPr>
              <a:t>songchen@inspur.com</a:t>
            </a:r>
          </a:p>
        </p:txBody>
      </p:sp>
    </p:spTree>
    <p:extLst>
      <p:ext uri="{BB962C8B-B14F-4D97-AF65-F5344CB8AC3E}">
        <p14:creationId xmlns:p14="http://schemas.microsoft.com/office/powerpoint/2010/main" val="385920653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1172187" y="933224"/>
            <a:ext cx="10154004" cy="4229620"/>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buFont typeface="+mj-lt"/>
              <a:buAutoNum type="arabicPeriod"/>
            </a:pPr>
            <a:r>
              <a:rPr lang="en-US" altLang="zh-CN" b="1" dirty="0" err="1">
                <a:latin typeface="微软雅黑" panose="020B0503020204020204" pitchFamily="34" charset="-122"/>
                <a:ea typeface="微软雅黑" panose="020B0503020204020204" pitchFamily="34" charset="-122"/>
              </a:rPr>
              <a:t>slurm</a:t>
            </a:r>
            <a:r>
              <a:rPr lang="zh-CN" altLang="zh-CN" b="1" dirty="0">
                <a:latin typeface="微软雅黑" panose="020B0503020204020204" pitchFamily="34" charset="-122"/>
                <a:ea typeface="微软雅黑" panose="020B0503020204020204" pitchFamily="34" charset="-122"/>
              </a:rPr>
              <a:t>集群出现节点</a:t>
            </a:r>
            <a:r>
              <a:rPr lang="zh-CN" altLang="en-US" b="1" dirty="0">
                <a:latin typeface="微软雅黑" panose="020B0503020204020204" pitchFamily="34" charset="-122"/>
                <a:ea typeface="微软雅黑" panose="020B0503020204020204" pitchFamily="34" charset="-122"/>
              </a:rPr>
              <a:t>处于</a:t>
            </a:r>
            <a:r>
              <a:rPr lang="en-US" altLang="zh-CN" b="1" dirty="0">
                <a:latin typeface="微软雅黑" panose="020B0503020204020204" pitchFamily="34" charset="-122"/>
                <a:ea typeface="微软雅黑" panose="020B0503020204020204" pitchFamily="34" charset="-122"/>
              </a:rPr>
              <a:t>down</a:t>
            </a:r>
            <a:r>
              <a:rPr lang="zh-CN" altLang="en-US" b="1" dirty="0">
                <a:latin typeface="微软雅黑" panose="020B0503020204020204" pitchFamily="34" charset="-122"/>
                <a:ea typeface="微软雅黑" panose="020B0503020204020204" pitchFamily="34" charset="-122"/>
              </a:rPr>
              <a:t>的状态该如何处理</a:t>
            </a:r>
            <a:endParaRPr lang="zh-CN"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答：当</a:t>
            </a:r>
            <a:r>
              <a:rPr lang="zh-CN" altLang="zh-CN" dirty="0">
                <a:latin typeface="微软雅黑" panose="020B0503020204020204" pitchFamily="34" charset="-122"/>
                <a:ea typeface="微软雅黑" panose="020B0503020204020204" pitchFamily="34" charset="-122"/>
              </a:rPr>
              <a:t>执行</a:t>
            </a:r>
            <a:r>
              <a:rPr lang="en-US" altLang="zh-CN" dirty="0" err="1">
                <a:latin typeface="微软雅黑" panose="020B0503020204020204" pitchFamily="34" charset="-122"/>
                <a:ea typeface="微软雅黑" panose="020B0503020204020204" pitchFamily="34" charset="-122"/>
              </a:rPr>
              <a:t>sinfo</a:t>
            </a:r>
            <a:r>
              <a:rPr lang="zh-CN" altLang="zh-CN" dirty="0">
                <a:latin typeface="微软雅黑" panose="020B0503020204020204" pitchFamily="34" charset="-122"/>
                <a:ea typeface="微软雅黑" panose="020B0503020204020204" pitchFamily="34" charset="-122"/>
              </a:rPr>
              <a:t>指令查看</a:t>
            </a:r>
            <a:r>
              <a:rPr lang="zh-CN" altLang="en-US" dirty="0">
                <a:latin typeface="微软雅黑" panose="020B0503020204020204" pitchFamily="34" charset="-122"/>
                <a:ea typeface="微软雅黑" panose="020B0503020204020204" pitchFamily="34" charset="-122"/>
              </a:rPr>
              <a:t>集群</a:t>
            </a:r>
            <a:r>
              <a:rPr lang="zh-CN" altLang="zh-CN" dirty="0">
                <a:latin typeface="微软雅黑" panose="020B0503020204020204" pitchFamily="34" charset="-122"/>
                <a:ea typeface="微软雅黑" panose="020B0503020204020204" pitchFamily="34" charset="-122"/>
              </a:rPr>
              <a:t>节点</a:t>
            </a:r>
            <a:r>
              <a:rPr lang="zh-CN" altLang="en-US" dirty="0">
                <a:latin typeface="微软雅黑" panose="020B0503020204020204" pitchFamily="34" charset="-122"/>
                <a:ea typeface="微软雅黑" panose="020B0503020204020204" pitchFamily="34" charset="-122"/>
              </a:rPr>
              <a:t>状态</a:t>
            </a:r>
            <a:r>
              <a:rPr lang="zh-CN" altLang="zh-CN" dirty="0">
                <a:latin typeface="微软雅黑" panose="020B0503020204020204" pitchFamily="34" charset="-122"/>
                <a:ea typeface="微软雅黑" panose="020B0503020204020204" pitchFamily="34" charset="-122"/>
              </a:rPr>
              <a:t>时，</a:t>
            </a:r>
            <a:r>
              <a:rPr lang="zh-CN" altLang="en-US" dirty="0">
                <a:latin typeface="微软雅黑" panose="020B0503020204020204" pitchFamily="34" charset="-122"/>
                <a:ea typeface="微软雅黑" panose="020B0503020204020204" pitchFamily="34" charset="-122"/>
              </a:rPr>
              <a:t>发现某些</a:t>
            </a:r>
            <a:r>
              <a:rPr lang="zh-CN" altLang="zh-CN" dirty="0">
                <a:latin typeface="微软雅黑" panose="020B0503020204020204" pitchFamily="34" charset="-122"/>
                <a:ea typeface="微软雅黑" panose="020B0503020204020204" pitchFamily="34" charset="-122"/>
              </a:rPr>
              <a:t>节点</a:t>
            </a:r>
            <a:r>
              <a:rPr lang="zh-CN" altLang="en-US" dirty="0">
                <a:latin typeface="微软雅黑" panose="020B0503020204020204" pitchFamily="34" charset="-122"/>
                <a:ea typeface="微软雅黑" panose="020B0503020204020204" pitchFamily="34" charset="-122"/>
              </a:rPr>
              <a:t>处于</a:t>
            </a:r>
            <a:r>
              <a:rPr lang="en-US" altLang="zh-CN" dirty="0">
                <a:latin typeface="微软雅黑" panose="020B0503020204020204" pitchFamily="34" charset="-122"/>
                <a:ea typeface="微软雅黑" panose="020B0503020204020204" pitchFamily="34" charset="-122"/>
              </a:rPr>
              <a:t>DOWN</a:t>
            </a:r>
            <a:r>
              <a:rPr lang="zh-CN" altLang="zh-CN" dirty="0">
                <a:latin typeface="微软雅黑" panose="020B0503020204020204" pitchFamily="34" charset="-122"/>
                <a:ea typeface="微软雅黑" panose="020B0503020204020204" pitchFamily="34" charset="-122"/>
              </a:rPr>
              <a:t>状态</a:t>
            </a:r>
            <a:r>
              <a:rPr lang="zh-CN" altLang="en-US" dirty="0">
                <a:latin typeface="微软雅黑" panose="020B0503020204020204" pitchFamily="34" charset="-122"/>
                <a:ea typeface="微软雅黑" panose="020B0503020204020204" pitchFamily="34" charset="-122"/>
              </a:rPr>
              <a:t>时，可根据以下方式进行处理：</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首先</a:t>
            </a:r>
            <a:r>
              <a:rPr lang="zh-CN" altLang="en-US" dirty="0">
                <a:latin typeface="微软雅黑" panose="020B0503020204020204" pitchFamily="34" charset="-122"/>
                <a:ea typeface="微软雅黑" panose="020B0503020204020204" pitchFamily="34" charset="-122"/>
              </a:rPr>
              <a:t>确认</a:t>
            </a:r>
            <a:r>
              <a:rPr lang="en-US" altLang="zh-CN" dirty="0">
                <a:latin typeface="微软雅黑" panose="020B0503020204020204" pitchFamily="34" charset="-122"/>
                <a:ea typeface="微软雅黑" panose="020B0503020204020204" pitchFamily="34" charset="-122"/>
              </a:rPr>
              <a:t>DOWN</a:t>
            </a:r>
            <a:r>
              <a:rPr lang="zh-CN" altLang="zh-CN" dirty="0">
                <a:latin typeface="微软雅黑" panose="020B0503020204020204" pitchFamily="34" charset="-122"/>
                <a:ea typeface="微软雅黑" panose="020B0503020204020204" pitchFamily="34" charset="-122"/>
              </a:rPr>
              <a:t>节点的基本状态是否正常，比如是否死机，关机，网络是否</a:t>
            </a:r>
            <a:r>
              <a:rPr lang="en-US" altLang="zh-CN" dirty="0">
                <a:latin typeface="微软雅黑" panose="020B0503020204020204" pitchFamily="34" charset="-122"/>
                <a:ea typeface="微软雅黑" panose="020B0503020204020204" pitchFamily="34" charset="-122"/>
              </a:rPr>
              <a:t>ping</a:t>
            </a:r>
            <a:r>
              <a:rPr lang="zh-CN" altLang="zh-CN" dirty="0">
                <a:latin typeface="微软雅黑" panose="020B0503020204020204" pitchFamily="34" charset="-122"/>
                <a:ea typeface="微软雅黑" panose="020B0503020204020204" pitchFamily="34" charset="-122"/>
              </a:rPr>
              <a:t>通，</a:t>
            </a:r>
            <a:r>
              <a:rPr lang="en-US" altLang="zh-CN" dirty="0">
                <a:latin typeface="微软雅黑" panose="020B0503020204020204" pitchFamily="34" charset="-122"/>
                <a:ea typeface="微软雅黑" panose="020B0503020204020204" pitchFamily="34" charset="-122"/>
              </a:rPr>
              <a:t>NFS</a:t>
            </a:r>
            <a:r>
              <a:rPr lang="zh-CN" altLang="zh-CN" dirty="0">
                <a:latin typeface="微软雅黑" panose="020B0503020204020204" pitchFamily="34" charset="-122"/>
                <a:ea typeface="微软雅黑" panose="020B0503020204020204" pitchFamily="34" charset="-122"/>
              </a:rPr>
              <a:t>是否挂载等</a:t>
            </a:r>
            <a:r>
              <a:rPr lang="zh-CN" altLang="en-US" dirty="0">
                <a:latin typeface="微软雅黑" panose="020B0503020204020204" pitchFamily="34" charset="-122"/>
                <a:ea typeface="微软雅黑" panose="020B0503020204020204" pitchFamily="34" charset="-122"/>
              </a:rPr>
              <a:t>，根据实际情况进行相应处理。</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）通过</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status </a:t>
            </a: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命令检查</a:t>
            </a:r>
            <a:r>
              <a:rPr lang="en-US" altLang="zh-CN" dirty="0">
                <a:latin typeface="微软雅黑" panose="020B0503020204020204" pitchFamily="34" charset="-122"/>
                <a:ea typeface="微软雅黑" panose="020B0503020204020204" pitchFamily="34" charset="-122"/>
              </a:rPr>
              <a:t>down</a:t>
            </a:r>
            <a:r>
              <a:rPr lang="zh-CN" altLang="en-US" dirty="0">
                <a:latin typeface="微软雅黑" panose="020B0503020204020204" pitchFamily="34" charset="-122"/>
                <a:ea typeface="微软雅黑" panose="020B0503020204020204" pitchFamily="34" charset="-122"/>
              </a:rPr>
              <a:t>节点的</a:t>
            </a: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服务是否正常，若服务未启动，可通过</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start </a:t>
            </a: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命令启动服务。</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）若上述问题都正常，但节点依旧处于</a:t>
            </a:r>
            <a:r>
              <a:rPr lang="en-US" altLang="zh-CN" dirty="0">
                <a:latin typeface="微软雅黑" panose="020B0503020204020204" pitchFamily="34" charset="-122"/>
                <a:ea typeface="微软雅黑" panose="020B0503020204020204" pitchFamily="34" charset="-122"/>
              </a:rPr>
              <a:t>down</a:t>
            </a:r>
            <a:r>
              <a:rPr lang="zh-CN" altLang="en-US" dirty="0">
                <a:latin typeface="微软雅黑" panose="020B0503020204020204" pitchFamily="34" charset="-122"/>
                <a:ea typeface="微软雅黑" panose="020B0503020204020204" pitchFamily="34" charset="-122"/>
              </a:rPr>
              <a:t>的状态，则可通过</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update node=cu01 state=idle</a:t>
            </a:r>
            <a:r>
              <a:rPr lang="zh-CN" altLang="en-US" dirty="0">
                <a:latin typeface="微软雅黑" panose="020B0503020204020204" pitchFamily="34" charset="-122"/>
                <a:ea typeface="微软雅黑" panose="020B0503020204020204" pitchFamily="34" charset="-122"/>
              </a:rPr>
              <a:t>命令手动将节点状态更新为</a:t>
            </a:r>
            <a:r>
              <a:rPr lang="en-US" altLang="zh-CN" dirty="0">
                <a:latin typeface="微软雅黑" panose="020B0503020204020204" pitchFamily="34" charset="-122"/>
                <a:ea typeface="微软雅黑" panose="020B0503020204020204" pitchFamily="34" charset="-122"/>
              </a:rPr>
              <a:t>idle</a:t>
            </a:r>
            <a:r>
              <a:rPr lang="zh-CN" altLang="en-US" dirty="0">
                <a:latin typeface="微软雅黑" panose="020B0503020204020204" pitchFamily="34" charset="-122"/>
                <a:ea typeface="微软雅黑" panose="020B0503020204020204" pitchFamily="34" charset="-122"/>
              </a:rPr>
              <a:t>。</a:t>
            </a:r>
            <a:endParaRPr lang="zh-CN"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9396511"/>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933036" y="1365678"/>
            <a:ext cx="10154004" cy="296717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buFont typeface="+mj-lt"/>
              <a:buAutoNum type="arabicPeriod" startAt="2"/>
            </a:pPr>
            <a:r>
              <a:rPr lang="zh-CN" altLang="en-US" b="1" dirty="0">
                <a:latin typeface="微软雅黑" panose="020B0503020204020204" pitchFamily="34" charset="-122"/>
                <a:ea typeface="微软雅黑" panose="020B0503020204020204" pitchFamily="34" charset="-122"/>
              </a:rPr>
              <a:t>当执行</a:t>
            </a:r>
            <a:r>
              <a:rPr lang="en-US" altLang="zh-CN" b="1" dirty="0" err="1">
                <a:latin typeface="微软雅黑" panose="020B0503020204020204" pitchFamily="34" charset="-122"/>
                <a:ea typeface="微软雅黑" panose="020B0503020204020204" pitchFamily="34" charset="-122"/>
              </a:rPr>
              <a:t>scontrol</a:t>
            </a:r>
            <a:r>
              <a:rPr lang="en-US" altLang="zh-CN" b="1" dirty="0">
                <a:latin typeface="微软雅黑" panose="020B0503020204020204" pitchFamily="34" charset="-122"/>
                <a:ea typeface="微软雅黑" panose="020B0503020204020204" pitchFamily="34" charset="-122"/>
              </a:rPr>
              <a:t> show</a:t>
            </a:r>
            <a:r>
              <a:rPr lang="zh-CN" altLang="en-US" b="1" dirty="0">
                <a:latin typeface="微软雅黑" panose="020B0503020204020204" pitchFamily="34" charset="-122"/>
                <a:ea typeface="微软雅黑" panose="020B0503020204020204" pitchFamily="34" charset="-122"/>
              </a:rPr>
              <a:t>命令时报错：</a:t>
            </a:r>
            <a:r>
              <a:rPr lang="en-US" altLang="zh-CN" b="1" dirty="0">
                <a:latin typeface="微软雅黑" panose="020B0503020204020204" pitchFamily="34" charset="-122"/>
                <a:ea typeface="微软雅黑" panose="020B0503020204020204" pitchFamily="34" charset="-122"/>
              </a:rPr>
              <a:t>Zero Bytes were transmitted or received</a:t>
            </a:r>
            <a:r>
              <a:rPr lang="zh-CN" altLang="en-US" b="1" dirty="0">
                <a:latin typeface="微软雅黑" panose="020B0503020204020204" pitchFamily="34" charset="-122"/>
                <a:ea typeface="微软雅黑" panose="020B0503020204020204" pitchFamily="34" charset="-122"/>
              </a:rPr>
              <a:t>，该如何处理</a:t>
            </a:r>
            <a:endParaRPr lang="zh-CN"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答：当用户通过</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a:t>
            </a:r>
            <a:r>
              <a:rPr lang="zh-CN" altLang="en-US" dirty="0">
                <a:latin typeface="微软雅黑" panose="020B0503020204020204" pitchFamily="34" charset="-122"/>
                <a:ea typeface="微软雅黑" panose="020B0503020204020204" pitchFamily="34" charset="-122"/>
              </a:rPr>
              <a:t>命令，例如</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show node=cu05</a:t>
            </a:r>
            <a:r>
              <a:rPr lang="zh-CN" altLang="en-US" dirty="0">
                <a:latin typeface="微软雅黑" panose="020B0503020204020204" pitchFamily="34" charset="-122"/>
                <a:ea typeface="微软雅黑" panose="020B0503020204020204" pitchFamily="34" charset="-122"/>
              </a:rPr>
              <a:t>检查节点信息时，若该节点与管理节点时间不一致，则会出现以上报错。</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解决方法：检查</a:t>
            </a:r>
            <a:r>
              <a:rPr lang="en-US" altLang="zh-CN" dirty="0" err="1">
                <a:latin typeface="微软雅黑" panose="020B0503020204020204" pitchFamily="34" charset="-122"/>
                <a:ea typeface="微软雅黑" panose="020B0503020204020204" pitchFamily="34" charset="-122"/>
              </a:rPr>
              <a:t>ntp</a:t>
            </a:r>
            <a:r>
              <a:rPr lang="zh-CN" altLang="en-US" dirty="0">
                <a:latin typeface="微软雅黑" panose="020B0503020204020204" pitchFamily="34" charset="-122"/>
                <a:ea typeface="微软雅黑" panose="020B0503020204020204" pitchFamily="34" charset="-122"/>
              </a:rPr>
              <a:t>服务是否正常，可临时手工同步时间，时间同步后，通过</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restart </a:t>
            </a: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命令重启</a:t>
            </a:r>
            <a:r>
              <a:rPr lang="en-US" altLang="zh-CN" dirty="0" err="1">
                <a:latin typeface="微软雅黑" panose="020B0503020204020204" pitchFamily="34" charset="-122"/>
                <a:ea typeface="微软雅黑" panose="020B0503020204020204" pitchFamily="34" charset="-122"/>
              </a:rPr>
              <a:t>slurmd</a:t>
            </a:r>
            <a:r>
              <a:rPr lang="zh-CN" altLang="en-US" dirty="0">
                <a:latin typeface="微软雅黑" panose="020B0503020204020204" pitchFamily="34" charset="-122"/>
                <a:ea typeface="微软雅黑" panose="020B0503020204020204" pitchFamily="34" charset="-122"/>
              </a:rPr>
              <a:t>服务，即刻解决此问题。</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98422775"/>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1144051" y="1524066"/>
            <a:ext cx="10154004" cy="2443023"/>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lnSpc>
                <a:spcPct val="150000"/>
              </a:lnSpc>
              <a:buFont typeface="+mj-lt"/>
              <a:buAutoNum type="arabicPeriod" startAt="3"/>
            </a:pPr>
            <a:r>
              <a:rPr lang="zh-CN" altLang="en-US" b="1" dirty="0">
                <a:latin typeface="微软雅黑" panose="020B0503020204020204" pitchFamily="34" charset="-122"/>
                <a:ea typeface="微软雅黑" panose="020B0503020204020204" pitchFamily="34" charset="-122"/>
              </a:rPr>
              <a:t>用户作业报如下</a:t>
            </a:r>
            <a:r>
              <a:rPr lang="en-US" altLang="zh-CN" b="1" dirty="0" err="1">
                <a:latin typeface="微软雅黑" panose="020B0503020204020204" pitchFamily="34" charset="-122"/>
                <a:ea typeface="微软雅黑" panose="020B0503020204020204" pitchFamily="34" charset="-122"/>
              </a:rPr>
              <a:t>QOSMaxCpuPerUserLimit</a:t>
            </a:r>
            <a:r>
              <a:rPr lang="zh-CN" altLang="en-US" b="1" dirty="0">
                <a:latin typeface="微软雅黑" panose="020B0503020204020204" pitchFamily="34" charset="-122"/>
                <a:ea typeface="微软雅黑" panose="020B0503020204020204" pitchFamily="34" charset="-122"/>
              </a:rPr>
              <a:t>该如何处理。</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答：</a:t>
            </a:r>
            <a:r>
              <a:rPr lang="en-US" altLang="zh-CN" dirty="0">
                <a:latin typeface="微软雅黑" panose="020B0503020204020204" pitchFamily="34" charset="-122"/>
                <a:ea typeface="微软雅黑" panose="020B0503020204020204" pitchFamily="34" charset="-122"/>
              </a:rPr>
              <a:t> CPU</a:t>
            </a:r>
            <a:r>
              <a:rPr lang="zh-CN" altLang="zh-CN" dirty="0">
                <a:latin typeface="微软雅黑" panose="020B0503020204020204" pitchFamily="34" charset="-122"/>
                <a:ea typeface="微软雅黑" panose="020B0503020204020204" pitchFamily="34" charset="-122"/>
              </a:rPr>
              <a:t>资源超过</a:t>
            </a:r>
            <a:r>
              <a:rPr lang="en-US" altLang="zh-CN" dirty="0" err="1">
                <a:latin typeface="微软雅黑" panose="020B0503020204020204" pitchFamily="34" charset="-122"/>
                <a:ea typeface="微软雅黑" panose="020B0503020204020204" pitchFamily="34" charset="-122"/>
              </a:rPr>
              <a:t>qos</a:t>
            </a:r>
            <a:r>
              <a:rPr lang="zh-CN" altLang="zh-CN" dirty="0">
                <a:latin typeface="微软雅黑" panose="020B0503020204020204" pitchFamily="34" charset="-122"/>
                <a:ea typeface="微软雅黑" panose="020B0503020204020204" pitchFamily="34" charset="-122"/>
              </a:rPr>
              <a:t>允许用户使用最大资源数量，</a:t>
            </a:r>
            <a:r>
              <a:rPr lang="zh-CN" altLang="en-US" dirty="0">
                <a:latin typeface="微软雅黑" panose="020B0503020204020204" pitchFamily="34" charset="-122"/>
                <a:ea typeface="微软雅黑" panose="020B0503020204020204" pitchFamily="34" charset="-122"/>
              </a:rPr>
              <a:t>通过</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提交作业则会报上述错误，可</a:t>
            </a:r>
            <a:r>
              <a:rPr lang="zh-CN" altLang="zh-CN" dirty="0">
                <a:latin typeface="微软雅黑" panose="020B0503020204020204" pitchFamily="34" charset="-122"/>
                <a:ea typeface="微软雅黑" panose="020B0503020204020204" pitchFamily="34" charset="-122"/>
              </a:rPr>
              <a:t>通过</a:t>
            </a:r>
            <a:r>
              <a:rPr lang="en-US" altLang="zh-CN" dirty="0" err="1">
                <a:latin typeface="微软雅黑" panose="020B0503020204020204" pitchFamily="34" charset="-122"/>
                <a:ea typeface="微软雅黑" panose="020B0503020204020204" pitchFamily="34" charset="-122"/>
              </a:rPr>
              <a:t>sacctmgr</a:t>
            </a:r>
            <a:r>
              <a:rPr lang="en-US" altLang="zh-CN" dirty="0">
                <a:latin typeface="微软雅黑" panose="020B0503020204020204" pitchFamily="34" charset="-122"/>
                <a:ea typeface="微软雅黑" panose="020B0503020204020204" pitchFamily="34" charset="-122"/>
              </a:rPr>
              <a:t> list </a:t>
            </a:r>
            <a:r>
              <a:rPr lang="en-US" altLang="zh-CN" dirty="0" err="1">
                <a:latin typeface="微软雅黑" panose="020B0503020204020204" pitchFamily="34" charset="-122"/>
                <a:ea typeface="微软雅黑" panose="020B0503020204020204" pitchFamily="34" charset="-122"/>
              </a:rPr>
              <a:t>assoc</a:t>
            </a:r>
            <a:r>
              <a:rPr lang="en-US" altLang="zh-CN" dirty="0">
                <a:latin typeface="微软雅黑" panose="020B0503020204020204" pitchFamily="34" charset="-122"/>
                <a:ea typeface="微软雅黑" panose="020B0503020204020204" pitchFamily="34" charset="-122"/>
              </a:rPr>
              <a:t> user=</a:t>
            </a:r>
            <a:r>
              <a:rPr lang="zh-CN" altLang="en-US" dirty="0">
                <a:latin typeface="微软雅黑" panose="020B0503020204020204" pitchFamily="34" charset="-122"/>
                <a:ea typeface="微软雅黑" panose="020B0503020204020204" pitchFamily="34" charset="-122"/>
              </a:rPr>
              <a:t>“用户名”</a:t>
            </a:r>
            <a:r>
              <a:rPr lang="zh-CN" altLang="zh-CN" dirty="0">
                <a:latin typeface="微软雅黑" panose="020B0503020204020204" pitchFamily="34" charset="-122"/>
                <a:ea typeface="微软雅黑" panose="020B0503020204020204" pitchFamily="34" charset="-122"/>
              </a:rPr>
              <a:t>命令可以查看相应</a:t>
            </a:r>
            <a:r>
              <a:rPr lang="en-US" altLang="zh-CN" dirty="0" err="1">
                <a:latin typeface="微软雅黑" panose="020B0503020204020204" pitchFamily="34" charset="-122"/>
                <a:ea typeface="微软雅黑" panose="020B0503020204020204" pitchFamily="34" charset="-122"/>
              </a:rPr>
              <a:t>qos</a:t>
            </a:r>
            <a:r>
              <a:rPr lang="zh-CN" altLang="zh-CN" dirty="0">
                <a:latin typeface="微软雅黑" panose="020B0503020204020204" pitchFamily="34" charset="-122"/>
                <a:ea typeface="微软雅黑" panose="020B0503020204020204" pitchFamily="34" charset="-122"/>
              </a:rPr>
              <a:t>允许用户占用</a:t>
            </a:r>
            <a:r>
              <a:rPr lang="en-US" altLang="zh-CN" dirty="0">
                <a:latin typeface="微软雅黑" panose="020B0503020204020204" pitchFamily="34" charset="-122"/>
                <a:ea typeface="微软雅黑" panose="020B0503020204020204" pitchFamily="34" charset="-122"/>
              </a:rPr>
              <a:t>CPU</a:t>
            </a:r>
            <a:r>
              <a:rPr lang="zh-CN" altLang="zh-CN" dirty="0">
                <a:latin typeface="微软雅黑" panose="020B0503020204020204" pitchFamily="34" charset="-122"/>
                <a:ea typeface="微软雅黑" panose="020B0503020204020204" pitchFamily="34" charset="-122"/>
              </a:rPr>
              <a:t>资源最大数量</a:t>
            </a:r>
            <a:r>
              <a:rPr lang="zh-CN" altLang="en-US" dirty="0">
                <a:latin typeface="微软雅黑" panose="020B0503020204020204" pitchFamily="34" charset="-122"/>
                <a:ea typeface="微软雅黑" panose="020B0503020204020204" pitchFamily="34" charset="-122"/>
              </a:rPr>
              <a:t>，若存在资源需求，可联系管理员更改资源限制。</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1119055"/>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933036" y="933223"/>
            <a:ext cx="10154004" cy="491579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lnSpc>
                <a:spcPct val="150000"/>
              </a:lnSpc>
              <a:buFont typeface="+mj-lt"/>
              <a:buAutoNum type="arabicPeriod" startAt="4"/>
            </a:pPr>
            <a:r>
              <a:rPr lang="en-US" altLang="zh-CN" b="1" dirty="0" err="1">
                <a:latin typeface="微软雅黑" panose="020B0503020204020204" pitchFamily="34" charset="-122"/>
                <a:ea typeface="微软雅黑" panose="020B0503020204020204" pitchFamily="34" charset="-122"/>
              </a:rPr>
              <a:t>Slurmctld</a:t>
            </a:r>
            <a:r>
              <a:rPr lang="zh-CN" altLang="en-US" b="1" dirty="0">
                <a:latin typeface="微软雅黑" panose="020B0503020204020204" pitchFamily="34" charset="-122"/>
                <a:ea typeface="微软雅黑" panose="020B0503020204020204" pitchFamily="34" charset="-122"/>
              </a:rPr>
              <a:t>无法启动，提示</a:t>
            </a:r>
            <a:r>
              <a:rPr lang="en-US" altLang="zh-CN" b="1" dirty="0">
                <a:latin typeface="微软雅黑" panose="020B0503020204020204" pitchFamily="34" charset="-122"/>
                <a:ea typeface="微软雅黑" panose="020B0503020204020204" pitchFamily="34" charset="-122"/>
              </a:rPr>
              <a:t>Invalid user for </a:t>
            </a:r>
            <a:r>
              <a:rPr lang="en-US" altLang="zh-CN" b="1" dirty="0" err="1">
                <a:latin typeface="微软雅黑" panose="020B0503020204020204" pitchFamily="34" charset="-122"/>
                <a:ea typeface="微软雅黑" panose="020B0503020204020204" pitchFamily="34" charset="-122"/>
              </a:rPr>
              <a:t>slurmuser</a:t>
            </a:r>
            <a:r>
              <a:rPr lang="zh-CN" altLang="en-US" b="1" dirty="0">
                <a:latin typeface="微软雅黑" panose="020B0503020204020204" pitchFamily="34" charset="-122"/>
                <a:ea typeface="微软雅黑" panose="020B0503020204020204" pitchFamily="34" charset="-122"/>
              </a:rPr>
              <a:t>，该如何处理。</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答：</a:t>
            </a:r>
            <a:r>
              <a:rPr lang="en-US" altLang="zh-CN" dirty="0" err="1">
                <a:latin typeface="微软雅黑" panose="020B0503020204020204" pitchFamily="34" charset="-122"/>
                <a:ea typeface="微软雅黑" panose="020B0503020204020204" pitchFamily="34" charset="-122"/>
              </a:rPr>
              <a:t>slurmctld</a:t>
            </a:r>
            <a:r>
              <a:rPr lang="zh-CN" altLang="zh-CN" dirty="0">
                <a:latin typeface="微软雅黑" panose="020B0503020204020204" pitchFamily="34" charset="-122"/>
                <a:ea typeface="微软雅黑" panose="020B0503020204020204" pitchFamily="34" charset="-122"/>
              </a:rPr>
              <a:t>服务无法正常启动</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var</a:t>
            </a:r>
            <a:r>
              <a:rPr lang="en-US" altLang="zh-CN" dirty="0">
                <a:latin typeface="微软雅黑" panose="020B0503020204020204" pitchFamily="34" charset="-122"/>
                <a:ea typeface="微软雅黑" panose="020B0503020204020204" pitchFamily="34" charset="-122"/>
              </a:rPr>
              <a:t>/log/slurmctld.log</a:t>
            </a:r>
            <a:r>
              <a:rPr lang="zh-CN" altLang="zh-CN" dirty="0">
                <a:latin typeface="微软雅黑" panose="020B0503020204020204" pitchFamily="34" charset="-122"/>
                <a:ea typeface="微软雅黑" panose="020B0503020204020204" pitchFamily="34" charset="-122"/>
              </a:rPr>
              <a:t>报错信息</a:t>
            </a:r>
            <a:r>
              <a:rPr lang="zh-CN" altLang="en-US" dirty="0">
                <a:latin typeface="微软雅黑" panose="020B0503020204020204" pitchFamily="34" charset="-122"/>
                <a:ea typeface="微软雅黑" panose="020B0503020204020204" pitchFamily="34" charset="-122"/>
              </a:rPr>
              <a:t>如图所示，原因是</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r>
              <a:rPr lang="zh-CN" altLang="zh-CN" dirty="0">
                <a:latin typeface="微软雅黑" panose="020B0503020204020204" pitchFamily="34" charset="-122"/>
                <a:ea typeface="微软雅黑" panose="020B0503020204020204" pitchFamily="34" charset="-122"/>
              </a:rPr>
              <a:t>权限被修改</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解决方法：</a:t>
            </a:r>
            <a:endParaRPr lang="en-US" altLang="zh-CN" dirty="0">
              <a:latin typeface="微软雅黑" panose="020B0503020204020204" pitchFamily="34" charset="-122"/>
              <a:ea typeface="微软雅黑" panose="020B0503020204020204" pitchFamily="34" charset="-122"/>
            </a:endParaRPr>
          </a:p>
          <a:p>
            <a:pPr lvl="0"/>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在管理节点登陆</a:t>
            </a:r>
            <a:r>
              <a:rPr lang="en-US" altLang="zh-CN" dirty="0" err="1">
                <a:latin typeface="微软雅黑" panose="020B0503020204020204" pitchFamily="34" charset="-122"/>
                <a:ea typeface="微软雅黑" panose="020B0503020204020204" pitchFamily="34" charset="-122"/>
              </a:rPr>
              <a:t>slurm</a:t>
            </a:r>
            <a:r>
              <a:rPr lang="zh-CN" altLang="zh-CN" dirty="0">
                <a:latin typeface="微软雅黑" panose="020B0503020204020204" pitchFamily="34" charset="-122"/>
                <a:ea typeface="微软雅黑" panose="020B0503020204020204" pitchFamily="34" charset="-122"/>
              </a:rPr>
              <a:t>用户，提示信息如下</a:t>
            </a:r>
          </a:p>
          <a:p>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su</a:t>
            </a: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slurm</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usr</a:t>
            </a:r>
            <a:r>
              <a:rPr lang="en-US" altLang="zh-CN" dirty="0">
                <a:latin typeface="微软雅黑" panose="020B0503020204020204" pitchFamily="34" charset="-122"/>
                <a:ea typeface="微软雅黑" panose="020B0503020204020204" pitchFamily="34" charset="-122"/>
              </a:rPr>
              <a:t>/bin/id: cannot find name for user ID 1092</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usr</a:t>
            </a:r>
            <a:r>
              <a:rPr lang="en-US" altLang="zh-CN" dirty="0">
                <a:latin typeface="微软雅黑" panose="020B0503020204020204" pitchFamily="34" charset="-122"/>
                <a:ea typeface="微软雅黑" panose="020B0503020204020204" pitchFamily="34" charset="-122"/>
              </a:rPr>
              <a:t>/bin/id: cannot find name for user ID 1092</a:t>
            </a:r>
            <a:endParaRPr lang="zh-CN" altLang="zh-CN" dirty="0">
              <a:latin typeface="微软雅黑" panose="020B0503020204020204" pitchFamily="34" charset="-122"/>
              <a:ea typeface="微软雅黑" panose="020B0503020204020204" pitchFamily="34" charset="-122"/>
            </a:endParaRPr>
          </a:p>
          <a:p>
            <a:pPr lvl="0"/>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查看</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r>
              <a:rPr lang="zh-CN" altLang="zh-CN" dirty="0">
                <a:latin typeface="微软雅黑" panose="020B0503020204020204" pitchFamily="34" charset="-122"/>
                <a:ea typeface="微软雅黑" panose="020B0503020204020204" pitchFamily="34" charset="-122"/>
              </a:rPr>
              <a:t>权限</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ll</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rw</a:t>
            </a:r>
            <a:r>
              <a:rPr lang="en-US" altLang="zh-CN" dirty="0">
                <a:latin typeface="微软雅黑" panose="020B0503020204020204" pitchFamily="34" charset="-122"/>
                <a:ea typeface="微软雅黑" panose="020B0503020204020204" pitchFamily="34" charset="-122"/>
              </a:rPr>
              <a:t>-r-----. 1 root </a:t>
            </a:r>
            <a:r>
              <a:rPr lang="en-US" altLang="zh-CN" dirty="0" err="1">
                <a:latin typeface="微软雅黑" panose="020B0503020204020204" pitchFamily="34" charset="-122"/>
                <a:ea typeface="微软雅黑" panose="020B0503020204020204" pitchFamily="34" charset="-122"/>
              </a:rPr>
              <a:t>root</a:t>
            </a:r>
            <a:r>
              <a:rPr lang="en-US" altLang="zh-CN" dirty="0">
                <a:latin typeface="微软雅黑" panose="020B0503020204020204" pitchFamily="34" charset="-122"/>
                <a:ea typeface="微软雅黑" panose="020B0503020204020204" pitchFamily="34" charset="-122"/>
              </a:rPr>
              <a:t> 1862 Jan 16 14:06 /</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endParaRPr lang="zh-CN" altLang="zh-CN" dirty="0">
              <a:latin typeface="微软雅黑" panose="020B0503020204020204" pitchFamily="34" charset="-122"/>
              <a:ea typeface="微软雅黑" panose="020B0503020204020204" pitchFamily="34" charset="-122"/>
            </a:endParaRPr>
          </a:p>
          <a:p>
            <a:pPr lvl="0"/>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修改</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r>
              <a:rPr lang="zh-CN" altLang="zh-CN" dirty="0">
                <a:latin typeface="微软雅黑" panose="020B0503020204020204" pitchFamily="34" charset="-122"/>
                <a:ea typeface="微软雅黑" panose="020B0503020204020204" pitchFamily="34" charset="-122"/>
              </a:rPr>
              <a:t>权限</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chmod</a:t>
            </a:r>
            <a:r>
              <a:rPr lang="en-US" altLang="zh-CN" dirty="0">
                <a:latin typeface="微软雅黑" panose="020B0503020204020204" pitchFamily="34" charset="-122"/>
                <a:ea typeface="微软雅黑" panose="020B0503020204020204" pitchFamily="34" charset="-122"/>
              </a:rPr>
              <a:t> 644 /</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passwd</a:t>
            </a:r>
            <a:endParaRPr lang="zh-CN" altLang="zh-CN" dirty="0">
              <a:latin typeface="微软雅黑" panose="020B0503020204020204" pitchFamily="34" charset="-122"/>
              <a:ea typeface="微软雅黑" panose="020B0503020204020204" pitchFamily="34" charset="-122"/>
            </a:endParaRPr>
          </a:p>
          <a:p>
            <a:pPr lvl="0"/>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重启</a:t>
            </a:r>
            <a:r>
              <a:rPr lang="en-US" altLang="zh-CN" dirty="0" err="1">
                <a:latin typeface="微软雅黑" panose="020B0503020204020204" pitchFamily="34" charset="-122"/>
                <a:ea typeface="微软雅黑" panose="020B0503020204020204" pitchFamily="34" charset="-122"/>
              </a:rPr>
              <a:t>slurmctld</a:t>
            </a:r>
            <a:r>
              <a:rPr lang="zh-CN" altLang="zh-CN" dirty="0">
                <a:latin typeface="微软雅黑" panose="020B0503020204020204" pitchFamily="34" charset="-122"/>
                <a:ea typeface="微软雅黑" panose="020B0503020204020204" pitchFamily="34" charset="-122"/>
              </a:rPr>
              <a:t>服务</a:t>
            </a:r>
          </a:p>
          <a:p>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restart </a:t>
            </a:r>
            <a:r>
              <a:rPr lang="en-US" altLang="zh-CN" dirty="0" err="1">
                <a:latin typeface="微软雅黑" panose="020B0503020204020204" pitchFamily="34" charset="-122"/>
                <a:ea typeface="微软雅黑" panose="020B0503020204020204" pitchFamily="34" charset="-122"/>
              </a:rPr>
              <a:t>slurmctld</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zh-CN"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6688013" y="1767909"/>
            <a:ext cx="4083973" cy="1656348"/>
          </a:xfrm>
          <a:prstGeom prst="rect">
            <a:avLst/>
          </a:prstGeom>
        </p:spPr>
      </p:pic>
    </p:spTree>
    <p:extLst>
      <p:ext uri="{BB962C8B-B14F-4D97-AF65-F5344CB8AC3E}">
        <p14:creationId xmlns:p14="http://schemas.microsoft.com/office/powerpoint/2010/main" val="368146370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933036" y="933223"/>
            <a:ext cx="10154004" cy="4915792"/>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lnSpc>
                <a:spcPct val="150000"/>
              </a:lnSpc>
              <a:buFont typeface="+mj-lt"/>
              <a:buAutoNum type="arabicPeriod" startAt="5"/>
            </a:pPr>
            <a:r>
              <a:rPr lang="zh-CN" altLang="en-US" b="1" dirty="0">
                <a:latin typeface="微软雅黑" panose="020B0503020204020204" pitchFamily="34" charset="-122"/>
                <a:ea typeface="微软雅黑" panose="020B0503020204020204" pitchFamily="34" charset="-122"/>
              </a:rPr>
              <a:t>如何为</a:t>
            </a:r>
            <a:r>
              <a:rPr lang="en-US" altLang="zh-CN" b="1" dirty="0" err="1">
                <a:latin typeface="微软雅黑" panose="020B0503020204020204" pitchFamily="34" charset="-122"/>
                <a:ea typeface="微软雅黑" panose="020B0503020204020204" pitchFamily="34" charset="-122"/>
              </a:rPr>
              <a:t>slurm</a:t>
            </a:r>
            <a:r>
              <a:rPr lang="zh-CN" altLang="en-US" b="1" dirty="0">
                <a:latin typeface="微软雅黑" panose="020B0503020204020204" pitchFamily="34" charset="-122"/>
                <a:ea typeface="微软雅黑" panose="020B0503020204020204" pitchFamily="34" charset="-122"/>
              </a:rPr>
              <a:t>作业限制作业内存</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答：由于</a:t>
            </a:r>
            <a:r>
              <a:rPr lang="en-US" altLang="zh-CN" dirty="0" err="1">
                <a:latin typeface="微软雅黑" panose="020B0503020204020204" pitchFamily="34" charset="-122"/>
                <a:ea typeface="微软雅黑" panose="020B0503020204020204" pitchFamily="34" charset="-122"/>
              </a:rPr>
              <a:t>ClusterEngine</a:t>
            </a:r>
            <a:r>
              <a:rPr lang="zh-CN" altLang="en-US" dirty="0">
                <a:latin typeface="微软雅黑" panose="020B0503020204020204" pitchFamily="34" charset="-122"/>
                <a:ea typeface="微软雅黑" panose="020B0503020204020204" pitchFamily="34" charset="-122"/>
              </a:rPr>
              <a:t>默认对作业内存不做限制，所以</a:t>
            </a:r>
            <a:r>
              <a:rPr lang="zh-CN" altLang="zh-CN" dirty="0">
                <a:latin typeface="微软雅黑" panose="020B0503020204020204" pitchFamily="34" charset="-122"/>
                <a:ea typeface="微软雅黑" panose="020B0503020204020204" pitchFamily="34" charset="-122"/>
              </a:rPr>
              <a:t>使用</a:t>
            </a:r>
            <a:r>
              <a:rPr lang="en-US" altLang="zh-CN" dirty="0" err="1">
                <a:latin typeface="微软雅黑" panose="020B0503020204020204" pitchFamily="34" charset="-122"/>
                <a:ea typeface="微软雅黑" panose="020B0503020204020204" pitchFamily="34" charset="-122"/>
              </a:rPr>
              <a:t>srun</a:t>
            </a:r>
            <a:r>
              <a:rPr lang="zh-CN"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salloc</a:t>
            </a:r>
            <a:r>
              <a:rPr lang="zh-CN"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sbatch</a:t>
            </a:r>
            <a:r>
              <a:rPr lang="zh-CN" altLang="zh-CN" dirty="0">
                <a:latin typeface="微软雅黑" panose="020B0503020204020204" pitchFamily="34" charset="-122"/>
                <a:ea typeface="微软雅黑" panose="020B0503020204020204" pitchFamily="34" charset="-122"/>
              </a:rPr>
              <a:t>指定</a:t>
            </a:r>
            <a:r>
              <a:rPr lang="en-US" altLang="zh-CN" dirty="0">
                <a:latin typeface="微软雅黑" panose="020B0503020204020204" pitchFamily="34" charset="-122"/>
                <a:ea typeface="微软雅黑" panose="020B0503020204020204" pitchFamily="34" charset="-122"/>
              </a:rPr>
              <a:t>--mem</a:t>
            </a:r>
            <a:r>
              <a:rPr lang="zh-CN" altLang="zh-CN" dirty="0">
                <a:latin typeface="微软雅黑" panose="020B0503020204020204" pitchFamily="34" charset="-122"/>
                <a:ea typeface="微软雅黑" panose="020B0503020204020204" pitchFamily="34" charset="-122"/>
              </a:rPr>
              <a:t>指定作业内存</a:t>
            </a:r>
            <a:r>
              <a:rPr lang="zh-CN" altLang="en-US" dirty="0">
                <a:latin typeface="微软雅黑" panose="020B0503020204020204" pitchFamily="34" charset="-122"/>
                <a:ea typeface="微软雅黑" panose="020B0503020204020204" pitchFamily="34" charset="-122"/>
              </a:rPr>
              <a:t>时</a:t>
            </a:r>
            <a:r>
              <a:rPr lang="zh-CN" altLang="zh-CN" dirty="0">
                <a:latin typeface="微软雅黑" panose="020B0503020204020204" pitchFamily="34" charset="-122"/>
                <a:ea typeface="微软雅黑" panose="020B0503020204020204" pitchFamily="34" charset="-122"/>
              </a:rPr>
              <a:t>，实际并不生效，作业使用内存任然可以超过限制</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解决方法：</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更改</a:t>
            </a:r>
            <a:r>
              <a:rPr lang="en-US" altLang="zh-CN" dirty="0" err="1">
                <a:latin typeface="微软雅黑" panose="020B0503020204020204" pitchFamily="34" charset="-122"/>
                <a:ea typeface="微软雅黑" panose="020B0503020204020204" pitchFamily="34" charset="-122"/>
              </a:rPr>
              <a:t>slurm</a:t>
            </a:r>
            <a:r>
              <a:rPr lang="zh-CN" altLang="zh-CN" dirty="0">
                <a:latin typeface="微软雅黑" panose="020B0503020204020204" pitchFamily="34" charset="-122"/>
                <a:ea typeface="微软雅黑" panose="020B0503020204020204" pitchFamily="34" charset="-122"/>
              </a:rPr>
              <a:t>配置文件，打开</a:t>
            </a:r>
            <a:r>
              <a:rPr lang="en-US" altLang="zh-CN" dirty="0" err="1">
                <a:latin typeface="微软雅黑" panose="020B0503020204020204" pitchFamily="34" charset="-122"/>
                <a:ea typeface="微软雅黑" panose="020B0503020204020204" pitchFamily="34" charset="-122"/>
              </a:rPr>
              <a:t>cgroup</a:t>
            </a:r>
            <a:r>
              <a:rPr lang="zh-CN" altLang="zh-CN" dirty="0">
                <a:latin typeface="微软雅黑" panose="020B0503020204020204" pitchFamily="34" charset="-122"/>
                <a:ea typeface="微软雅黑" panose="020B0503020204020204" pitchFamily="34" charset="-122"/>
              </a:rPr>
              <a:t>对</a:t>
            </a:r>
            <a:r>
              <a:rPr lang="en-US" altLang="zh-CN" dirty="0" err="1">
                <a:latin typeface="微软雅黑" panose="020B0503020204020204" pitchFamily="34" charset="-122"/>
                <a:ea typeface="微软雅黑" panose="020B0503020204020204" pitchFamily="34" charset="-122"/>
              </a:rPr>
              <a:t>slurm</a:t>
            </a:r>
            <a:r>
              <a:rPr lang="zh-CN" altLang="zh-CN" dirty="0">
                <a:latin typeface="微软雅黑" panose="020B0503020204020204" pitchFamily="34" charset="-122"/>
                <a:ea typeface="微软雅黑" panose="020B0503020204020204" pitchFamily="34" charset="-122"/>
              </a:rPr>
              <a:t>作业的内存限制，具体配置如下</a:t>
            </a:r>
          </a:p>
          <a:p>
            <a:r>
              <a:rPr lang="en-US" altLang="zh-CN" dirty="0">
                <a:latin typeface="微软雅黑" panose="020B0503020204020204" pitchFamily="34" charset="-122"/>
                <a:ea typeface="微软雅黑" panose="020B0503020204020204" pitchFamily="34" charset="-122"/>
              </a:rPr>
              <a:t> 1</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a:t>
            </a:r>
            <a:r>
              <a:rPr lang="zh-CN" altLang="zh-CN" dirty="0">
                <a:latin typeface="微软雅黑" panose="020B0503020204020204" pitchFamily="34" charset="-122"/>
                <a:ea typeface="微软雅黑" panose="020B0503020204020204" pitchFamily="34" charset="-122"/>
              </a:rPr>
              <a:t>配置文件</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slurm.conf</a:t>
            </a:r>
            <a:r>
              <a:rPr lang="zh-CN" altLang="zh-CN" dirty="0">
                <a:latin typeface="微软雅黑" panose="020B0503020204020204" pitchFamily="34" charset="-122"/>
                <a:ea typeface="微软雅黑" panose="020B0503020204020204" pitchFamily="34" charset="-122"/>
              </a:rPr>
              <a:t>，确认以下配置</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ProctrackType</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proctrack</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cgroup</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TaskPlugin</a:t>
            </a:r>
            <a:r>
              <a:rPr lang="en-US" altLang="zh-CN" dirty="0">
                <a:latin typeface="微软雅黑" panose="020B0503020204020204" pitchFamily="34" charset="-122"/>
                <a:ea typeface="微软雅黑" panose="020B0503020204020204" pitchFamily="34" charset="-122"/>
              </a:rPr>
              <a:t>=task/</a:t>
            </a:r>
            <a:r>
              <a:rPr lang="en-US" altLang="zh-CN" dirty="0" err="1">
                <a:latin typeface="微软雅黑" panose="020B0503020204020204" pitchFamily="34" charset="-122"/>
                <a:ea typeface="微软雅黑" panose="020B0503020204020204" pitchFamily="34" charset="-122"/>
              </a:rPr>
              <a:t>cgroup</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2</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cgroup</a:t>
            </a:r>
            <a:r>
              <a:rPr lang="zh-CN" altLang="zh-CN" dirty="0">
                <a:latin typeface="微软雅黑" panose="020B0503020204020204" pitchFamily="34" charset="-122"/>
                <a:ea typeface="微软雅黑" panose="020B0503020204020204" pitchFamily="34" charset="-122"/>
              </a:rPr>
              <a:t>配置文件</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cgroup.conf</a:t>
            </a:r>
            <a:r>
              <a:rPr lang="zh-CN" altLang="zh-CN" dirty="0">
                <a:latin typeface="微软雅黑" panose="020B0503020204020204" pitchFamily="34" charset="-122"/>
                <a:ea typeface="微软雅黑" panose="020B0503020204020204" pitchFamily="34" charset="-122"/>
              </a:rPr>
              <a:t>，开启对内存的限制</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ConstrainRAMSpace</a:t>
            </a:r>
            <a:r>
              <a:rPr lang="en-US" altLang="zh-CN" dirty="0">
                <a:latin typeface="微软雅黑" panose="020B0503020204020204" pitchFamily="34" charset="-122"/>
                <a:ea typeface="微软雅黑" panose="020B0503020204020204" pitchFamily="34" charset="-122"/>
              </a:rPr>
              <a:t>=yes       </a:t>
            </a:r>
            <a:r>
              <a:rPr lang="zh-CN" altLang="zh-CN" dirty="0">
                <a:latin typeface="微软雅黑" panose="020B0503020204020204" pitchFamily="34" charset="-122"/>
                <a:ea typeface="微软雅黑" panose="020B0503020204020204" pitchFamily="34" charset="-122"/>
              </a:rPr>
              <a:t>必须开启</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ConstrainSwapSpace</a:t>
            </a:r>
            <a:r>
              <a:rPr lang="en-US" altLang="zh-CN" dirty="0">
                <a:latin typeface="微软雅黑" panose="020B0503020204020204" pitchFamily="34" charset="-122"/>
                <a:ea typeface="微软雅黑" panose="020B0503020204020204" pitchFamily="34" charset="-122"/>
              </a:rPr>
              <a:t>=&lt;</a:t>
            </a:r>
            <a:r>
              <a:rPr lang="en-US" altLang="zh-CN" dirty="0" err="1">
                <a:latin typeface="微软雅黑" panose="020B0503020204020204" pitchFamily="34" charset="-122"/>
                <a:ea typeface="微软雅黑" panose="020B0503020204020204" pitchFamily="34" charset="-122"/>
              </a:rPr>
              <a:t>yes|no</a:t>
            </a:r>
            <a:r>
              <a:rPr lang="en-US" altLang="zh-CN" dirty="0">
                <a:latin typeface="微软雅黑" panose="020B0503020204020204" pitchFamily="34" charset="-122"/>
                <a:ea typeface="微软雅黑" panose="020B0503020204020204" pitchFamily="34" charset="-122"/>
              </a:rPr>
              <a:t>&gt;  swap</a:t>
            </a:r>
            <a:r>
              <a:rPr lang="zh-CN" altLang="zh-CN" dirty="0">
                <a:latin typeface="微软雅黑" panose="020B0503020204020204" pitchFamily="34" charset="-122"/>
                <a:ea typeface="微软雅黑" panose="020B0503020204020204" pitchFamily="34" charset="-122"/>
              </a:rPr>
              <a:t>空间限制，如果不开启，作业内存不足时可能写入交换分区</a:t>
            </a: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AllowedRAMSpace</a:t>
            </a:r>
            <a:r>
              <a:rPr lang="en-US" altLang="zh-CN" dirty="0">
                <a:latin typeface="微软雅黑" panose="020B0503020204020204" pitchFamily="34" charset="-122"/>
                <a:ea typeface="微软雅黑" panose="020B0503020204020204" pitchFamily="34" charset="-122"/>
              </a:rPr>
              <a:t>=&lt;number&gt;   </a:t>
            </a:r>
            <a:r>
              <a:rPr lang="zh-CN" altLang="zh-CN" dirty="0">
                <a:latin typeface="微软雅黑" panose="020B0503020204020204" pitchFamily="34" charset="-122"/>
                <a:ea typeface="微软雅黑" panose="020B0503020204020204" pitchFamily="34" charset="-122"/>
              </a:rPr>
              <a:t>可使用分配内存百分比，默认</a:t>
            </a:r>
            <a:r>
              <a:rPr lang="en-US" altLang="zh-CN" dirty="0">
                <a:latin typeface="微软雅黑" panose="020B0503020204020204" pitchFamily="34" charset="-122"/>
                <a:ea typeface="微软雅黑" panose="020B0503020204020204" pitchFamily="34" charset="-122"/>
              </a:rPr>
              <a:t>100%</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AllowedSwapSpace</a:t>
            </a:r>
            <a:r>
              <a:rPr lang="en-US" altLang="zh-CN" dirty="0">
                <a:latin typeface="微软雅黑" panose="020B0503020204020204" pitchFamily="34" charset="-122"/>
                <a:ea typeface="微软雅黑" panose="020B0503020204020204" pitchFamily="34" charset="-122"/>
              </a:rPr>
              <a:t>=&lt;number&gt; </a:t>
            </a:r>
            <a:r>
              <a:rPr lang="zh-CN" altLang="zh-CN" dirty="0">
                <a:latin typeface="微软雅黑" panose="020B0503020204020204" pitchFamily="34" charset="-122"/>
                <a:ea typeface="微软雅黑" panose="020B0503020204020204" pitchFamily="34" charset="-122"/>
              </a:rPr>
              <a:t>可使用交换分区百分比，默认</a:t>
            </a:r>
            <a:r>
              <a:rPr lang="en-US" altLang="zh-CN" dirty="0">
                <a:latin typeface="微软雅黑" panose="020B0503020204020204" pitchFamily="34" charset="-122"/>
                <a:ea typeface="微软雅黑" panose="020B0503020204020204" pitchFamily="34" charset="-122"/>
              </a:rPr>
              <a:t>0</a:t>
            </a:r>
            <a:endParaRPr lang="zh-CN"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3</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使以上配置文件在所有节点保持一致，执行</a:t>
            </a:r>
            <a:r>
              <a:rPr lang="en-US" altLang="zh-CN" dirty="0" err="1">
                <a:latin typeface="微软雅黑" panose="020B0503020204020204" pitchFamily="34" charset="-122"/>
                <a:ea typeface="微软雅黑" panose="020B0503020204020204" pitchFamily="34" charset="-122"/>
              </a:rPr>
              <a:t>scontrol</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reconfig</a:t>
            </a:r>
            <a:r>
              <a:rPr lang="zh-CN" altLang="zh-CN" dirty="0">
                <a:latin typeface="微软雅黑" panose="020B0503020204020204" pitchFamily="34" charset="-122"/>
                <a:ea typeface="微软雅黑" panose="020B0503020204020204" pitchFamily="34" charset="-122"/>
              </a:rPr>
              <a:t>配置生效</a:t>
            </a:r>
          </a:p>
        </p:txBody>
      </p:sp>
    </p:spTree>
    <p:extLst>
      <p:ext uri="{BB962C8B-B14F-4D97-AF65-F5344CB8AC3E}">
        <p14:creationId xmlns:p14="http://schemas.microsoft.com/office/powerpoint/2010/main" val="4225281186"/>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1298824" y="1601650"/>
            <a:ext cx="10154004" cy="2247679"/>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nSpc>
                <a:spcPct val="150000"/>
              </a:lnSpc>
            </a:pPr>
            <a:endParaRPr lang="en-US" altLang="zh-CN"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startAt="6"/>
            </a:pPr>
            <a:r>
              <a:rPr lang="zh-CN" altLang="en-US" b="1" dirty="0">
                <a:latin typeface="微软雅黑" panose="020B0503020204020204" pitchFamily="34" charset="-122"/>
                <a:ea typeface="微软雅黑" panose="020B0503020204020204" pitchFamily="34" charset="-122"/>
              </a:rPr>
              <a:t>一个作业申请使用一个主机的</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核</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，从作业查看是消耗</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核</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，但是运行该作业的节点显示已经消耗</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核</a:t>
            </a:r>
            <a:r>
              <a:rPr lang="en-US" altLang="zh-CN" b="1" dirty="0">
                <a:latin typeface="微软雅黑" panose="020B0503020204020204" pitchFamily="34" charset="-122"/>
                <a:ea typeface="微软雅黑" panose="020B0503020204020204" pitchFamily="34" charset="-122"/>
              </a:rPr>
              <a:t>CPU:</a:t>
            </a:r>
          </a:p>
          <a:p>
            <a:pPr>
              <a:lnSpc>
                <a:spcPct val="150000"/>
              </a:lnSpc>
            </a:pPr>
            <a:r>
              <a:rPr lang="zh-CN" altLang="en-US" dirty="0">
                <a:latin typeface="微软雅黑" panose="020B0503020204020204" pitchFamily="34" charset="-122"/>
                <a:ea typeface="微软雅黑" panose="020B0503020204020204" pitchFamily="34" charset="-122"/>
              </a:rPr>
              <a:t>答：该问题一般是服务器开启了超线程，</a:t>
            </a:r>
            <a:r>
              <a:rPr lang="en-US" altLang="zh-CN" dirty="0" err="1">
                <a:latin typeface="微软雅黑" panose="020B0503020204020204" pitchFamily="34" charset="-122"/>
                <a:ea typeface="微软雅黑" panose="020B0503020204020204" pitchFamily="34" charset="-122"/>
              </a:rPr>
              <a:t>slurm</a:t>
            </a: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的分配，不同任务必须分配在不同的核心上而不是线程上。</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4958587"/>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21841" y="-1"/>
            <a:ext cx="12224554" cy="6870181"/>
            <a:chOff x="-23476" y="-1"/>
            <a:chExt cx="12892377" cy="7245496"/>
          </a:xfrm>
        </p:grpSpPr>
        <p:sp>
          <p:nvSpPr>
            <p:cNvPr id="59" name="矩形 58"/>
            <p:cNvSpPr/>
            <p:nvPr/>
          </p:nvSpPr>
          <p:spPr>
            <a:xfrm>
              <a:off x="-11738" y="7117420"/>
              <a:ext cx="12880639" cy="128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nvGrpSpPr>
            <p:cNvPr id="60" name="组合 59"/>
            <p:cNvGrpSpPr/>
            <p:nvPr/>
          </p:nvGrpSpPr>
          <p:grpSpPr>
            <a:xfrm>
              <a:off x="-23476" y="-1"/>
              <a:ext cx="12880639" cy="519980"/>
              <a:chOff x="-23476" y="-1"/>
              <a:chExt cx="12880639" cy="519980"/>
            </a:xfrm>
          </p:grpSpPr>
          <p:sp>
            <p:nvSpPr>
              <p:cNvPr id="61" name="矩形 60"/>
              <p:cNvSpPr/>
              <p:nvPr/>
            </p:nvSpPr>
            <p:spPr>
              <a:xfrm>
                <a:off x="-23476" y="0"/>
                <a:ext cx="12880639" cy="51303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2" name="矩形 61"/>
              <p:cNvSpPr/>
              <p:nvPr/>
            </p:nvSpPr>
            <p:spPr>
              <a:xfrm>
                <a:off x="6337923" y="1"/>
                <a:ext cx="6519239" cy="516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sp>
            <p:nvSpPr>
              <p:cNvPr id="66" name="Rectangle 4"/>
              <p:cNvSpPr txBox="1">
                <a:spLocks noChangeArrowheads="1"/>
              </p:cNvSpPr>
              <p:nvPr/>
            </p:nvSpPr>
            <p:spPr bwMode="auto">
              <a:xfrm>
                <a:off x="654919" y="-1"/>
                <a:ext cx="4610009" cy="519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defTabSz="867034">
                  <a:defRPr/>
                </a:pPr>
                <a:r>
                  <a:rPr lang="en-US" altLang="zh-CN"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7 </a:t>
                </a:r>
                <a:r>
                  <a:rPr lang="zh-CN" altLang="en-US" sz="1896" dirty="0">
                    <a:solidFill>
                      <a:prstClr val="white"/>
                    </a:solidFill>
                    <a:latin typeface="微软雅黑" panose="020B0503020204020204" pitchFamily="34" charset="-122"/>
                    <a:ea typeface="微软雅黑" panose="020B0503020204020204" pitchFamily="34" charset="-122"/>
                    <a:sym typeface="SF Orson Casual Heavy" panose="00000400000000000000" pitchFamily="2" charset="0"/>
                  </a:rPr>
                  <a:t>常见问题解答</a:t>
                </a:r>
              </a:p>
            </p:txBody>
          </p:sp>
          <p:sp>
            <p:nvSpPr>
              <p:cNvPr id="67" name="Rectangle 4"/>
              <p:cNvSpPr txBox="1">
                <a:spLocks noChangeArrowheads="1"/>
              </p:cNvSpPr>
              <p:nvPr/>
            </p:nvSpPr>
            <p:spPr bwMode="auto">
              <a:xfrm>
                <a:off x="6337922" y="-1"/>
                <a:ext cx="6519240" cy="513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endParaRPr lang="en-US" altLang="zh-CN" sz="1896" dirty="0">
                  <a:solidFill>
                    <a:srgbClr val="1075B6"/>
                  </a:solidFill>
                  <a:latin typeface="微软雅黑" panose="020B0503020204020204" pitchFamily="34" charset="-122"/>
                  <a:ea typeface="微软雅黑" panose="020B0503020204020204" pitchFamily="34" charset="-122"/>
                  <a:sym typeface="SF Orson Casual Heavy" panose="00000400000000000000" pitchFamily="2" charset="0"/>
                </a:endParaRPr>
              </a:p>
            </p:txBody>
          </p:sp>
        </p:grpSp>
      </p:grpSp>
      <p:grpSp>
        <p:nvGrpSpPr>
          <p:cNvPr id="54" name="组合 53"/>
          <p:cNvGrpSpPr/>
          <p:nvPr/>
        </p:nvGrpSpPr>
        <p:grpSpPr>
          <a:xfrm>
            <a:off x="155815" y="5477340"/>
            <a:ext cx="1143009" cy="1143008"/>
            <a:chOff x="4172683" y="4897116"/>
            <a:chExt cx="1205451" cy="1205450"/>
          </a:xfrm>
        </p:grpSpPr>
        <p:sp>
          <p:nvSpPr>
            <p:cNvPr id="55" name="圆角矩形 54"/>
            <p:cNvSpPr/>
            <p:nvPr/>
          </p:nvSpPr>
          <p:spPr bwMode="auto">
            <a:xfrm>
              <a:off x="4700068" y="5424500"/>
              <a:ext cx="678066" cy="678066"/>
            </a:xfrm>
            <a:prstGeom prst="roundRect">
              <a:avLst>
                <a:gd name="adj" fmla="val 6712"/>
              </a:avLst>
            </a:prstGeom>
            <a:solidFill>
              <a:srgbClr val="0070C0"/>
            </a:solid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6" name="圆角矩形 55"/>
            <p:cNvSpPr/>
            <p:nvPr/>
          </p:nvSpPr>
          <p:spPr bwMode="auto">
            <a:xfrm>
              <a:off x="4172683" y="4897116"/>
              <a:ext cx="452044" cy="452044"/>
            </a:xfrm>
            <a:prstGeom prst="roundRect">
              <a:avLst>
                <a:gd name="adj" fmla="val 6712"/>
              </a:avLst>
            </a:prstGeom>
            <a:solidFill>
              <a:srgbClr val="0070C0"/>
            </a:solidFill>
            <a:ln w="9525" cap="flat" cmpd="sng" algn="ctr">
              <a:gradFill flip="none" rotWithShape="1">
                <a:gsLst>
                  <a:gs pos="0">
                    <a:srgbClr val="0EA25F"/>
                  </a:gs>
                  <a:gs pos="50000">
                    <a:srgbClr val="33CC33"/>
                  </a:gs>
                </a:gsLst>
                <a:lin ang="18900000" scaled="1"/>
                <a:tileRect/>
              </a:gradFill>
              <a:prstDash val="solid"/>
              <a:round/>
              <a:headEnd type="none" w="med" len="med"/>
              <a:tailEnd type="none" w="med" len="med"/>
            </a:ln>
            <a:effectLst>
              <a:outerShdw blurRad="508000" dist="1143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57" name="圆角矩形 56"/>
            <p:cNvSpPr/>
            <p:nvPr/>
          </p:nvSpPr>
          <p:spPr bwMode="auto">
            <a:xfrm>
              <a:off x="4474046" y="5198478"/>
              <a:ext cx="376703" cy="376703"/>
            </a:xfrm>
            <a:prstGeom prst="roundRect">
              <a:avLst>
                <a:gd name="adj" fmla="val 6712"/>
              </a:avLst>
            </a:prstGeom>
            <a:gradFill flip="none" rotWithShape="1">
              <a:gsLst>
                <a:gs pos="0">
                  <a:schemeClr val="bg1">
                    <a:lumMod val="85000"/>
                  </a:schemeClr>
                </a:gs>
                <a:gs pos="100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algn="ctr" defTabSz="801665" fontAlgn="base">
                <a:lnSpc>
                  <a:spcPct val="130000"/>
                </a:lnSpc>
                <a:spcBef>
                  <a:spcPct val="0"/>
                </a:spcBef>
                <a:spcAft>
                  <a:spcPct val="0"/>
                </a:spcAft>
              </a:pPr>
              <a:endParaRPr lang="zh-CN" altLang="en-US" sz="2400" b="1"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19" name="Rectangle 4"/>
          <p:cNvSpPr txBox="1">
            <a:spLocks noChangeArrowheads="1"/>
          </p:cNvSpPr>
          <p:nvPr/>
        </p:nvSpPr>
        <p:spPr bwMode="auto">
          <a:xfrm>
            <a:off x="6544395" y="29860"/>
            <a:ext cx="4371211" cy="493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867034">
              <a:defRPr/>
            </a:pPr>
            <a:r>
              <a:rPr lang="zh-CN" altLang="en-US"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常见问题</a:t>
            </a:r>
            <a:r>
              <a:rPr lang="en-US" altLang="zh-CN" sz="1896" dirty="0">
                <a:solidFill>
                  <a:srgbClr val="0070C0"/>
                </a:solidFill>
                <a:latin typeface="微软雅黑" panose="020B0503020204020204" pitchFamily="34" charset="-122"/>
                <a:ea typeface="微软雅黑" panose="020B0503020204020204" pitchFamily="34" charset="-122"/>
                <a:sym typeface="SF Orson Casual Heavy" panose="00000400000000000000" pitchFamily="2" charset="0"/>
              </a:rPr>
              <a:t>FAQ</a:t>
            </a:r>
          </a:p>
        </p:txBody>
      </p:sp>
      <p:sp>
        <p:nvSpPr>
          <p:cNvPr id="27" name="对角圆角矩形 26"/>
          <p:cNvSpPr/>
          <p:nvPr/>
        </p:nvSpPr>
        <p:spPr bwMode="auto">
          <a:xfrm>
            <a:off x="1467393" y="1302881"/>
            <a:ext cx="10154004" cy="2889291"/>
          </a:xfrm>
          <a:prstGeom prst="round2DiagRect">
            <a:avLst/>
          </a:prstGeom>
          <a:gradFill flip="none" rotWithShape="1">
            <a:gsLst>
              <a:gs pos="0">
                <a:schemeClr val="bg1">
                  <a:lumMod val="85000"/>
                </a:schemeClr>
              </a:gs>
              <a:gs pos="42000">
                <a:schemeClr val="bg1"/>
              </a:gs>
            </a:gsLst>
            <a:lin ang="8100000" scaled="1"/>
            <a:tileRect/>
          </a:gradFill>
          <a:ln w="9525" cap="flat" cmpd="sng" algn="ctr">
            <a:gradFill flip="none" rotWithShape="1">
              <a:gsLst>
                <a:gs pos="0">
                  <a:schemeClr val="bg1">
                    <a:lumMod val="85000"/>
                  </a:schemeClr>
                </a:gs>
                <a:gs pos="50000">
                  <a:schemeClr val="bg1"/>
                </a:gs>
              </a:gsLst>
              <a:lin ang="18900000" scaled="1"/>
              <a:tileRect/>
            </a:gradFill>
            <a:prstDash val="solid"/>
            <a:round/>
            <a:headEnd type="none" w="med" len="med"/>
            <a:tailEnd type="none" w="med" len="med"/>
          </a:ln>
          <a:effectLst>
            <a:outerShdw blurRad="342900" dist="76200" dir="8100000" sx="101000" sy="101000" algn="tr" rotWithShape="0">
              <a:prstClr val="black">
                <a:alpha val="40000"/>
              </a:prstClr>
            </a:outerShdw>
          </a:effectLst>
        </p:spPr>
        <p:txBody>
          <a:bodyPr vert="horz" wrap="square" lIns="79200" tIns="39600" rIns="79200" bIns="39600" numCol="1" rtlCol="0" anchor="ctr" anchorCtr="0" compatLnSpc="1">
            <a:prstTxWarp prst="textNoShape">
              <a:avLst/>
            </a:prstTxWarp>
            <a:noAutofit/>
          </a:bodyPr>
          <a:lstStyle/>
          <a:p>
            <a:pPr marL="342900" indent="-342900">
              <a:lnSpc>
                <a:spcPct val="150000"/>
              </a:lnSpc>
              <a:buFont typeface="+mj-lt"/>
              <a:buAutoNum type="arabicPeriod" startAt="7"/>
            </a:pPr>
            <a:r>
              <a:rPr lang="en-US" altLang="zh-CN" b="1" dirty="0" err="1">
                <a:latin typeface="微软雅黑" panose="020B0503020204020204" pitchFamily="34" charset="-122"/>
                <a:ea typeface="微软雅黑" panose="020B0503020204020204" pitchFamily="34" charset="-122"/>
              </a:rPr>
              <a:t>Slurm</a:t>
            </a:r>
            <a:r>
              <a:rPr lang="zh-CN" altLang="en-US" b="1" dirty="0">
                <a:latin typeface="微软雅黑" panose="020B0503020204020204" pitchFamily="34" charset="-122"/>
                <a:ea typeface="微软雅黑" panose="020B0503020204020204" pitchFamily="34" charset="-122"/>
              </a:rPr>
              <a:t>应如何修改作业最大提交数限制</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答：</a:t>
            </a:r>
            <a:r>
              <a:rPr lang="en-US" altLang="zh-CN" dirty="0">
                <a:latin typeface="微软雅黑" panose="020B0503020204020204" pitchFamily="34" charset="-122"/>
                <a:ea typeface="微软雅黑" panose="020B0503020204020204" pitchFamily="34" charset="-122"/>
              </a:rPr>
              <a:t>CEV5.1 </a:t>
            </a:r>
            <a:r>
              <a:rPr lang="zh-CN" altLang="zh-CN" dirty="0">
                <a:latin typeface="微软雅黑" panose="020B0503020204020204" pitchFamily="34" charset="-122"/>
                <a:ea typeface="微软雅黑" panose="020B0503020204020204" pitchFamily="34" charset="-122"/>
              </a:rPr>
              <a:t>提交任务数提示</a:t>
            </a:r>
            <a:r>
              <a:rPr lang="en-US" altLang="zh-CN" dirty="0" err="1">
                <a:latin typeface="微软雅黑" panose="020B0503020204020204" pitchFamily="34" charset="-122"/>
                <a:ea typeface="微软雅黑" panose="020B0503020204020204" pitchFamily="34" charset="-122"/>
              </a:rPr>
              <a:t>sbatch</a:t>
            </a:r>
            <a:r>
              <a:rPr lang="en-US" altLang="zh-CN" dirty="0">
                <a:latin typeface="微软雅黑" panose="020B0503020204020204" pitchFamily="34" charset="-122"/>
                <a:ea typeface="微软雅黑" panose="020B0503020204020204" pitchFamily="34" charset="-122"/>
              </a:rPr>
              <a:t>: error: </a:t>
            </a:r>
            <a:r>
              <a:rPr lang="en-US" altLang="zh-CN" dirty="0" err="1">
                <a:latin typeface="微软雅黑" panose="020B0503020204020204" pitchFamily="34" charset="-122"/>
                <a:ea typeface="微软雅黑" panose="020B0503020204020204" pitchFamily="34" charset="-122"/>
              </a:rPr>
              <a:t>Slurm</a:t>
            </a:r>
            <a:r>
              <a:rPr lang="en-US" altLang="zh-CN" dirty="0">
                <a:latin typeface="微软雅黑" panose="020B0503020204020204" pitchFamily="34" charset="-122"/>
                <a:ea typeface="微软雅黑" panose="020B0503020204020204" pitchFamily="34" charset="-122"/>
              </a:rPr>
              <a:t> temporarily unable to accept job, sleeping and retrying</a:t>
            </a:r>
            <a:endParaRPr lang="zh-CN"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sbatch</a:t>
            </a:r>
            <a:r>
              <a:rPr lang="en-US" altLang="zh-CN" dirty="0">
                <a:latin typeface="微软雅黑" panose="020B0503020204020204" pitchFamily="34" charset="-122"/>
                <a:ea typeface="微软雅黑" panose="020B0503020204020204" pitchFamily="34" charset="-122"/>
              </a:rPr>
              <a:t>: error: Batch job submission failed: Resource temporarily unavailable</a:t>
            </a:r>
            <a:r>
              <a:rPr lang="zh-CN" altLang="zh-CN" dirty="0">
                <a:latin typeface="微软雅黑" panose="020B0503020204020204" pitchFamily="34" charset="-122"/>
                <a:ea typeface="微软雅黑" panose="020B0503020204020204" pitchFamily="34" charset="-122"/>
              </a:rPr>
              <a:t>错误，导致作业无法提交。</a:t>
            </a:r>
            <a:endParaRPr lang="en-US" altLang="zh-CN" dirty="0">
              <a:latin typeface="微软雅黑" panose="020B0503020204020204" pitchFamily="34" charset="-122"/>
              <a:ea typeface="微软雅黑" panose="020B0503020204020204" pitchFamily="34" charset="-122"/>
            </a:endParaRPr>
          </a:p>
          <a:p>
            <a:r>
              <a:rPr lang="zh-CN" altLang="zh-CN" dirty="0">
                <a:latin typeface="微软雅黑" panose="020B0503020204020204" pitchFamily="34" charset="-122"/>
                <a:ea typeface="微软雅黑" panose="020B0503020204020204" pitchFamily="34" charset="-122"/>
              </a:rPr>
              <a:t>修改</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etc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slurm.conf</a:t>
            </a:r>
            <a:r>
              <a:rPr lang="zh-CN" altLang="zh-CN" dirty="0">
                <a:latin typeface="微软雅黑" panose="020B0503020204020204" pitchFamily="34" charset="-122"/>
                <a:ea typeface="微软雅黑" panose="020B0503020204020204" pitchFamily="34" charset="-122"/>
              </a:rPr>
              <a:t>配置文件系统的</a:t>
            </a:r>
            <a:r>
              <a:rPr lang="en-US" altLang="zh-CN" dirty="0" err="1">
                <a:latin typeface="微软雅黑" panose="020B0503020204020204" pitchFamily="34" charset="-122"/>
                <a:ea typeface="微软雅黑" panose="020B0503020204020204" pitchFamily="34" charset="-122"/>
              </a:rPr>
              <a:t>MaxJobCount</a:t>
            </a:r>
            <a:r>
              <a:rPr lang="zh-CN" altLang="zh-CN" dirty="0">
                <a:latin typeface="微软雅黑" panose="020B0503020204020204" pitchFamily="34" charset="-122"/>
                <a:ea typeface="微软雅黑" panose="020B0503020204020204" pitchFamily="34" charset="-122"/>
              </a:rPr>
              <a:t>参数</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将其修改为</a:t>
            </a:r>
            <a:r>
              <a:rPr lang="en-US" altLang="zh-CN" dirty="0">
                <a:latin typeface="微软雅黑" panose="020B0503020204020204" pitchFamily="34" charset="-122"/>
                <a:ea typeface="微软雅黑" panose="020B0503020204020204" pitchFamily="34" charset="-122"/>
              </a:rPr>
              <a:t>1000000</a:t>
            </a:r>
            <a:r>
              <a:rPr lang="zh-CN" altLang="zh-CN" dirty="0">
                <a:latin typeface="微软雅黑" panose="020B0503020204020204" pitchFamily="34" charset="-122"/>
                <a:ea typeface="微软雅黑" panose="020B0503020204020204" pitchFamily="34" charset="-122"/>
              </a:rPr>
              <a:t>，然后执行</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restart </a:t>
            </a:r>
            <a:r>
              <a:rPr lang="en-US" altLang="zh-CN" dirty="0" err="1">
                <a:latin typeface="微软雅黑" panose="020B0503020204020204" pitchFamily="34" charset="-122"/>
                <a:ea typeface="微软雅黑" panose="020B0503020204020204" pitchFamily="34" charset="-122"/>
              </a:rPr>
              <a:t>slurmdbd</a:t>
            </a:r>
            <a:r>
              <a:rPr lang="en-US" altLang="zh-CN" dirty="0">
                <a:latin typeface="微软雅黑" panose="020B0503020204020204" pitchFamily="34" charset="-122"/>
                <a:ea typeface="微软雅黑" panose="020B0503020204020204" pitchFamily="34" charset="-122"/>
              </a:rPr>
              <a:t> &amp;&amp; </a:t>
            </a:r>
            <a:r>
              <a:rPr lang="en-US" altLang="zh-CN" dirty="0" err="1">
                <a:latin typeface="微软雅黑" panose="020B0503020204020204" pitchFamily="34" charset="-122"/>
                <a:ea typeface="微软雅黑" panose="020B0503020204020204" pitchFamily="34" charset="-122"/>
              </a:rPr>
              <a:t>systemctl</a:t>
            </a:r>
            <a:r>
              <a:rPr lang="en-US" altLang="zh-CN" dirty="0">
                <a:latin typeface="微软雅黑" panose="020B0503020204020204" pitchFamily="34" charset="-122"/>
                <a:ea typeface="微软雅黑" panose="020B0503020204020204" pitchFamily="34" charset="-122"/>
              </a:rPr>
              <a:t> restart </a:t>
            </a:r>
            <a:r>
              <a:rPr lang="en-US" altLang="zh-CN" dirty="0" err="1">
                <a:latin typeface="微软雅黑" panose="020B0503020204020204" pitchFamily="34" charset="-122"/>
                <a:ea typeface="微软雅黑" panose="020B0503020204020204" pitchFamily="34" charset="-122"/>
              </a:rPr>
              <a:t>slurmctld</a:t>
            </a:r>
            <a:r>
              <a:rPr lang="zh-CN" altLang="zh-CN" dirty="0">
                <a:latin typeface="微软雅黑" panose="020B0503020204020204" pitchFamily="34" charset="-122"/>
                <a:ea typeface="微软雅黑" panose="020B0503020204020204" pitchFamily="34" charset="-122"/>
              </a:rPr>
              <a:t>命令重启</a:t>
            </a:r>
            <a:r>
              <a:rPr lang="en-US" altLang="zh-CN" dirty="0" err="1">
                <a:latin typeface="微软雅黑" panose="020B0503020204020204" pitchFamily="34" charset="-122"/>
                <a:ea typeface="微软雅黑" panose="020B0503020204020204" pitchFamily="34" charset="-122"/>
              </a:rPr>
              <a:t>slurm</a:t>
            </a:r>
            <a:r>
              <a:rPr lang="zh-CN" altLang="zh-CN" dirty="0">
                <a:latin typeface="微软雅黑" panose="020B0503020204020204" pitchFamily="34" charset="-122"/>
                <a:ea typeface="微软雅黑" panose="020B0503020204020204" pitchFamily="34" charset="-122"/>
              </a:rPr>
              <a:t>服务即可</a:t>
            </a:r>
          </a:p>
        </p:txBody>
      </p:sp>
    </p:spTree>
    <p:extLst>
      <p:ext uri="{BB962C8B-B14F-4D97-AF65-F5344CB8AC3E}">
        <p14:creationId xmlns:p14="http://schemas.microsoft.com/office/powerpoint/2010/main" val="4100467603"/>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9" y="4589726"/>
            <a:ext cx="12191164" cy="2268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nvGrpSpPr>
          <p:cNvPr id="3" name="组合 2"/>
          <p:cNvGrpSpPr/>
          <p:nvPr/>
        </p:nvGrpSpPr>
        <p:grpSpPr>
          <a:xfrm>
            <a:off x="418" y="2985990"/>
            <a:ext cx="12191164" cy="1603736"/>
            <a:chOff x="-1" y="3149113"/>
            <a:chExt cx="12857163" cy="1691348"/>
          </a:xfrm>
        </p:grpSpPr>
        <p:sp>
          <p:nvSpPr>
            <p:cNvPr id="33" name="等腰三角形 32"/>
            <p:cNvSpPr/>
            <p:nvPr/>
          </p:nvSpPr>
          <p:spPr>
            <a:xfrm>
              <a:off x="1001365" y="4081404"/>
              <a:ext cx="880505" cy="759056"/>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4" name="等腰三角形 33"/>
            <p:cNvSpPr/>
            <p:nvPr/>
          </p:nvSpPr>
          <p:spPr>
            <a:xfrm>
              <a:off x="10443467" y="4198483"/>
              <a:ext cx="744693" cy="6419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5" name="等腰三角形 34"/>
            <p:cNvSpPr/>
            <p:nvPr/>
          </p:nvSpPr>
          <p:spPr>
            <a:xfrm>
              <a:off x="-1" y="3149113"/>
              <a:ext cx="1049372" cy="169134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6" name="等腰三角形 35"/>
            <p:cNvSpPr/>
            <p:nvPr/>
          </p:nvSpPr>
          <p:spPr>
            <a:xfrm>
              <a:off x="1881870" y="4384948"/>
              <a:ext cx="440252" cy="455513"/>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7" name="等腰三角形 36"/>
            <p:cNvSpPr/>
            <p:nvPr/>
          </p:nvSpPr>
          <p:spPr>
            <a:xfrm>
              <a:off x="11188160" y="4081404"/>
              <a:ext cx="880505" cy="759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sp>
          <p:nvSpPr>
            <p:cNvPr id="38" name="等腰三角形 37"/>
            <p:cNvSpPr/>
            <p:nvPr/>
          </p:nvSpPr>
          <p:spPr>
            <a:xfrm>
              <a:off x="11976657" y="3248378"/>
              <a:ext cx="880505" cy="1592083"/>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7034" fontAlgn="base">
                <a:lnSpc>
                  <a:spcPct val="130000"/>
                </a:lnSpc>
                <a:spcBef>
                  <a:spcPct val="0"/>
                </a:spcBef>
                <a:spcAft>
                  <a:spcPct val="0"/>
                </a:spcAft>
              </a:pPr>
              <a:endParaRPr lang="zh-CN" altLang="en-US" sz="1707" dirty="0">
                <a:solidFill>
                  <a:prstClr val="white"/>
                </a:solidFill>
                <a:latin typeface="微软雅黑" panose="020B0503020204020204" pitchFamily="34" charset="-122"/>
                <a:ea typeface="微软雅黑" panose="020B0503020204020204" pitchFamily="34" charset="-122"/>
                <a:cs typeface="+mn-ea"/>
                <a:sym typeface="SF Orson Casual Heavy" panose="00000400000000000000" pitchFamily="2" charset="0"/>
              </a:endParaRPr>
            </a:p>
          </p:txBody>
        </p:sp>
      </p:grpSp>
      <p:sp>
        <p:nvSpPr>
          <p:cNvPr id="39" name="矩形 38"/>
          <p:cNvSpPr/>
          <p:nvPr/>
        </p:nvSpPr>
        <p:spPr>
          <a:xfrm>
            <a:off x="3873800" y="1722051"/>
            <a:ext cx="4444401" cy="1458142"/>
          </a:xfrm>
          <a:prstGeom prst="rect">
            <a:avLst/>
          </a:prstGeom>
        </p:spPr>
        <p:txBody>
          <a:bodyPr wrap="square" lIns="91425" tIns="45713" rIns="91425" bIns="45713" anchor="t">
            <a:spAutoFit/>
          </a:bodyPr>
          <a:lstStyle/>
          <a:p>
            <a:pPr algn="ctr" defTabSz="867034" fontAlgn="ctr">
              <a:lnSpc>
                <a:spcPct val="130000"/>
              </a:lnSpc>
              <a:spcBef>
                <a:spcPct val="0"/>
              </a:spcBef>
              <a:spcAft>
                <a:spcPct val="0"/>
              </a:spcAft>
            </a:pPr>
            <a:r>
              <a:rPr lang="zh-CN" altLang="en-US" sz="6827" b="1" spc="800" dirty="0">
                <a:solidFill>
                  <a:prstClr val="black"/>
                </a:solidFill>
                <a:latin typeface="微软雅黑" panose="020B0503020204020204" pitchFamily="34" charset="-122"/>
                <a:ea typeface="微软雅黑" panose="020B0503020204020204" pitchFamily="34" charset="-122"/>
                <a:cs typeface="+mn-ea"/>
                <a:sym typeface="SF Orson Casual Heavy" panose="00000400000000000000" pitchFamily="2" charset="0"/>
              </a:rPr>
              <a:t>谢 谢</a:t>
            </a:r>
          </a:p>
        </p:txBody>
      </p:sp>
    </p:spTree>
    <p:extLst>
      <p:ext uri="{BB962C8B-B14F-4D97-AF65-F5344CB8AC3E}">
        <p14:creationId xmlns:p14="http://schemas.microsoft.com/office/powerpoint/2010/main" val="1405147915"/>
      </p:ext>
    </p:extLst>
  </p:cSld>
  <p:clrMapOvr>
    <a:masterClrMapping/>
  </p:clrMapOvr>
  <p:transition>
    <p:fad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Temp">
      <a:majorFont>
        <a:latin typeface="SF Orson Casual Heavy"/>
        <a:ea typeface="幼圆"/>
        <a:cs typeface=""/>
      </a:majorFont>
      <a:minorFont>
        <a:latin typeface="SF Orson Casual Heavy"/>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第一PPT  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docProps/app.xml><?xml version="1.0" encoding="utf-8"?>
<Properties xmlns="http://schemas.openxmlformats.org/officeDocument/2006/extended-properties" xmlns:vt="http://schemas.openxmlformats.org/officeDocument/2006/docPropsVTypes">
  <TotalTime>28803</TotalTime>
  <Words>10341</Words>
  <Application>Microsoft Office PowerPoint</Application>
  <PresentationFormat>宽屏</PresentationFormat>
  <Paragraphs>1229</Paragraphs>
  <Slides>103</Slides>
  <Notes>103</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103</vt:i4>
      </vt:variant>
    </vt:vector>
  </HeadingPairs>
  <TitlesOfParts>
    <vt:vector size="118" baseType="lpstr">
      <vt:lpstr>Content-font</vt:lpstr>
      <vt:lpstr>SF Orson Casual Heavy</vt:lpstr>
      <vt:lpstr>等线</vt:lpstr>
      <vt:lpstr>等线 Light</vt:lpstr>
      <vt:lpstr>微软雅黑</vt:lpstr>
      <vt:lpstr>微軟正黑體 Light</vt:lpstr>
      <vt:lpstr>Arial</vt:lpstr>
      <vt:lpstr>Calibri</vt:lpstr>
      <vt:lpstr>Calibri Light</vt:lpstr>
      <vt:lpstr>Franklin Gothic Book</vt:lpstr>
      <vt:lpstr>Franklin Gothic Medium</vt:lpstr>
      <vt:lpstr>Wingdings</vt:lpstr>
      <vt:lpstr>Office 主题​​</vt:lpstr>
      <vt:lpstr>第一PPT，www.1ppt.com​</vt:lpstr>
      <vt:lpstr>第一PPT  www.1ppt.com</vt:lpstr>
      <vt:lpstr>PowerPoint 演示文稿</vt:lpstr>
      <vt:lpstr>平台概况</vt:lpstr>
      <vt:lpstr>平台概况</vt:lpstr>
      <vt:lpstr>PowerPoint 演示文稿</vt:lpstr>
      <vt:lpstr>PowerPoint 演示文稿</vt:lpstr>
      <vt:lpstr>PowerPoint 演示文稿</vt:lpstr>
      <vt:lpstr>PowerPoint 演示文稿</vt:lpstr>
      <vt:lpstr>PowerPoint 演示文稿</vt:lpstr>
      <vt:lpstr>PowerPoint 演示文稿</vt:lpstr>
      <vt:lpstr>ClusterEngine产品介绍</vt:lpstr>
      <vt:lpstr>PowerPoint 演示文稿</vt:lpstr>
      <vt:lpstr>PowerPoint 演示文稿</vt:lpstr>
      <vt:lpstr>PowerPoint 演示文稿</vt:lpstr>
      <vt:lpstr>PowerPoint 演示文稿</vt:lpstr>
      <vt:lpstr>PowerPoint 演示文稿</vt:lpstr>
      <vt:lpstr>PowerPoint 演示文稿</vt:lpstr>
      <vt:lpstr>ClusterEngine平台使用介绍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Slurm作业调度介绍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集群shell使用介绍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集群使用和故障报修</vt:lpstr>
      <vt:lpstr>PowerPoint 演示文稿</vt:lpstr>
      <vt:lpstr>PowerPoint 演示文稿</vt:lpstr>
      <vt:lpstr>PowerPoint 演示文稿</vt:lpstr>
      <vt:lpstr>常见问题解答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INSP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dc:title>
  <cp:lastModifiedBy>DE4483</cp:lastModifiedBy>
  <cp:revision>2470</cp:revision>
  <dcterms:created xsi:type="dcterms:W3CDTF">2017-10-26T05:55:08Z</dcterms:created>
  <dcterms:modified xsi:type="dcterms:W3CDTF">2024-09-05T16:37:08Z</dcterms:modified>
</cp:coreProperties>
</file>